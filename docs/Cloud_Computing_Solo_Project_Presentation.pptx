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8" r:id="rId5"/>
    <p:sldId id="259" r:id="rId6"/>
    <p:sldId id="260" r:id="rId7"/>
    <p:sldId id="261" r:id="rId8"/>
    <p:sldId id="262" r:id="rId9"/>
    <p:sldId id="263" r:id="rId10"/>
    <p:sldId id="264" r:id="rId11"/>
    <p:sldId id="265" r:id="rId12"/>
    <p:sldId id="266" r:id="rId13"/>
    <p:sldId id="269" r:id="rId14"/>
    <p:sldId id="267"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0" d="100"/>
          <a:sy n="80" d="100"/>
        </p:scale>
        <p:origin x="754"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1F98D-8009-48FA-AD2C-115029382FB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az-Cyrl-AZ"/>
          </a:p>
        </p:txBody>
      </p:sp>
      <p:sp>
        <p:nvSpPr>
          <p:cNvPr id="3" name="Subtitle 2">
            <a:extLst>
              <a:ext uri="{FF2B5EF4-FFF2-40B4-BE49-F238E27FC236}">
                <a16:creationId xmlns:a16="http://schemas.microsoft.com/office/drawing/2014/main" id="{84F4AE1C-D74D-47A6-BFE8-86E148E3ADF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az-Cyrl-AZ"/>
          </a:p>
        </p:txBody>
      </p:sp>
      <p:sp>
        <p:nvSpPr>
          <p:cNvPr id="4" name="Date Placeholder 3">
            <a:extLst>
              <a:ext uri="{FF2B5EF4-FFF2-40B4-BE49-F238E27FC236}">
                <a16:creationId xmlns:a16="http://schemas.microsoft.com/office/drawing/2014/main" id="{2ADE2092-16CE-46DD-9FFC-421A958F8FB2}"/>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5" name="Footer Placeholder 4">
            <a:extLst>
              <a:ext uri="{FF2B5EF4-FFF2-40B4-BE49-F238E27FC236}">
                <a16:creationId xmlns:a16="http://schemas.microsoft.com/office/drawing/2014/main" id="{B1643F62-3290-41BD-8FB1-E56FAF6F86B1}"/>
              </a:ext>
            </a:extLst>
          </p:cNvPr>
          <p:cNvSpPr>
            <a:spLocks noGrp="1"/>
          </p:cNvSpPr>
          <p:nvPr>
            <p:ph type="ftr" sz="quarter" idx="11"/>
          </p:nvPr>
        </p:nvSpPr>
        <p:spPr/>
        <p:txBody>
          <a:bodyPr/>
          <a:lstStyle/>
          <a:p>
            <a:endParaRPr lang="az-Cyrl-AZ"/>
          </a:p>
        </p:txBody>
      </p:sp>
      <p:sp>
        <p:nvSpPr>
          <p:cNvPr id="6" name="Slide Number Placeholder 5">
            <a:extLst>
              <a:ext uri="{FF2B5EF4-FFF2-40B4-BE49-F238E27FC236}">
                <a16:creationId xmlns:a16="http://schemas.microsoft.com/office/drawing/2014/main" id="{4593A30B-3C28-4E7E-ACEE-116B70938919}"/>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24279108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6DA9D-56CD-486A-AB88-331CE6D56854}"/>
              </a:ext>
            </a:extLst>
          </p:cNvPr>
          <p:cNvSpPr>
            <a:spLocks noGrp="1"/>
          </p:cNvSpPr>
          <p:nvPr>
            <p:ph type="title"/>
          </p:nvPr>
        </p:nvSpPr>
        <p:spPr/>
        <p:txBody>
          <a:bodyPr/>
          <a:lstStyle/>
          <a:p>
            <a:r>
              <a:rPr lang="en-US"/>
              <a:t>Click to edit Master title style</a:t>
            </a:r>
            <a:endParaRPr lang="az-Cyrl-AZ"/>
          </a:p>
        </p:txBody>
      </p:sp>
      <p:sp>
        <p:nvSpPr>
          <p:cNvPr id="3" name="Content Placeholder 2">
            <a:extLst>
              <a:ext uri="{FF2B5EF4-FFF2-40B4-BE49-F238E27FC236}">
                <a16:creationId xmlns:a16="http://schemas.microsoft.com/office/drawing/2014/main" id="{E85B065C-9F4A-48CF-AB38-4FAED4C8A31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4" name="Date Placeholder 3">
            <a:extLst>
              <a:ext uri="{FF2B5EF4-FFF2-40B4-BE49-F238E27FC236}">
                <a16:creationId xmlns:a16="http://schemas.microsoft.com/office/drawing/2014/main" id="{8E639D4B-DCA6-4B7F-83F8-1F8F05E55E47}"/>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5" name="Footer Placeholder 4">
            <a:extLst>
              <a:ext uri="{FF2B5EF4-FFF2-40B4-BE49-F238E27FC236}">
                <a16:creationId xmlns:a16="http://schemas.microsoft.com/office/drawing/2014/main" id="{1AD2CD47-C47C-41DA-9B36-344F8A6F8454}"/>
              </a:ext>
            </a:extLst>
          </p:cNvPr>
          <p:cNvSpPr>
            <a:spLocks noGrp="1"/>
          </p:cNvSpPr>
          <p:nvPr>
            <p:ph type="ftr" sz="quarter" idx="11"/>
          </p:nvPr>
        </p:nvSpPr>
        <p:spPr/>
        <p:txBody>
          <a:bodyPr/>
          <a:lstStyle/>
          <a:p>
            <a:endParaRPr lang="az-Cyrl-AZ"/>
          </a:p>
        </p:txBody>
      </p:sp>
      <p:sp>
        <p:nvSpPr>
          <p:cNvPr id="6" name="Slide Number Placeholder 5">
            <a:extLst>
              <a:ext uri="{FF2B5EF4-FFF2-40B4-BE49-F238E27FC236}">
                <a16:creationId xmlns:a16="http://schemas.microsoft.com/office/drawing/2014/main" id="{B64E2E89-1D39-40FD-ACA3-77E26F577600}"/>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9961675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556095-811E-485F-ACF6-D937FA4DCB8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az-Cyrl-AZ"/>
          </a:p>
        </p:txBody>
      </p:sp>
      <p:sp>
        <p:nvSpPr>
          <p:cNvPr id="3" name="Text Placeholder 2">
            <a:extLst>
              <a:ext uri="{FF2B5EF4-FFF2-40B4-BE49-F238E27FC236}">
                <a16:creationId xmlns:a16="http://schemas.microsoft.com/office/drawing/2014/main" id="{779BFF19-EEEA-43F2-8B17-AE5AAC1C2E9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0D403B-0A42-4294-9B2C-5BCC39FFC50B}"/>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5" name="Footer Placeholder 4">
            <a:extLst>
              <a:ext uri="{FF2B5EF4-FFF2-40B4-BE49-F238E27FC236}">
                <a16:creationId xmlns:a16="http://schemas.microsoft.com/office/drawing/2014/main" id="{10A753FF-3996-4500-B142-AB25B77AAC7C}"/>
              </a:ext>
            </a:extLst>
          </p:cNvPr>
          <p:cNvSpPr>
            <a:spLocks noGrp="1"/>
          </p:cNvSpPr>
          <p:nvPr>
            <p:ph type="ftr" sz="quarter" idx="11"/>
          </p:nvPr>
        </p:nvSpPr>
        <p:spPr/>
        <p:txBody>
          <a:bodyPr/>
          <a:lstStyle/>
          <a:p>
            <a:endParaRPr lang="az-Cyrl-AZ"/>
          </a:p>
        </p:txBody>
      </p:sp>
      <p:sp>
        <p:nvSpPr>
          <p:cNvPr id="6" name="Slide Number Placeholder 5">
            <a:extLst>
              <a:ext uri="{FF2B5EF4-FFF2-40B4-BE49-F238E27FC236}">
                <a16:creationId xmlns:a16="http://schemas.microsoft.com/office/drawing/2014/main" id="{D328B153-B73B-442C-94A3-37744C225ADD}"/>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12814342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587A8-561B-492B-B5BB-E5ECB7B609A0}"/>
              </a:ext>
            </a:extLst>
          </p:cNvPr>
          <p:cNvSpPr>
            <a:spLocks noGrp="1"/>
          </p:cNvSpPr>
          <p:nvPr>
            <p:ph type="title"/>
          </p:nvPr>
        </p:nvSpPr>
        <p:spPr/>
        <p:txBody>
          <a:bodyPr/>
          <a:lstStyle/>
          <a:p>
            <a:r>
              <a:rPr lang="en-US"/>
              <a:t>Click to edit Master title style</a:t>
            </a:r>
            <a:endParaRPr lang="az-Cyrl-AZ"/>
          </a:p>
        </p:txBody>
      </p:sp>
      <p:sp>
        <p:nvSpPr>
          <p:cNvPr id="3" name="Content Placeholder 2">
            <a:extLst>
              <a:ext uri="{FF2B5EF4-FFF2-40B4-BE49-F238E27FC236}">
                <a16:creationId xmlns:a16="http://schemas.microsoft.com/office/drawing/2014/main" id="{7BDD55C3-CA05-48FA-B526-E8F890EF413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4" name="Content Placeholder 3">
            <a:extLst>
              <a:ext uri="{FF2B5EF4-FFF2-40B4-BE49-F238E27FC236}">
                <a16:creationId xmlns:a16="http://schemas.microsoft.com/office/drawing/2014/main" id="{7531943A-F404-4142-AB23-014FDD3AC97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5" name="Date Placeholder 4">
            <a:extLst>
              <a:ext uri="{FF2B5EF4-FFF2-40B4-BE49-F238E27FC236}">
                <a16:creationId xmlns:a16="http://schemas.microsoft.com/office/drawing/2014/main" id="{8C6A7669-49C2-4088-9521-EC1940E9BF5D}"/>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6" name="Footer Placeholder 5">
            <a:extLst>
              <a:ext uri="{FF2B5EF4-FFF2-40B4-BE49-F238E27FC236}">
                <a16:creationId xmlns:a16="http://schemas.microsoft.com/office/drawing/2014/main" id="{E560B35E-CB7A-4F7D-9AC3-D4176966041B}"/>
              </a:ext>
            </a:extLst>
          </p:cNvPr>
          <p:cNvSpPr>
            <a:spLocks noGrp="1"/>
          </p:cNvSpPr>
          <p:nvPr>
            <p:ph type="ftr" sz="quarter" idx="11"/>
          </p:nvPr>
        </p:nvSpPr>
        <p:spPr/>
        <p:txBody>
          <a:bodyPr/>
          <a:lstStyle/>
          <a:p>
            <a:endParaRPr lang="az-Cyrl-AZ"/>
          </a:p>
        </p:txBody>
      </p:sp>
      <p:sp>
        <p:nvSpPr>
          <p:cNvPr id="7" name="Slide Number Placeholder 6">
            <a:extLst>
              <a:ext uri="{FF2B5EF4-FFF2-40B4-BE49-F238E27FC236}">
                <a16:creationId xmlns:a16="http://schemas.microsoft.com/office/drawing/2014/main" id="{F826B239-7F7F-4C0B-A833-4FD299323EC9}"/>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25279075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1CB001-00BE-4164-BD4F-2975DD5DBFD9}"/>
              </a:ext>
            </a:extLst>
          </p:cNvPr>
          <p:cNvSpPr>
            <a:spLocks noGrp="1"/>
          </p:cNvSpPr>
          <p:nvPr>
            <p:ph type="title"/>
          </p:nvPr>
        </p:nvSpPr>
        <p:spPr>
          <a:xfrm>
            <a:off x="839788" y="365125"/>
            <a:ext cx="10515600" cy="1325563"/>
          </a:xfrm>
        </p:spPr>
        <p:txBody>
          <a:bodyPr/>
          <a:lstStyle/>
          <a:p>
            <a:r>
              <a:rPr lang="en-US"/>
              <a:t>Click to edit Master title style</a:t>
            </a:r>
            <a:endParaRPr lang="az-Cyrl-AZ"/>
          </a:p>
        </p:txBody>
      </p:sp>
      <p:sp>
        <p:nvSpPr>
          <p:cNvPr id="3" name="Text Placeholder 2">
            <a:extLst>
              <a:ext uri="{FF2B5EF4-FFF2-40B4-BE49-F238E27FC236}">
                <a16:creationId xmlns:a16="http://schemas.microsoft.com/office/drawing/2014/main" id="{264162B1-C5B8-4849-ACFE-ECDD7DE3267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336FDDC-01BF-4139-BE71-D85B9062EAA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5" name="Text Placeholder 4">
            <a:extLst>
              <a:ext uri="{FF2B5EF4-FFF2-40B4-BE49-F238E27FC236}">
                <a16:creationId xmlns:a16="http://schemas.microsoft.com/office/drawing/2014/main" id="{F4666F52-0B75-43C5-96D6-6963ADA8F9B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F95E9B2-A417-4772-BE8F-2EF2F95988B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7" name="Date Placeholder 6">
            <a:extLst>
              <a:ext uri="{FF2B5EF4-FFF2-40B4-BE49-F238E27FC236}">
                <a16:creationId xmlns:a16="http://schemas.microsoft.com/office/drawing/2014/main" id="{5C0F073C-266A-46F5-AA44-0351B73C8ADA}"/>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8" name="Footer Placeholder 7">
            <a:extLst>
              <a:ext uri="{FF2B5EF4-FFF2-40B4-BE49-F238E27FC236}">
                <a16:creationId xmlns:a16="http://schemas.microsoft.com/office/drawing/2014/main" id="{D428CFC9-6D81-4780-83EC-FE9D02B06A36}"/>
              </a:ext>
            </a:extLst>
          </p:cNvPr>
          <p:cNvSpPr>
            <a:spLocks noGrp="1"/>
          </p:cNvSpPr>
          <p:nvPr>
            <p:ph type="ftr" sz="quarter" idx="11"/>
          </p:nvPr>
        </p:nvSpPr>
        <p:spPr/>
        <p:txBody>
          <a:bodyPr/>
          <a:lstStyle/>
          <a:p>
            <a:endParaRPr lang="az-Cyrl-AZ"/>
          </a:p>
        </p:txBody>
      </p:sp>
      <p:sp>
        <p:nvSpPr>
          <p:cNvPr id="9" name="Slide Number Placeholder 8">
            <a:extLst>
              <a:ext uri="{FF2B5EF4-FFF2-40B4-BE49-F238E27FC236}">
                <a16:creationId xmlns:a16="http://schemas.microsoft.com/office/drawing/2014/main" id="{88972282-C781-4E81-9A3C-2DF4D5515079}"/>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12006553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EB04E-478F-4D7C-AF81-6FC690EF8E48}"/>
              </a:ext>
            </a:extLst>
          </p:cNvPr>
          <p:cNvSpPr>
            <a:spLocks noGrp="1"/>
          </p:cNvSpPr>
          <p:nvPr>
            <p:ph type="title"/>
          </p:nvPr>
        </p:nvSpPr>
        <p:spPr/>
        <p:txBody>
          <a:bodyPr/>
          <a:lstStyle/>
          <a:p>
            <a:r>
              <a:rPr lang="en-US"/>
              <a:t>Click to edit Master title style</a:t>
            </a:r>
            <a:endParaRPr lang="az-Cyrl-AZ"/>
          </a:p>
        </p:txBody>
      </p:sp>
      <p:sp>
        <p:nvSpPr>
          <p:cNvPr id="3" name="Date Placeholder 2">
            <a:extLst>
              <a:ext uri="{FF2B5EF4-FFF2-40B4-BE49-F238E27FC236}">
                <a16:creationId xmlns:a16="http://schemas.microsoft.com/office/drawing/2014/main" id="{DFAA15F1-A724-4FA3-B8BA-21B98181C9B3}"/>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4" name="Footer Placeholder 3">
            <a:extLst>
              <a:ext uri="{FF2B5EF4-FFF2-40B4-BE49-F238E27FC236}">
                <a16:creationId xmlns:a16="http://schemas.microsoft.com/office/drawing/2014/main" id="{1A00244A-C88A-4AA9-A340-22B163EBD92F}"/>
              </a:ext>
            </a:extLst>
          </p:cNvPr>
          <p:cNvSpPr>
            <a:spLocks noGrp="1"/>
          </p:cNvSpPr>
          <p:nvPr>
            <p:ph type="ftr" sz="quarter" idx="11"/>
          </p:nvPr>
        </p:nvSpPr>
        <p:spPr/>
        <p:txBody>
          <a:bodyPr/>
          <a:lstStyle/>
          <a:p>
            <a:endParaRPr lang="az-Cyrl-AZ"/>
          </a:p>
        </p:txBody>
      </p:sp>
      <p:sp>
        <p:nvSpPr>
          <p:cNvPr id="5" name="Slide Number Placeholder 4">
            <a:extLst>
              <a:ext uri="{FF2B5EF4-FFF2-40B4-BE49-F238E27FC236}">
                <a16:creationId xmlns:a16="http://schemas.microsoft.com/office/drawing/2014/main" id="{AB9B4AF2-48E1-4B5A-9E97-41107820743C}"/>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1284527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1403321-0D7E-489A-A1D9-D0E29C728748}"/>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3" name="Footer Placeholder 2">
            <a:extLst>
              <a:ext uri="{FF2B5EF4-FFF2-40B4-BE49-F238E27FC236}">
                <a16:creationId xmlns:a16="http://schemas.microsoft.com/office/drawing/2014/main" id="{756C1BAC-E3F6-420B-8B29-682B050E0FF9}"/>
              </a:ext>
            </a:extLst>
          </p:cNvPr>
          <p:cNvSpPr>
            <a:spLocks noGrp="1"/>
          </p:cNvSpPr>
          <p:nvPr>
            <p:ph type="ftr" sz="quarter" idx="11"/>
          </p:nvPr>
        </p:nvSpPr>
        <p:spPr/>
        <p:txBody>
          <a:bodyPr/>
          <a:lstStyle/>
          <a:p>
            <a:endParaRPr lang="az-Cyrl-AZ"/>
          </a:p>
        </p:txBody>
      </p:sp>
      <p:sp>
        <p:nvSpPr>
          <p:cNvPr id="4" name="Slide Number Placeholder 3">
            <a:extLst>
              <a:ext uri="{FF2B5EF4-FFF2-40B4-BE49-F238E27FC236}">
                <a16:creationId xmlns:a16="http://schemas.microsoft.com/office/drawing/2014/main" id="{F9A8DC05-6B79-4984-B75B-22C749C6BFFF}"/>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24865348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C8DA9-4B61-45C0-988F-8CB09D171D5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az-Cyrl-AZ"/>
          </a:p>
        </p:txBody>
      </p:sp>
      <p:sp>
        <p:nvSpPr>
          <p:cNvPr id="3" name="Content Placeholder 2">
            <a:extLst>
              <a:ext uri="{FF2B5EF4-FFF2-40B4-BE49-F238E27FC236}">
                <a16:creationId xmlns:a16="http://schemas.microsoft.com/office/drawing/2014/main" id="{E79171EC-75F7-43DC-9CF1-F3A560723CE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4" name="Text Placeholder 3">
            <a:extLst>
              <a:ext uri="{FF2B5EF4-FFF2-40B4-BE49-F238E27FC236}">
                <a16:creationId xmlns:a16="http://schemas.microsoft.com/office/drawing/2014/main" id="{7D23ACE7-B238-47D2-82D5-408EA5B48E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4D1C2D-F371-490B-A572-7956A62B9A8F}"/>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6" name="Footer Placeholder 5">
            <a:extLst>
              <a:ext uri="{FF2B5EF4-FFF2-40B4-BE49-F238E27FC236}">
                <a16:creationId xmlns:a16="http://schemas.microsoft.com/office/drawing/2014/main" id="{4326C257-E234-4F10-AACC-DC42E7CFB2EF}"/>
              </a:ext>
            </a:extLst>
          </p:cNvPr>
          <p:cNvSpPr>
            <a:spLocks noGrp="1"/>
          </p:cNvSpPr>
          <p:nvPr>
            <p:ph type="ftr" sz="quarter" idx="11"/>
          </p:nvPr>
        </p:nvSpPr>
        <p:spPr/>
        <p:txBody>
          <a:bodyPr/>
          <a:lstStyle/>
          <a:p>
            <a:endParaRPr lang="az-Cyrl-AZ"/>
          </a:p>
        </p:txBody>
      </p:sp>
      <p:sp>
        <p:nvSpPr>
          <p:cNvPr id="7" name="Slide Number Placeholder 6">
            <a:extLst>
              <a:ext uri="{FF2B5EF4-FFF2-40B4-BE49-F238E27FC236}">
                <a16:creationId xmlns:a16="http://schemas.microsoft.com/office/drawing/2014/main" id="{602AB862-B46D-415A-9F6C-FD10677B3664}"/>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9170793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79345-A292-48D2-BFDB-00265461016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az-Cyrl-AZ"/>
          </a:p>
        </p:txBody>
      </p:sp>
      <p:sp>
        <p:nvSpPr>
          <p:cNvPr id="3" name="Picture Placeholder 2">
            <a:extLst>
              <a:ext uri="{FF2B5EF4-FFF2-40B4-BE49-F238E27FC236}">
                <a16:creationId xmlns:a16="http://schemas.microsoft.com/office/drawing/2014/main" id="{29BF496E-F114-4A3B-B32C-AC11B4905A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az-Cyrl-AZ"/>
          </a:p>
        </p:txBody>
      </p:sp>
      <p:sp>
        <p:nvSpPr>
          <p:cNvPr id="4" name="Text Placeholder 3">
            <a:extLst>
              <a:ext uri="{FF2B5EF4-FFF2-40B4-BE49-F238E27FC236}">
                <a16:creationId xmlns:a16="http://schemas.microsoft.com/office/drawing/2014/main" id="{9CE47A8C-6078-498C-A7C5-45C6FD00F6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44C114-F683-49D0-8EF1-1C255F9C8A49}"/>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6" name="Footer Placeholder 5">
            <a:extLst>
              <a:ext uri="{FF2B5EF4-FFF2-40B4-BE49-F238E27FC236}">
                <a16:creationId xmlns:a16="http://schemas.microsoft.com/office/drawing/2014/main" id="{A8997260-26B4-4CDA-8FBB-AB750E0E3CAF}"/>
              </a:ext>
            </a:extLst>
          </p:cNvPr>
          <p:cNvSpPr>
            <a:spLocks noGrp="1"/>
          </p:cNvSpPr>
          <p:nvPr>
            <p:ph type="ftr" sz="quarter" idx="11"/>
          </p:nvPr>
        </p:nvSpPr>
        <p:spPr/>
        <p:txBody>
          <a:bodyPr/>
          <a:lstStyle/>
          <a:p>
            <a:endParaRPr lang="az-Cyrl-AZ"/>
          </a:p>
        </p:txBody>
      </p:sp>
      <p:sp>
        <p:nvSpPr>
          <p:cNvPr id="7" name="Slide Number Placeholder 6">
            <a:extLst>
              <a:ext uri="{FF2B5EF4-FFF2-40B4-BE49-F238E27FC236}">
                <a16:creationId xmlns:a16="http://schemas.microsoft.com/office/drawing/2014/main" id="{D7CB9E66-AC62-4C0F-A755-FC12EA6F88B8}"/>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2478870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A5998-BE43-4679-A6D2-FE575D53FE94}"/>
              </a:ext>
            </a:extLst>
          </p:cNvPr>
          <p:cNvSpPr>
            <a:spLocks noGrp="1"/>
          </p:cNvSpPr>
          <p:nvPr>
            <p:ph type="title"/>
          </p:nvPr>
        </p:nvSpPr>
        <p:spPr/>
        <p:txBody>
          <a:bodyPr/>
          <a:lstStyle/>
          <a:p>
            <a:r>
              <a:rPr lang="en-US"/>
              <a:t>Click to edit Master title style</a:t>
            </a:r>
            <a:endParaRPr lang="az-Cyrl-AZ"/>
          </a:p>
        </p:txBody>
      </p:sp>
      <p:sp>
        <p:nvSpPr>
          <p:cNvPr id="3" name="Vertical Text Placeholder 2">
            <a:extLst>
              <a:ext uri="{FF2B5EF4-FFF2-40B4-BE49-F238E27FC236}">
                <a16:creationId xmlns:a16="http://schemas.microsoft.com/office/drawing/2014/main" id="{55FCF28C-0BE1-48DD-BC0E-1911E821D28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4" name="Date Placeholder 3">
            <a:extLst>
              <a:ext uri="{FF2B5EF4-FFF2-40B4-BE49-F238E27FC236}">
                <a16:creationId xmlns:a16="http://schemas.microsoft.com/office/drawing/2014/main" id="{28717A92-598A-478B-8C3E-2E089CE2D3E5}"/>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5" name="Footer Placeholder 4">
            <a:extLst>
              <a:ext uri="{FF2B5EF4-FFF2-40B4-BE49-F238E27FC236}">
                <a16:creationId xmlns:a16="http://schemas.microsoft.com/office/drawing/2014/main" id="{FC89B3F1-BA23-4AD6-9660-89A5BB554121}"/>
              </a:ext>
            </a:extLst>
          </p:cNvPr>
          <p:cNvSpPr>
            <a:spLocks noGrp="1"/>
          </p:cNvSpPr>
          <p:nvPr>
            <p:ph type="ftr" sz="quarter" idx="11"/>
          </p:nvPr>
        </p:nvSpPr>
        <p:spPr/>
        <p:txBody>
          <a:bodyPr/>
          <a:lstStyle/>
          <a:p>
            <a:endParaRPr lang="az-Cyrl-AZ"/>
          </a:p>
        </p:txBody>
      </p:sp>
      <p:sp>
        <p:nvSpPr>
          <p:cNvPr id="6" name="Slide Number Placeholder 5">
            <a:extLst>
              <a:ext uri="{FF2B5EF4-FFF2-40B4-BE49-F238E27FC236}">
                <a16:creationId xmlns:a16="http://schemas.microsoft.com/office/drawing/2014/main" id="{D5A8D326-D557-43E5-B672-1929FFB9D44F}"/>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12678031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91E6658-E1A0-40C2-B12C-F53314C96E6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az-Cyrl-AZ"/>
          </a:p>
        </p:txBody>
      </p:sp>
      <p:sp>
        <p:nvSpPr>
          <p:cNvPr id="3" name="Vertical Text Placeholder 2">
            <a:extLst>
              <a:ext uri="{FF2B5EF4-FFF2-40B4-BE49-F238E27FC236}">
                <a16:creationId xmlns:a16="http://schemas.microsoft.com/office/drawing/2014/main" id="{20C99040-1CA9-4491-9A94-F744A3DA4C9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4" name="Date Placeholder 3">
            <a:extLst>
              <a:ext uri="{FF2B5EF4-FFF2-40B4-BE49-F238E27FC236}">
                <a16:creationId xmlns:a16="http://schemas.microsoft.com/office/drawing/2014/main" id="{74986534-D9CD-4A05-8CAD-47A6C44C658C}"/>
              </a:ext>
            </a:extLst>
          </p:cNvPr>
          <p:cNvSpPr>
            <a:spLocks noGrp="1"/>
          </p:cNvSpPr>
          <p:nvPr>
            <p:ph type="dt" sz="half" idx="10"/>
          </p:nvPr>
        </p:nvSpPr>
        <p:spPr/>
        <p:txBody>
          <a:bodyPr/>
          <a:lstStyle/>
          <a:p>
            <a:fld id="{35584D5C-2839-43FE-8390-D817AD290972}" type="datetimeFigureOut">
              <a:rPr lang="az-Cyrl-AZ" smtClean="0"/>
              <a:t>05.07.2026</a:t>
            </a:fld>
            <a:endParaRPr lang="az-Cyrl-AZ"/>
          </a:p>
        </p:txBody>
      </p:sp>
      <p:sp>
        <p:nvSpPr>
          <p:cNvPr id="5" name="Footer Placeholder 4">
            <a:extLst>
              <a:ext uri="{FF2B5EF4-FFF2-40B4-BE49-F238E27FC236}">
                <a16:creationId xmlns:a16="http://schemas.microsoft.com/office/drawing/2014/main" id="{A0CF9EC7-28D7-4047-8E1C-3A8E1E368D42}"/>
              </a:ext>
            </a:extLst>
          </p:cNvPr>
          <p:cNvSpPr>
            <a:spLocks noGrp="1"/>
          </p:cNvSpPr>
          <p:nvPr>
            <p:ph type="ftr" sz="quarter" idx="11"/>
          </p:nvPr>
        </p:nvSpPr>
        <p:spPr/>
        <p:txBody>
          <a:bodyPr/>
          <a:lstStyle/>
          <a:p>
            <a:endParaRPr lang="az-Cyrl-AZ"/>
          </a:p>
        </p:txBody>
      </p:sp>
      <p:sp>
        <p:nvSpPr>
          <p:cNvPr id="6" name="Slide Number Placeholder 5">
            <a:extLst>
              <a:ext uri="{FF2B5EF4-FFF2-40B4-BE49-F238E27FC236}">
                <a16:creationId xmlns:a16="http://schemas.microsoft.com/office/drawing/2014/main" id="{CF40DAC1-B60F-4BAF-AE6F-1FF7A0DC5617}"/>
              </a:ext>
            </a:extLst>
          </p:cNvPr>
          <p:cNvSpPr>
            <a:spLocks noGrp="1"/>
          </p:cNvSpPr>
          <p:nvPr>
            <p:ph type="sldNum" sz="quarter" idx="12"/>
          </p:nvPr>
        </p:nvSpPr>
        <p:spPr/>
        <p:txBody>
          <a:bodyPr/>
          <a:lstStyle/>
          <a:p>
            <a:fld id="{3CE844E5-0A83-4DC0-857B-EE87E1FCBC34}" type="slidenum">
              <a:rPr lang="az-Cyrl-AZ" smtClean="0"/>
              <a:t>‹#›</a:t>
            </a:fld>
            <a:endParaRPr lang="az-Cyrl-AZ"/>
          </a:p>
        </p:txBody>
      </p:sp>
    </p:spTree>
    <p:extLst>
      <p:ext uri="{BB962C8B-B14F-4D97-AF65-F5344CB8AC3E}">
        <p14:creationId xmlns:p14="http://schemas.microsoft.com/office/powerpoint/2010/main" val="36048146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126E92C-4ABE-490F-A80A-A855884FD0C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az-Cyrl-AZ"/>
          </a:p>
        </p:txBody>
      </p:sp>
      <p:sp>
        <p:nvSpPr>
          <p:cNvPr id="3" name="Text Placeholder 2">
            <a:extLst>
              <a:ext uri="{FF2B5EF4-FFF2-40B4-BE49-F238E27FC236}">
                <a16:creationId xmlns:a16="http://schemas.microsoft.com/office/drawing/2014/main" id="{CF7D98F6-CCE0-4B38-BD5D-9FC63180193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z-Cyrl-AZ"/>
          </a:p>
        </p:txBody>
      </p:sp>
      <p:sp>
        <p:nvSpPr>
          <p:cNvPr id="4" name="Date Placeholder 3">
            <a:extLst>
              <a:ext uri="{FF2B5EF4-FFF2-40B4-BE49-F238E27FC236}">
                <a16:creationId xmlns:a16="http://schemas.microsoft.com/office/drawing/2014/main" id="{CF2EC3E9-DB72-474E-AF75-8D5028C279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5584D5C-2839-43FE-8390-D817AD290972}" type="datetimeFigureOut">
              <a:rPr lang="az-Cyrl-AZ" smtClean="0"/>
              <a:t>05.07.2026</a:t>
            </a:fld>
            <a:endParaRPr lang="az-Cyrl-AZ"/>
          </a:p>
        </p:txBody>
      </p:sp>
      <p:sp>
        <p:nvSpPr>
          <p:cNvPr id="5" name="Footer Placeholder 4">
            <a:extLst>
              <a:ext uri="{FF2B5EF4-FFF2-40B4-BE49-F238E27FC236}">
                <a16:creationId xmlns:a16="http://schemas.microsoft.com/office/drawing/2014/main" id="{D4B2172F-5406-4996-950E-E26E4A14E59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az-Cyrl-AZ"/>
          </a:p>
        </p:txBody>
      </p:sp>
      <p:sp>
        <p:nvSpPr>
          <p:cNvPr id="6" name="Slide Number Placeholder 5">
            <a:extLst>
              <a:ext uri="{FF2B5EF4-FFF2-40B4-BE49-F238E27FC236}">
                <a16:creationId xmlns:a16="http://schemas.microsoft.com/office/drawing/2014/main" id="{C7CA83AD-C0C4-4F37-BD3A-071CEE3C655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E844E5-0A83-4DC0-857B-EE87E1FCBC34}" type="slidenum">
              <a:rPr lang="az-Cyrl-AZ" smtClean="0"/>
              <a:t>‹#›</a:t>
            </a:fld>
            <a:endParaRPr lang="az-Cyrl-AZ"/>
          </a:p>
        </p:txBody>
      </p:sp>
    </p:spTree>
    <p:extLst>
      <p:ext uri="{BB962C8B-B14F-4D97-AF65-F5344CB8AC3E}">
        <p14:creationId xmlns:p14="http://schemas.microsoft.com/office/powerpoint/2010/main" val="11241633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0951319-E991-4460-9389-D0A1EC2DF48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5018087" y="352485"/>
            <a:ext cx="2155825" cy="1746765"/>
          </a:xfrm>
          <a:prstGeom prst="rect">
            <a:avLst/>
          </a:prstGeom>
        </p:spPr>
      </p:pic>
      <p:sp>
        <p:nvSpPr>
          <p:cNvPr id="4" name="TextBox 3">
            <a:extLst>
              <a:ext uri="{FF2B5EF4-FFF2-40B4-BE49-F238E27FC236}">
                <a16:creationId xmlns:a16="http://schemas.microsoft.com/office/drawing/2014/main" id="{1235E3C2-5DC2-4F4A-AB9F-FD9B9DE0E571}"/>
              </a:ext>
            </a:extLst>
          </p:cNvPr>
          <p:cNvSpPr txBox="1"/>
          <p:nvPr/>
        </p:nvSpPr>
        <p:spPr>
          <a:xfrm>
            <a:off x="3175000" y="2386111"/>
            <a:ext cx="5842000" cy="615553"/>
          </a:xfrm>
          <a:prstGeom prst="rect">
            <a:avLst/>
          </a:prstGeom>
          <a:noFill/>
        </p:spPr>
        <p:txBody>
          <a:bodyPr vert="horz" rtlCol="0">
            <a:spAutoFit/>
          </a:bodyPr>
          <a:lstStyle/>
          <a:p>
            <a:pPr algn="ctr"/>
            <a:r>
              <a:rPr lang="en-US" sz="3400" b="1" dirty="0">
                <a:solidFill>
                  <a:srgbClr val="4EED0B"/>
                </a:solidFill>
                <a:latin typeface="Calibri" panose="020F0502020204030204" pitchFamily="34" charset="0"/>
              </a:rPr>
              <a:t>UNIVERSITA DI PISA</a:t>
            </a:r>
            <a:endParaRPr lang="az-Cyrl-AZ" sz="3400" b="1" dirty="0">
              <a:solidFill>
                <a:srgbClr val="4EED0B"/>
              </a:solidFill>
              <a:latin typeface="Calibri" panose="020F0502020204030204" pitchFamily="34" charset="0"/>
            </a:endParaRPr>
          </a:p>
        </p:txBody>
      </p:sp>
      <p:sp>
        <p:nvSpPr>
          <p:cNvPr id="5" name="TextBox 4">
            <a:extLst>
              <a:ext uri="{FF2B5EF4-FFF2-40B4-BE49-F238E27FC236}">
                <a16:creationId xmlns:a16="http://schemas.microsoft.com/office/drawing/2014/main" id="{3116AEC6-A062-401E-A263-7555D6D15D4B}"/>
              </a:ext>
            </a:extLst>
          </p:cNvPr>
          <p:cNvSpPr txBox="1"/>
          <p:nvPr/>
        </p:nvSpPr>
        <p:spPr>
          <a:xfrm>
            <a:off x="3530600" y="3173511"/>
            <a:ext cx="5207000" cy="338554"/>
          </a:xfrm>
          <a:prstGeom prst="rect">
            <a:avLst/>
          </a:prstGeom>
          <a:noFill/>
        </p:spPr>
        <p:txBody>
          <a:bodyPr vert="horz" rtlCol="0">
            <a:spAutoFit/>
          </a:bodyPr>
          <a:lstStyle/>
          <a:p>
            <a:pPr algn="ctr"/>
            <a:r>
              <a:rPr lang="en-US" sz="1600" dirty="0">
                <a:solidFill>
                  <a:srgbClr val="555555"/>
                </a:solidFill>
                <a:latin typeface="Calibri" panose="020F0502020204030204" pitchFamily="34" charset="0"/>
              </a:rPr>
              <a:t>Artificial Intelligence and Data Engineering</a:t>
            </a:r>
            <a:endParaRPr lang="az-Cyrl-AZ" sz="1600" dirty="0">
              <a:solidFill>
                <a:srgbClr val="555555"/>
              </a:solidFill>
              <a:latin typeface="Calibri" panose="020F0502020204030204" pitchFamily="34" charset="0"/>
            </a:endParaRPr>
          </a:p>
        </p:txBody>
      </p:sp>
      <p:sp>
        <p:nvSpPr>
          <p:cNvPr id="6" name="TextBox 5">
            <a:extLst>
              <a:ext uri="{FF2B5EF4-FFF2-40B4-BE49-F238E27FC236}">
                <a16:creationId xmlns:a16="http://schemas.microsoft.com/office/drawing/2014/main" id="{19E510C3-F804-48F1-B7F0-3614C5487147}"/>
              </a:ext>
            </a:extLst>
          </p:cNvPr>
          <p:cNvSpPr txBox="1"/>
          <p:nvPr/>
        </p:nvSpPr>
        <p:spPr>
          <a:xfrm>
            <a:off x="4953000" y="3618011"/>
            <a:ext cx="2794000" cy="369332"/>
          </a:xfrm>
          <a:prstGeom prst="rect">
            <a:avLst/>
          </a:prstGeom>
          <a:noFill/>
        </p:spPr>
        <p:txBody>
          <a:bodyPr vert="horz" rtlCol="0">
            <a:spAutoFit/>
          </a:bodyPr>
          <a:lstStyle/>
          <a:p>
            <a:pPr algn="ctr"/>
            <a:r>
              <a:rPr lang="en-US">
                <a:solidFill>
                  <a:srgbClr val="333333"/>
                </a:solidFill>
                <a:latin typeface="Calibri" panose="020F0502020204030204" pitchFamily="34" charset="0"/>
              </a:rPr>
              <a:t>Cloud Computing</a:t>
            </a:r>
            <a:endParaRPr lang="az-Cyrl-AZ">
              <a:solidFill>
                <a:srgbClr val="333333"/>
              </a:solidFill>
              <a:latin typeface="Calibri" panose="020F0502020204030204" pitchFamily="34" charset="0"/>
            </a:endParaRPr>
          </a:p>
        </p:txBody>
      </p:sp>
      <p:sp>
        <p:nvSpPr>
          <p:cNvPr id="7" name="TextBox 6">
            <a:extLst>
              <a:ext uri="{FF2B5EF4-FFF2-40B4-BE49-F238E27FC236}">
                <a16:creationId xmlns:a16="http://schemas.microsoft.com/office/drawing/2014/main" id="{150F3E45-B246-4390-943B-CB8A94C9BE1E}"/>
              </a:ext>
            </a:extLst>
          </p:cNvPr>
          <p:cNvSpPr txBox="1"/>
          <p:nvPr/>
        </p:nvSpPr>
        <p:spPr>
          <a:xfrm>
            <a:off x="2717800" y="4292600"/>
            <a:ext cx="7112000" cy="553998"/>
          </a:xfrm>
          <a:prstGeom prst="rect">
            <a:avLst/>
          </a:prstGeom>
          <a:noFill/>
        </p:spPr>
        <p:txBody>
          <a:bodyPr vert="horz" rtlCol="0">
            <a:spAutoFit/>
          </a:bodyPr>
          <a:lstStyle/>
          <a:p>
            <a:pPr algn="ctr"/>
            <a:r>
              <a:rPr lang="en-US" sz="3000" b="1">
                <a:solidFill>
                  <a:srgbClr val="000000"/>
                </a:solidFill>
                <a:latin typeface="Calibri" panose="020F0502020204030204" pitchFamily="34" charset="0"/>
              </a:rPr>
              <a:t>Wikimedia Pageview Analytics</a:t>
            </a:r>
            <a:endParaRPr lang="az-Cyrl-AZ" sz="3000" b="1">
              <a:solidFill>
                <a:srgbClr val="000000"/>
              </a:solidFill>
              <a:latin typeface="Calibri" panose="020F0502020204030204" pitchFamily="34" charset="0"/>
            </a:endParaRPr>
          </a:p>
        </p:txBody>
      </p:sp>
      <p:sp>
        <p:nvSpPr>
          <p:cNvPr id="8" name="TextBox 7">
            <a:extLst>
              <a:ext uri="{FF2B5EF4-FFF2-40B4-BE49-F238E27FC236}">
                <a16:creationId xmlns:a16="http://schemas.microsoft.com/office/drawing/2014/main" id="{94F13106-7980-4FE6-AA61-90C92611A45E}"/>
              </a:ext>
            </a:extLst>
          </p:cNvPr>
          <p:cNvSpPr txBox="1"/>
          <p:nvPr/>
        </p:nvSpPr>
        <p:spPr>
          <a:xfrm>
            <a:off x="4699000" y="5154711"/>
            <a:ext cx="3048000" cy="369332"/>
          </a:xfrm>
          <a:prstGeom prst="rect">
            <a:avLst/>
          </a:prstGeom>
          <a:noFill/>
        </p:spPr>
        <p:txBody>
          <a:bodyPr vert="horz" rtlCol="0">
            <a:spAutoFit/>
          </a:bodyPr>
          <a:lstStyle/>
          <a:p>
            <a:pPr algn="ctr"/>
            <a:r>
              <a:rPr lang="en-US">
                <a:solidFill>
                  <a:srgbClr val="333333"/>
                </a:solidFill>
                <a:latin typeface="Calibri" panose="020F0502020204030204" pitchFamily="34" charset="0"/>
              </a:rPr>
              <a:t>Project Presentation</a:t>
            </a:r>
            <a:endParaRPr lang="az-Cyrl-AZ">
              <a:solidFill>
                <a:srgbClr val="333333"/>
              </a:solidFill>
              <a:latin typeface="Calibri" panose="020F0502020204030204" pitchFamily="34" charset="0"/>
            </a:endParaRPr>
          </a:p>
        </p:txBody>
      </p:sp>
      <p:sp>
        <p:nvSpPr>
          <p:cNvPr id="9" name="TextBox 8">
            <a:extLst>
              <a:ext uri="{FF2B5EF4-FFF2-40B4-BE49-F238E27FC236}">
                <a16:creationId xmlns:a16="http://schemas.microsoft.com/office/drawing/2014/main" id="{C38E4A3F-3AB7-4E25-A43A-3CC99296FC26}"/>
              </a:ext>
            </a:extLst>
          </p:cNvPr>
          <p:cNvSpPr txBox="1"/>
          <p:nvPr/>
        </p:nvSpPr>
        <p:spPr>
          <a:xfrm>
            <a:off x="4597400" y="6170711"/>
            <a:ext cx="3556000" cy="307777"/>
          </a:xfrm>
          <a:prstGeom prst="rect">
            <a:avLst/>
          </a:prstGeom>
          <a:noFill/>
        </p:spPr>
        <p:txBody>
          <a:bodyPr vert="horz" rtlCol="0">
            <a:spAutoFit/>
          </a:bodyPr>
          <a:lstStyle/>
          <a:p>
            <a:pPr algn="ctr"/>
            <a:r>
              <a:rPr lang="en-US" sz="1400">
                <a:solidFill>
                  <a:srgbClr val="555555"/>
                </a:solidFill>
                <a:latin typeface="Calibri" panose="020F0502020204030204" pitchFamily="34" charset="0"/>
              </a:rPr>
              <a:t>Author: Zeynaddin Papakhov</a:t>
            </a:r>
            <a:endParaRPr lang="az-Cyrl-AZ" sz="1400">
              <a:solidFill>
                <a:srgbClr val="555555"/>
              </a:solidFill>
              <a:latin typeface="Calibri" panose="020F0502020204030204" pitchFamily="34" charset="0"/>
            </a:endParaRPr>
          </a:p>
        </p:txBody>
      </p:sp>
    </p:spTree>
    <p:extLst>
      <p:ext uri="{BB962C8B-B14F-4D97-AF65-F5344CB8AC3E}">
        <p14:creationId xmlns:p14="http://schemas.microsoft.com/office/powerpoint/2010/main" val="33044554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F70DC36-F7DC-4021-88B1-7B40492B53C8}"/>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61F25339-EF60-458F-B323-7D553BE219E7}"/>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Application Scenario</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5E6F9008-C710-4A0F-82BD-247A05BD8C8F}"/>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Understanding public attention through Wikimedia pageview logs</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166B1CB6-A0F3-42B3-B07A-58F5D282431A}"/>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TextBox 5">
            <a:extLst>
              <a:ext uri="{FF2B5EF4-FFF2-40B4-BE49-F238E27FC236}">
                <a16:creationId xmlns:a16="http://schemas.microsoft.com/office/drawing/2014/main" id="{AC0F5C7E-E286-4E2D-8093-101232DD638F}"/>
              </a:ext>
            </a:extLst>
          </p:cNvPr>
          <p:cNvSpPr txBox="1"/>
          <p:nvPr/>
        </p:nvSpPr>
        <p:spPr>
          <a:xfrm>
            <a:off x="736600" y="1600200"/>
            <a:ext cx="10414000" cy="2446824"/>
          </a:xfrm>
          <a:prstGeom prst="rect">
            <a:avLst/>
          </a:prstGeom>
          <a:noFill/>
        </p:spPr>
        <p:txBody>
          <a:bodyPr vert="horz" rtlCol="0">
            <a:spAutoFit/>
          </a:bodyPr>
          <a:lstStyle/>
          <a:p>
            <a:pPr marL="457200" indent="-457200">
              <a:spcAft>
                <a:spcPts val="800"/>
              </a:spcAft>
              <a:buFont typeface="+mj-lt"/>
              <a:buChar char="•"/>
            </a:pPr>
            <a:r>
              <a:rPr lang="en-US" sz="1900" dirty="0">
                <a:solidFill>
                  <a:srgbClr val="222222"/>
                </a:solidFill>
                <a:latin typeface="Calibri" panose="020F0502020204030204" pitchFamily="34" charset="0"/>
              </a:rPr>
              <a:t>The project analyzes hourly Wikimedia pageview dumps to identify the most visited pages and projects.</a:t>
            </a:r>
          </a:p>
          <a:p>
            <a:pPr marL="457200" indent="-457200">
              <a:spcAft>
                <a:spcPts val="800"/>
              </a:spcAft>
              <a:buFont typeface="+mj-lt"/>
              <a:buChar char="•"/>
            </a:pPr>
            <a:r>
              <a:rPr lang="en-US" sz="1900" dirty="0">
                <a:solidFill>
                  <a:srgbClr val="222222"/>
                </a:solidFill>
                <a:latin typeface="Calibri" panose="020F0502020204030204" pitchFamily="34" charset="0"/>
              </a:rPr>
              <a:t>The input is naturally large, append-only log data, which makes it suitable for HDFS storage and batch processing.</a:t>
            </a:r>
          </a:p>
          <a:p>
            <a:pPr marL="457200" indent="-457200">
              <a:spcAft>
                <a:spcPts val="800"/>
              </a:spcAft>
              <a:buFont typeface="+mj-lt"/>
              <a:buChar char="•"/>
            </a:pPr>
            <a:r>
              <a:rPr lang="en-US" sz="1900" dirty="0">
                <a:solidFill>
                  <a:srgbClr val="222222"/>
                </a:solidFill>
                <a:latin typeface="Calibri" panose="020F0502020204030204" pitchFamily="34" charset="0"/>
              </a:rPr>
              <a:t>The goal is to compare a Java Hadoop MapReduce implementation with a Python non-parallel baseline.</a:t>
            </a:r>
          </a:p>
          <a:p>
            <a:pPr marL="457200" indent="-457200">
              <a:spcAft>
                <a:spcPts val="800"/>
              </a:spcAft>
              <a:buFont typeface="+mj-lt"/>
              <a:buChar char="•"/>
            </a:pPr>
            <a:r>
              <a:rPr lang="en-US" sz="1900" dirty="0">
                <a:solidFill>
                  <a:srgbClr val="222222"/>
                </a:solidFill>
                <a:latin typeface="Calibri" panose="020F0502020204030204" pitchFamily="34" charset="0"/>
              </a:rPr>
              <a:t>The experiments focus on execution time, reducer scalability, and memory behavior.</a:t>
            </a:r>
            <a:endParaRPr lang="az-Cyrl-AZ" sz="1900" dirty="0">
              <a:solidFill>
                <a:srgbClr val="222222"/>
              </a:solidFill>
              <a:latin typeface="Calibri" panose="020F0502020204030204" pitchFamily="34" charset="0"/>
            </a:endParaRPr>
          </a:p>
        </p:txBody>
      </p:sp>
    </p:spTree>
    <p:extLst>
      <p:ext uri="{BB962C8B-B14F-4D97-AF65-F5344CB8AC3E}">
        <p14:creationId xmlns:p14="http://schemas.microsoft.com/office/powerpoint/2010/main" val="34833248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549A593-AFE9-48EA-8F85-CBA1B88EDDDC}"/>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6D7F4455-C3C8-410E-A614-2160C8C0B60A}"/>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Dataset</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BD8CBB5B-2C9A-404E-B7BC-EBF999ED150C}"/>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Wikimedia Pageviews</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D028A4E0-F65E-4A6F-97B4-8AAE9C5DA883}"/>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Rectangle 5">
            <a:extLst>
              <a:ext uri="{FF2B5EF4-FFF2-40B4-BE49-F238E27FC236}">
                <a16:creationId xmlns:a16="http://schemas.microsoft.com/office/drawing/2014/main" id="{82561F8D-D5E1-434C-A00D-CB6BE8C643E3}"/>
              </a:ext>
            </a:extLst>
          </p:cNvPr>
          <p:cNvSpPr/>
          <p:nvPr/>
        </p:nvSpPr>
        <p:spPr>
          <a:xfrm>
            <a:off x="698500" y="1422400"/>
            <a:ext cx="3175000" cy="3048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7" name="TextBox 6">
            <a:extLst>
              <a:ext uri="{FF2B5EF4-FFF2-40B4-BE49-F238E27FC236}">
                <a16:creationId xmlns:a16="http://schemas.microsoft.com/office/drawing/2014/main" id="{0661278A-C9F2-4055-9E0A-0F55F9FF5F34}"/>
              </a:ext>
            </a:extLst>
          </p:cNvPr>
          <p:cNvSpPr txBox="1"/>
          <p:nvPr/>
        </p:nvSpPr>
        <p:spPr>
          <a:xfrm>
            <a:off x="901700" y="1600200"/>
            <a:ext cx="27686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Source</a:t>
            </a:r>
            <a:endParaRPr lang="az-Cyrl-AZ" sz="1600" b="1">
              <a:solidFill>
                <a:srgbClr val="4EED0B"/>
              </a:solidFill>
              <a:latin typeface="Calibri" panose="020F0502020204030204" pitchFamily="34" charset="0"/>
            </a:endParaRPr>
          </a:p>
        </p:txBody>
      </p:sp>
      <p:sp>
        <p:nvSpPr>
          <p:cNvPr id="8" name="TextBox 7">
            <a:extLst>
              <a:ext uri="{FF2B5EF4-FFF2-40B4-BE49-F238E27FC236}">
                <a16:creationId xmlns:a16="http://schemas.microsoft.com/office/drawing/2014/main" id="{A90637D7-45E8-462A-9DD8-CFC7437D7DA8}"/>
              </a:ext>
            </a:extLst>
          </p:cNvPr>
          <p:cNvSpPr txBox="1"/>
          <p:nvPr/>
        </p:nvSpPr>
        <p:spPr>
          <a:xfrm>
            <a:off x="901700" y="1981200"/>
            <a:ext cx="2768600" cy="892552"/>
          </a:xfrm>
          <a:prstGeom prst="rect">
            <a:avLst/>
          </a:prstGeom>
          <a:noFill/>
        </p:spPr>
        <p:txBody>
          <a:bodyPr vert="horz" rtlCol="0">
            <a:spAutoFit/>
          </a:bodyPr>
          <a:lstStyle/>
          <a:p>
            <a:r>
              <a:rPr lang="en-US" sz="1300">
                <a:solidFill>
                  <a:srgbClr val="333333"/>
                </a:solidFill>
                <a:latin typeface="Calibri" panose="020F0502020204030204" pitchFamily="34" charset="0"/>
              </a:rPr>
              <a:t>Wikimedia hourly pageview dumps from dumps.wikimedia.org/other/pageviews.</a:t>
            </a:r>
            <a:endParaRPr lang="az-Cyrl-AZ" sz="1300">
              <a:solidFill>
                <a:srgbClr val="333333"/>
              </a:solidFill>
              <a:latin typeface="Calibri" panose="020F0502020204030204" pitchFamily="34" charset="0"/>
            </a:endParaRPr>
          </a:p>
        </p:txBody>
      </p:sp>
      <p:sp>
        <p:nvSpPr>
          <p:cNvPr id="9" name="Rectangle 8">
            <a:extLst>
              <a:ext uri="{FF2B5EF4-FFF2-40B4-BE49-F238E27FC236}">
                <a16:creationId xmlns:a16="http://schemas.microsoft.com/office/drawing/2014/main" id="{02427604-4334-47CC-9C0E-0969D0608AFB}"/>
              </a:ext>
            </a:extLst>
          </p:cNvPr>
          <p:cNvSpPr/>
          <p:nvPr/>
        </p:nvSpPr>
        <p:spPr>
          <a:xfrm>
            <a:off x="4508500" y="1422400"/>
            <a:ext cx="3175000" cy="3048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0" name="TextBox 9">
            <a:extLst>
              <a:ext uri="{FF2B5EF4-FFF2-40B4-BE49-F238E27FC236}">
                <a16:creationId xmlns:a16="http://schemas.microsoft.com/office/drawing/2014/main" id="{F30F8883-323A-4E12-A3A1-16F5970A960E}"/>
              </a:ext>
            </a:extLst>
          </p:cNvPr>
          <p:cNvSpPr txBox="1"/>
          <p:nvPr/>
        </p:nvSpPr>
        <p:spPr>
          <a:xfrm>
            <a:off x="4711700" y="1600200"/>
            <a:ext cx="27686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Selected Volumes</a:t>
            </a:r>
            <a:endParaRPr lang="az-Cyrl-AZ" sz="1600" b="1">
              <a:solidFill>
                <a:srgbClr val="4EED0B"/>
              </a:solidFill>
              <a:latin typeface="Calibri" panose="020F0502020204030204" pitchFamily="34" charset="0"/>
            </a:endParaRPr>
          </a:p>
        </p:txBody>
      </p:sp>
      <p:sp>
        <p:nvSpPr>
          <p:cNvPr id="11" name="TextBox 10">
            <a:extLst>
              <a:ext uri="{FF2B5EF4-FFF2-40B4-BE49-F238E27FC236}">
                <a16:creationId xmlns:a16="http://schemas.microsoft.com/office/drawing/2014/main" id="{B4E15CF5-07E6-47E7-9A0E-03844CAE335A}"/>
              </a:ext>
            </a:extLst>
          </p:cNvPr>
          <p:cNvSpPr txBox="1"/>
          <p:nvPr/>
        </p:nvSpPr>
        <p:spPr>
          <a:xfrm>
            <a:off x="4711700" y="1981200"/>
            <a:ext cx="2768600" cy="692497"/>
          </a:xfrm>
          <a:prstGeom prst="rect">
            <a:avLst/>
          </a:prstGeom>
          <a:noFill/>
        </p:spPr>
        <p:txBody>
          <a:bodyPr vert="horz" rtlCol="0">
            <a:spAutoFit/>
          </a:bodyPr>
          <a:lstStyle/>
          <a:p>
            <a:r>
              <a:rPr lang="en-US" sz="1300">
                <a:solidFill>
                  <a:srgbClr val="333333"/>
                </a:solidFill>
                <a:latin typeface="Calibri" panose="020F0502020204030204" pitchFamily="34" charset="0"/>
              </a:rPr>
              <a:t>1h, 4h, 8h datasets for the main benchmarks, plus a 16h stress test for scalability observation.</a:t>
            </a:r>
            <a:endParaRPr lang="az-Cyrl-AZ" sz="1300">
              <a:solidFill>
                <a:srgbClr val="333333"/>
              </a:solidFill>
              <a:latin typeface="Calibri" panose="020F0502020204030204" pitchFamily="34" charset="0"/>
            </a:endParaRPr>
          </a:p>
        </p:txBody>
      </p:sp>
      <p:sp>
        <p:nvSpPr>
          <p:cNvPr id="12" name="Rectangle 11">
            <a:extLst>
              <a:ext uri="{FF2B5EF4-FFF2-40B4-BE49-F238E27FC236}">
                <a16:creationId xmlns:a16="http://schemas.microsoft.com/office/drawing/2014/main" id="{58FA831B-AA67-479C-B3A2-1B92997F6F68}"/>
              </a:ext>
            </a:extLst>
          </p:cNvPr>
          <p:cNvSpPr/>
          <p:nvPr/>
        </p:nvSpPr>
        <p:spPr>
          <a:xfrm>
            <a:off x="8318500" y="1422400"/>
            <a:ext cx="3175000" cy="3048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3" name="TextBox 12">
            <a:extLst>
              <a:ext uri="{FF2B5EF4-FFF2-40B4-BE49-F238E27FC236}">
                <a16:creationId xmlns:a16="http://schemas.microsoft.com/office/drawing/2014/main" id="{52B825DA-6333-417F-8355-967A26DEE8FC}"/>
              </a:ext>
            </a:extLst>
          </p:cNvPr>
          <p:cNvSpPr txBox="1"/>
          <p:nvPr/>
        </p:nvSpPr>
        <p:spPr>
          <a:xfrm>
            <a:off x="8521700" y="1600200"/>
            <a:ext cx="27686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Record Fields</a:t>
            </a:r>
            <a:endParaRPr lang="az-Cyrl-AZ" sz="1600" b="1">
              <a:solidFill>
                <a:srgbClr val="4EED0B"/>
              </a:solidFill>
              <a:latin typeface="Calibri" panose="020F0502020204030204" pitchFamily="34" charset="0"/>
            </a:endParaRPr>
          </a:p>
        </p:txBody>
      </p:sp>
      <p:sp>
        <p:nvSpPr>
          <p:cNvPr id="14" name="TextBox 13">
            <a:extLst>
              <a:ext uri="{FF2B5EF4-FFF2-40B4-BE49-F238E27FC236}">
                <a16:creationId xmlns:a16="http://schemas.microsoft.com/office/drawing/2014/main" id="{AD37F45E-7525-4560-8AE3-7C45A20F901C}"/>
              </a:ext>
            </a:extLst>
          </p:cNvPr>
          <p:cNvSpPr txBox="1"/>
          <p:nvPr/>
        </p:nvSpPr>
        <p:spPr>
          <a:xfrm>
            <a:off x="8521700" y="1981200"/>
            <a:ext cx="2768600" cy="892552"/>
          </a:xfrm>
          <a:prstGeom prst="rect">
            <a:avLst/>
          </a:prstGeom>
          <a:noFill/>
        </p:spPr>
        <p:txBody>
          <a:bodyPr vert="horz" rtlCol="0">
            <a:spAutoFit/>
          </a:bodyPr>
          <a:lstStyle/>
          <a:p>
            <a:r>
              <a:rPr lang="en-US" sz="1300">
                <a:solidFill>
                  <a:srgbClr val="333333"/>
                </a:solidFill>
                <a:latin typeface="Calibri" panose="020F0502020204030204" pitchFamily="34" charset="0"/>
              </a:rPr>
              <a:t>Each line contains project, page title, view count, and response size. The analytics use the project, page, and view count fields.</a:t>
            </a:r>
            <a:endParaRPr lang="az-Cyrl-AZ" sz="1300">
              <a:solidFill>
                <a:srgbClr val="333333"/>
              </a:solidFill>
              <a:latin typeface="Calibri" panose="020F0502020204030204" pitchFamily="34" charset="0"/>
            </a:endParaRPr>
          </a:p>
        </p:txBody>
      </p:sp>
      <p:sp>
        <p:nvSpPr>
          <p:cNvPr id="15" name="TextBox 14">
            <a:extLst>
              <a:ext uri="{FF2B5EF4-FFF2-40B4-BE49-F238E27FC236}">
                <a16:creationId xmlns:a16="http://schemas.microsoft.com/office/drawing/2014/main" id="{3AB8A36D-CBE9-4595-8952-370BAFC6141C}"/>
              </a:ext>
            </a:extLst>
          </p:cNvPr>
          <p:cNvSpPr txBox="1"/>
          <p:nvPr/>
        </p:nvSpPr>
        <p:spPr>
          <a:xfrm>
            <a:off x="914400" y="4953000"/>
            <a:ext cx="10414000" cy="584775"/>
          </a:xfrm>
          <a:prstGeom prst="rect">
            <a:avLst/>
          </a:prstGeom>
          <a:noFill/>
        </p:spPr>
        <p:txBody>
          <a:bodyPr vert="horz" rtlCol="0">
            <a:spAutoFit/>
          </a:bodyPr>
          <a:lstStyle/>
          <a:p>
            <a:r>
              <a:rPr lang="en-US" sz="1600">
                <a:solidFill>
                  <a:srgbClr val="333333"/>
                </a:solidFill>
                <a:latin typeface="Calibri" panose="020F0502020204030204" pitchFamily="34" charset="0"/>
              </a:rPr>
              <a:t>The dataset was chosen because it is public, structured, scalable by hour, and large enough to show batch-processing trade-offs.</a:t>
            </a:r>
            <a:endParaRPr lang="az-Cyrl-AZ" sz="1600">
              <a:solidFill>
                <a:srgbClr val="333333"/>
              </a:solidFill>
              <a:latin typeface="Calibri" panose="020F0502020204030204" pitchFamily="34" charset="0"/>
            </a:endParaRPr>
          </a:p>
        </p:txBody>
      </p:sp>
    </p:spTree>
    <p:extLst>
      <p:ext uri="{BB962C8B-B14F-4D97-AF65-F5344CB8AC3E}">
        <p14:creationId xmlns:p14="http://schemas.microsoft.com/office/powerpoint/2010/main" val="37162944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A407D04-7987-4D15-84AC-EEBB8D02BB74}"/>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AD6BBD7D-40FE-481B-B69F-5B9C66AC3256}"/>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Dataset Size</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2D35A9FB-E6C8-4E6A-B44A-A12C4AE3BE51}"/>
              </a:ext>
            </a:extLst>
          </p:cNvPr>
          <p:cNvSpPr txBox="1"/>
          <p:nvPr/>
        </p:nvSpPr>
        <p:spPr>
          <a:xfrm>
            <a:off x="482600" y="838200"/>
            <a:ext cx="10795000" cy="338554"/>
          </a:xfrm>
          <a:prstGeom prst="rect">
            <a:avLst/>
          </a:prstGeom>
          <a:noFill/>
        </p:spPr>
        <p:txBody>
          <a:bodyPr vert="horz" rtlCol="0">
            <a:spAutoFit/>
          </a:bodyPr>
          <a:lstStyle/>
          <a:p>
            <a:r>
              <a:rPr lang="en-US" sz="1600" dirty="0">
                <a:solidFill>
                  <a:srgbClr val="525252"/>
                </a:solidFill>
                <a:latin typeface="Calibri" panose="020F0502020204030204" pitchFamily="34" charset="0"/>
              </a:rPr>
              <a:t>Compressed storage size vs logical text processed by Hadoop</a:t>
            </a:r>
            <a:endParaRPr lang="az-Cyrl-AZ" sz="1600" dirty="0">
              <a:solidFill>
                <a:srgbClr val="525252"/>
              </a:solidFill>
              <a:latin typeface="Calibri" panose="020F0502020204030204" pitchFamily="34" charset="0"/>
            </a:endParaRPr>
          </a:p>
        </p:txBody>
      </p:sp>
      <p:graphicFrame>
        <p:nvGraphicFramePr>
          <p:cNvPr id="5" name="Table 4">
            <a:extLst>
              <a:ext uri="{FF2B5EF4-FFF2-40B4-BE49-F238E27FC236}">
                <a16:creationId xmlns:a16="http://schemas.microsoft.com/office/drawing/2014/main" id="{955EA40B-35D9-45A3-A1FF-C020D8984F6A}"/>
              </a:ext>
            </a:extLst>
          </p:cNvPr>
          <p:cNvGraphicFramePr>
            <a:graphicFrameLocks noGrp="1"/>
          </p:cNvGraphicFramePr>
          <p:nvPr>
            <p:extLst>
              <p:ext uri="{D42A27DB-BD31-4B8C-83A1-F6EECF244321}">
                <p14:modId xmlns:p14="http://schemas.microsoft.com/office/powerpoint/2010/main" val="3028418743"/>
              </p:ext>
            </p:extLst>
          </p:nvPr>
        </p:nvGraphicFramePr>
        <p:xfrm>
          <a:off x="762000" y="1524000"/>
          <a:ext cx="10668000" cy="2667000"/>
        </p:xfrm>
        <a:graphic>
          <a:graphicData uri="http://schemas.openxmlformats.org/drawingml/2006/table">
            <a:tbl>
              <a:tblPr firstRow="1" bandRow="1">
                <a:tableStyleId>{5C22544A-7EE6-4342-B048-85BDC9FD1C3A}</a:tableStyleId>
              </a:tblPr>
              <a:tblGrid>
                <a:gridCol w="2133600">
                  <a:extLst>
                    <a:ext uri="{9D8B030D-6E8A-4147-A177-3AD203B41FA5}">
                      <a16:colId xmlns:a16="http://schemas.microsoft.com/office/drawing/2014/main" val="3542559096"/>
                    </a:ext>
                  </a:extLst>
                </a:gridCol>
                <a:gridCol w="2133600">
                  <a:extLst>
                    <a:ext uri="{9D8B030D-6E8A-4147-A177-3AD203B41FA5}">
                      <a16:colId xmlns:a16="http://schemas.microsoft.com/office/drawing/2014/main" val="424846365"/>
                    </a:ext>
                  </a:extLst>
                </a:gridCol>
                <a:gridCol w="2133600">
                  <a:extLst>
                    <a:ext uri="{9D8B030D-6E8A-4147-A177-3AD203B41FA5}">
                      <a16:colId xmlns:a16="http://schemas.microsoft.com/office/drawing/2014/main" val="2827477289"/>
                    </a:ext>
                  </a:extLst>
                </a:gridCol>
                <a:gridCol w="2133600">
                  <a:extLst>
                    <a:ext uri="{9D8B030D-6E8A-4147-A177-3AD203B41FA5}">
                      <a16:colId xmlns:a16="http://schemas.microsoft.com/office/drawing/2014/main" val="4042913416"/>
                    </a:ext>
                  </a:extLst>
                </a:gridCol>
                <a:gridCol w="2133600">
                  <a:extLst>
                    <a:ext uri="{9D8B030D-6E8A-4147-A177-3AD203B41FA5}">
                      <a16:colId xmlns:a16="http://schemas.microsoft.com/office/drawing/2014/main" val="1275781823"/>
                    </a:ext>
                  </a:extLst>
                </a:gridCol>
              </a:tblGrid>
              <a:tr h="533400">
                <a:tc>
                  <a:txBody>
                    <a:bodyPr/>
                    <a:lstStyle/>
                    <a:p>
                      <a:r>
                        <a:rPr lang="en-US" sz="1300" b="1">
                          <a:latin typeface="Calibri" panose="020F0502020204030204" pitchFamily="34" charset="0"/>
                        </a:rPr>
                        <a:t>Subset</a:t>
                      </a:r>
                      <a:endParaRPr lang="az-Cyrl-AZ" sz="1300" b="1">
                        <a:latin typeface="Calibri" panose="020F0502020204030204" pitchFamily="34" charset="0"/>
                      </a:endParaRPr>
                    </a:p>
                  </a:txBody>
                  <a:tcPr>
                    <a:solidFill>
                      <a:srgbClr val="E4E4E4"/>
                    </a:solidFill>
                  </a:tcPr>
                </a:tc>
                <a:tc>
                  <a:txBody>
                    <a:bodyPr/>
                    <a:lstStyle/>
                    <a:p>
                      <a:r>
                        <a:rPr lang="en-US" sz="1300" b="1">
                          <a:latin typeface="Calibri" panose="020F0502020204030204" pitchFamily="34" charset="0"/>
                        </a:rPr>
                        <a:t>Files</a:t>
                      </a:r>
                      <a:endParaRPr lang="az-Cyrl-AZ" sz="1300" b="1">
                        <a:latin typeface="Calibri" panose="020F0502020204030204" pitchFamily="34" charset="0"/>
                      </a:endParaRPr>
                    </a:p>
                  </a:txBody>
                  <a:tcPr>
                    <a:solidFill>
                      <a:srgbClr val="E4E4E4"/>
                    </a:solidFill>
                  </a:tcPr>
                </a:tc>
                <a:tc>
                  <a:txBody>
                    <a:bodyPr/>
                    <a:lstStyle/>
                    <a:p>
                      <a:r>
                        <a:rPr lang="en-US" sz="1300" b="1">
                          <a:latin typeface="Calibri" panose="020F0502020204030204" pitchFamily="34" charset="0"/>
                        </a:rPr>
                        <a:t>Compressed</a:t>
                      </a:r>
                      <a:endParaRPr lang="az-Cyrl-AZ" sz="1300" b="1">
                        <a:latin typeface="Calibri" panose="020F0502020204030204" pitchFamily="34" charset="0"/>
                      </a:endParaRPr>
                    </a:p>
                  </a:txBody>
                  <a:tcPr>
                    <a:solidFill>
                      <a:srgbClr val="E4E4E4"/>
                    </a:solidFill>
                  </a:tcPr>
                </a:tc>
                <a:tc>
                  <a:txBody>
                    <a:bodyPr/>
                    <a:lstStyle/>
                    <a:p>
                      <a:r>
                        <a:rPr lang="en-US" sz="1300" b="1">
                          <a:latin typeface="Calibri" panose="020F0502020204030204" pitchFamily="34" charset="0"/>
                        </a:rPr>
                        <a:t>Decompressed</a:t>
                      </a:r>
                      <a:endParaRPr lang="az-Cyrl-AZ" sz="1300" b="1">
                        <a:latin typeface="Calibri" panose="020F0502020204030204" pitchFamily="34" charset="0"/>
                      </a:endParaRPr>
                    </a:p>
                  </a:txBody>
                  <a:tcPr>
                    <a:solidFill>
                      <a:srgbClr val="E4E4E4"/>
                    </a:solidFill>
                  </a:tcPr>
                </a:tc>
                <a:tc>
                  <a:txBody>
                    <a:bodyPr/>
                    <a:lstStyle/>
                    <a:p>
                      <a:r>
                        <a:rPr lang="en-US" sz="1300" b="1">
                          <a:latin typeface="Calibri" panose="020F0502020204030204" pitchFamily="34" charset="0"/>
                        </a:rPr>
                        <a:t>HDFS with repl.</a:t>
                      </a:r>
                      <a:endParaRPr lang="az-Cyrl-AZ" sz="1300" b="1">
                        <a:latin typeface="Calibri" panose="020F0502020204030204" pitchFamily="34" charset="0"/>
                      </a:endParaRPr>
                    </a:p>
                  </a:txBody>
                  <a:tcPr>
                    <a:solidFill>
                      <a:srgbClr val="E4E4E4"/>
                    </a:solidFill>
                  </a:tcPr>
                </a:tc>
                <a:extLst>
                  <a:ext uri="{0D108BD9-81ED-4DB2-BD59-A6C34878D82A}">
                    <a16:rowId xmlns:a16="http://schemas.microsoft.com/office/drawing/2014/main" val="4061520799"/>
                  </a:ext>
                </a:extLst>
              </a:tr>
              <a:tr h="533400">
                <a:tc>
                  <a:txBody>
                    <a:bodyPr/>
                    <a:lstStyle/>
                    <a:p>
                      <a:r>
                        <a:rPr lang="en-US" sz="1200">
                          <a:latin typeface="Calibri" panose="020F0502020204030204" pitchFamily="34" charset="0"/>
                        </a:rPr>
                        <a:t>1h</a:t>
                      </a:r>
                      <a:endParaRPr lang="az-Cyrl-AZ" sz="1200">
                        <a:latin typeface="Calibri" panose="020F0502020204030204" pitchFamily="34" charset="0"/>
                      </a:endParaRPr>
                    </a:p>
                  </a:txBody>
                  <a:tcPr/>
                </a:tc>
                <a:tc>
                  <a:txBody>
                    <a:bodyPr/>
                    <a:lstStyle/>
                    <a:p>
                      <a:r>
                        <a:rPr lang="az-Cyrl-AZ" sz="1200">
                          <a:latin typeface="Calibri" panose="020F0502020204030204" pitchFamily="34" charset="0"/>
                        </a:rPr>
                        <a:t>1</a:t>
                      </a:r>
                    </a:p>
                  </a:txBody>
                  <a:tcPr/>
                </a:tc>
                <a:tc>
                  <a:txBody>
                    <a:bodyPr/>
                    <a:lstStyle/>
                    <a:p>
                      <a:r>
                        <a:rPr lang="en-US" sz="1200" dirty="0">
                          <a:latin typeface="Calibri" panose="020F0502020204030204" pitchFamily="34" charset="0"/>
                        </a:rPr>
                        <a:t>51.7 MiB</a:t>
                      </a:r>
                      <a:endParaRPr lang="az-Cyrl-AZ" sz="1200" dirty="0">
                        <a:latin typeface="Calibri" panose="020F0502020204030204" pitchFamily="34" charset="0"/>
                      </a:endParaRPr>
                    </a:p>
                  </a:txBody>
                  <a:tcPr/>
                </a:tc>
                <a:tc>
                  <a:txBody>
                    <a:bodyPr/>
                    <a:lstStyle/>
                    <a:p>
                      <a:r>
                        <a:rPr lang="en-US" sz="1200" dirty="0">
                          <a:latin typeface="Calibri" panose="020F0502020204030204" pitchFamily="34" charset="0"/>
                        </a:rPr>
                        <a:t>185.6 MiB</a:t>
                      </a:r>
                      <a:endParaRPr lang="az-Cyrl-AZ" sz="1200" dirty="0">
                        <a:latin typeface="Calibri" panose="020F0502020204030204" pitchFamily="34" charset="0"/>
                      </a:endParaRPr>
                    </a:p>
                  </a:txBody>
                  <a:tcPr/>
                </a:tc>
                <a:tc>
                  <a:txBody>
                    <a:bodyPr/>
                    <a:lstStyle/>
                    <a:p>
                      <a:r>
                        <a:rPr lang="en-US" sz="1200" dirty="0">
                          <a:latin typeface="Calibri" panose="020F0502020204030204" pitchFamily="34" charset="0"/>
                        </a:rPr>
                        <a:t>103.5 MiB</a:t>
                      </a:r>
                      <a:endParaRPr lang="az-Cyrl-AZ" sz="1200" dirty="0">
                        <a:latin typeface="Calibri" panose="020F0502020204030204" pitchFamily="34" charset="0"/>
                      </a:endParaRPr>
                    </a:p>
                  </a:txBody>
                  <a:tcPr/>
                </a:tc>
                <a:extLst>
                  <a:ext uri="{0D108BD9-81ED-4DB2-BD59-A6C34878D82A}">
                    <a16:rowId xmlns:a16="http://schemas.microsoft.com/office/drawing/2014/main" val="2596008393"/>
                  </a:ext>
                </a:extLst>
              </a:tr>
              <a:tr h="533400">
                <a:tc>
                  <a:txBody>
                    <a:bodyPr/>
                    <a:lstStyle/>
                    <a:p>
                      <a:r>
                        <a:rPr lang="en-US" sz="1200">
                          <a:latin typeface="Calibri" panose="020F0502020204030204" pitchFamily="34" charset="0"/>
                        </a:rPr>
                        <a:t>4h</a:t>
                      </a:r>
                      <a:endParaRPr lang="az-Cyrl-AZ" sz="1200">
                        <a:latin typeface="Calibri" panose="020F0502020204030204" pitchFamily="34" charset="0"/>
                      </a:endParaRPr>
                    </a:p>
                  </a:txBody>
                  <a:tcPr/>
                </a:tc>
                <a:tc>
                  <a:txBody>
                    <a:bodyPr/>
                    <a:lstStyle/>
                    <a:p>
                      <a:r>
                        <a:rPr lang="az-Cyrl-AZ" sz="1200">
                          <a:latin typeface="Calibri" panose="020F0502020204030204" pitchFamily="34" charset="0"/>
                        </a:rPr>
                        <a:t>4</a:t>
                      </a:r>
                    </a:p>
                  </a:txBody>
                  <a:tcPr/>
                </a:tc>
                <a:tc>
                  <a:txBody>
                    <a:bodyPr/>
                    <a:lstStyle/>
                    <a:p>
                      <a:r>
                        <a:rPr lang="en-US" sz="1200" dirty="0">
                          <a:latin typeface="Calibri" panose="020F0502020204030204" pitchFamily="34" charset="0"/>
                        </a:rPr>
                        <a:t>199.9 MiB</a:t>
                      </a:r>
                      <a:endParaRPr lang="az-Cyrl-AZ" sz="1200" dirty="0">
                        <a:latin typeface="Calibri" panose="020F0502020204030204" pitchFamily="34" charset="0"/>
                      </a:endParaRPr>
                    </a:p>
                  </a:txBody>
                  <a:tcPr/>
                </a:tc>
                <a:tc>
                  <a:txBody>
                    <a:bodyPr/>
                    <a:lstStyle/>
                    <a:p>
                      <a:r>
                        <a:rPr lang="en-US" sz="1200" dirty="0">
                          <a:latin typeface="Calibri" panose="020F0502020204030204" pitchFamily="34" charset="0"/>
                        </a:rPr>
                        <a:t>723.2 MiB</a:t>
                      </a:r>
                      <a:endParaRPr lang="az-Cyrl-AZ" sz="1200" dirty="0">
                        <a:latin typeface="Calibri" panose="020F0502020204030204" pitchFamily="34" charset="0"/>
                      </a:endParaRPr>
                    </a:p>
                  </a:txBody>
                  <a:tcPr/>
                </a:tc>
                <a:tc>
                  <a:txBody>
                    <a:bodyPr/>
                    <a:lstStyle/>
                    <a:p>
                      <a:r>
                        <a:rPr lang="en-US" sz="1200" dirty="0">
                          <a:latin typeface="Calibri" panose="020F0502020204030204" pitchFamily="34" charset="0"/>
                        </a:rPr>
                        <a:t>399.8 MiB</a:t>
                      </a:r>
                      <a:endParaRPr lang="az-Cyrl-AZ" sz="1200" dirty="0">
                        <a:latin typeface="Calibri" panose="020F0502020204030204" pitchFamily="34" charset="0"/>
                      </a:endParaRPr>
                    </a:p>
                  </a:txBody>
                  <a:tcPr/>
                </a:tc>
                <a:extLst>
                  <a:ext uri="{0D108BD9-81ED-4DB2-BD59-A6C34878D82A}">
                    <a16:rowId xmlns:a16="http://schemas.microsoft.com/office/drawing/2014/main" val="4156420048"/>
                  </a:ext>
                </a:extLst>
              </a:tr>
              <a:tr h="533400">
                <a:tc>
                  <a:txBody>
                    <a:bodyPr/>
                    <a:lstStyle/>
                    <a:p>
                      <a:r>
                        <a:rPr lang="en-US" sz="1200">
                          <a:latin typeface="Calibri" panose="020F0502020204030204" pitchFamily="34" charset="0"/>
                        </a:rPr>
                        <a:t>8h</a:t>
                      </a:r>
                      <a:endParaRPr lang="az-Cyrl-AZ" sz="1200">
                        <a:latin typeface="Calibri" panose="020F0502020204030204" pitchFamily="34" charset="0"/>
                      </a:endParaRPr>
                    </a:p>
                  </a:txBody>
                  <a:tcPr/>
                </a:tc>
                <a:tc>
                  <a:txBody>
                    <a:bodyPr/>
                    <a:lstStyle/>
                    <a:p>
                      <a:r>
                        <a:rPr lang="az-Cyrl-AZ" sz="1200">
                          <a:latin typeface="Calibri" panose="020F0502020204030204" pitchFamily="34" charset="0"/>
                        </a:rPr>
                        <a:t>8</a:t>
                      </a:r>
                    </a:p>
                  </a:txBody>
                  <a:tcPr/>
                </a:tc>
                <a:tc>
                  <a:txBody>
                    <a:bodyPr/>
                    <a:lstStyle/>
                    <a:p>
                      <a:r>
                        <a:rPr lang="en-US" sz="1200" dirty="0">
                          <a:latin typeface="Calibri" panose="020F0502020204030204" pitchFamily="34" charset="0"/>
                        </a:rPr>
                        <a:t>400.6 MiB</a:t>
                      </a:r>
                      <a:endParaRPr lang="az-Cyrl-AZ" sz="1200" dirty="0">
                        <a:latin typeface="Calibri" panose="020F0502020204030204" pitchFamily="34" charset="0"/>
                      </a:endParaRPr>
                    </a:p>
                  </a:txBody>
                  <a:tcPr/>
                </a:tc>
                <a:tc>
                  <a:txBody>
                    <a:bodyPr/>
                    <a:lstStyle/>
                    <a:p>
                      <a:r>
                        <a:rPr lang="en-US" sz="1200">
                          <a:latin typeface="Calibri" panose="020F0502020204030204" pitchFamily="34" charset="0"/>
                        </a:rPr>
                        <a:t>1.42 GiB</a:t>
                      </a:r>
                      <a:endParaRPr lang="az-Cyrl-AZ" sz="1200">
                        <a:latin typeface="Calibri" panose="020F0502020204030204" pitchFamily="34" charset="0"/>
                      </a:endParaRPr>
                    </a:p>
                  </a:txBody>
                  <a:tcPr/>
                </a:tc>
                <a:tc>
                  <a:txBody>
                    <a:bodyPr/>
                    <a:lstStyle/>
                    <a:p>
                      <a:r>
                        <a:rPr lang="en-US" sz="1200" dirty="0">
                          <a:latin typeface="Calibri" panose="020F0502020204030204" pitchFamily="34" charset="0"/>
                        </a:rPr>
                        <a:t>801.3 MiB</a:t>
                      </a:r>
                      <a:endParaRPr lang="az-Cyrl-AZ" sz="1200" dirty="0">
                        <a:latin typeface="Calibri" panose="020F0502020204030204" pitchFamily="34" charset="0"/>
                      </a:endParaRPr>
                    </a:p>
                  </a:txBody>
                  <a:tcPr/>
                </a:tc>
                <a:extLst>
                  <a:ext uri="{0D108BD9-81ED-4DB2-BD59-A6C34878D82A}">
                    <a16:rowId xmlns:a16="http://schemas.microsoft.com/office/drawing/2014/main" val="877955274"/>
                  </a:ext>
                </a:extLst>
              </a:tr>
              <a:tr h="533400">
                <a:tc>
                  <a:txBody>
                    <a:bodyPr/>
                    <a:lstStyle/>
                    <a:p>
                      <a:r>
                        <a:rPr lang="en-US" sz="1200">
                          <a:latin typeface="Calibri" panose="020F0502020204030204" pitchFamily="34" charset="0"/>
                        </a:rPr>
                        <a:t>16h</a:t>
                      </a:r>
                      <a:endParaRPr lang="az-Cyrl-AZ" sz="1200">
                        <a:latin typeface="Calibri" panose="020F0502020204030204" pitchFamily="34" charset="0"/>
                      </a:endParaRPr>
                    </a:p>
                  </a:txBody>
                  <a:tcPr/>
                </a:tc>
                <a:tc>
                  <a:txBody>
                    <a:bodyPr/>
                    <a:lstStyle/>
                    <a:p>
                      <a:r>
                        <a:rPr lang="az-Cyrl-AZ" sz="1200">
                          <a:latin typeface="Calibri" panose="020F0502020204030204" pitchFamily="34" charset="0"/>
                        </a:rPr>
                        <a:t>16</a:t>
                      </a:r>
                    </a:p>
                  </a:txBody>
                  <a:tcPr/>
                </a:tc>
                <a:tc>
                  <a:txBody>
                    <a:bodyPr/>
                    <a:lstStyle/>
                    <a:p>
                      <a:r>
                        <a:rPr lang="en-US" sz="1200" dirty="0">
                          <a:latin typeface="Calibri" panose="020F0502020204030204" pitchFamily="34" charset="0"/>
                        </a:rPr>
                        <a:t>845.4 MiB</a:t>
                      </a:r>
                      <a:endParaRPr lang="az-Cyrl-AZ" sz="1200" dirty="0">
                        <a:latin typeface="Calibri" panose="020F0502020204030204" pitchFamily="34" charset="0"/>
                      </a:endParaRPr>
                    </a:p>
                  </a:txBody>
                  <a:tcPr/>
                </a:tc>
                <a:tc>
                  <a:txBody>
                    <a:bodyPr/>
                    <a:lstStyle/>
                    <a:p>
                      <a:r>
                        <a:rPr lang="en-US" sz="1200">
                          <a:latin typeface="Calibri" panose="020F0502020204030204" pitchFamily="34" charset="0"/>
                        </a:rPr>
                        <a:t>2.97 GiB</a:t>
                      </a:r>
                      <a:endParaRPr lang="az-Cyrl-AZ" sz="1200">
                        <a:latin typeface="Calibri" panose="020F0502020204030204" pitchFamily="34" charset="0"/>
                      </a:endParaRPr>
                    </a:p>
                  </a:txBody>
                  <a:tcPr/>
                </a:tc>
                <a:tc>
                  <a:txBody>
                    <a:bodyPr/>
                    <a:lstStyle/>
                    <a:p>
                      <a:r>
                        <a:rPr lang="en-US" sz="1200">
                          <a:latin typeface="Calibri" panose="020F0502020204030204" pitchFamily="34" charset="0"/>
                        </a:rPr>
                        <a:t>1.7 GiB</a:t>
                      </a:r>
                      <a:endParaRPr lang="az-Cyrl-AZ" sz="1200">
                        <a:latin typeface="Calibri" panose="020F0502020204030204" pitchFamily="34" charset="0"/>
                      </a:endParaRPr>
                    </a:p>
                  </a:txBody>
                  <a:tcPr/>
                </a:tc>
                <a:extLst>
                  <a:ext uri="{0D108BD9-81ED-4DB2-BD59-A6C34878D82A}">
                    <a16:rowId xmlns:a16="http://schemas.microsoft.com/office/drawing/2014/main" val="2464195952"/>
                  </a:ext>
                </a:extLst>
              </a:tr>
            </a:tbl>
          </a:graphicData>
        </a:graphic>
      </p:graphicFrame>
      <p:sp>
        <p:nvSpPr>
          <p:cNvPr id="6" name="TextBox 5">
            <a:extLst>
              <a:ext uri="{FF2B5EF4-FFF2-40B4-BE49-F238E27FC236}">
                <a16:creationId xmlns:a16="http://schemas.microsoft.com/office/drawing/2014/main" id="{79398968-0C9C-42AA-AC21-8A0A834E0571}"/>
              </a:ext>
            </a:extLst>
          </p:cNvPr>
          <p:cNvSpPr txBox="1"/>
          <p:nvPr/>
        </p:nvSpPr>
        <p:spPr>
          <a:xfrm>
            <a:off x="889000" y="4572000"/>
            <a:ext cx="10414000" cy="784830"/>
          </a:xfrm>
          <a:prstGeom prst="rect">
            <a:avLst/>
          </a:prstGeom>
          <a:noFill/>
        </p:spPr>
        <p:txBody>
          <a:bodyPr vert="horz" rtlCol="0">
            <a:spAutoFit/>
          </a:bodyPr>
          <a:lstStyle/>
          <a:p>
            <a:r>
              <a:rPr lang="en-US" sz="1500" dirty="0">
                <a:solidFill>
                  <a:srgbClr val="333333"/>
                </a:solidFill>
                <a:latin typeface="Calibri" panose="020F0502020204030204" pitchFamily="34" charset="0"/>
              </a:rPr>
              <a:t>The input files are stored as </a:t>
            </a:r>
            <a:r>
              <a:rPr lang="en-US" sz="1500" dirty="0" err="1">
                <a:solidFill>
                  <a:srgbClr val="333333"/>
                </a:solidFill>
                <a:latin typeface="Calibri" panose="020F0502020204030204" pitchFamily="34" charset="0"/>
              </a:rPr>
              <a:t>gzip</a:t>
            </a:r>
            <a:r>
              <a:rPr lang="en-US" sz="1500" dirty="0">
                <a:solidFill>
                  <a:srgbClr val="333333"/>
                </a:solidFill>
                <a:latin typeface="Calibri" panose="020F0502020204030204" pitchFamily="34" charset="0"/>
              </a:rPr>
              <a:t>-compressed Wikimedia hourly dumps. Hadoop stores the compressed files in HDFS, but during MapReduce execution it reads the decompressed text records. The HDFS physical usage is higher because the cluster uses replication factor 2.</a:t>
            </a:r>
            <a:endParaRPr lang="az-Cyrl-AZ" sz="1500" dirty="0">
              <a:solidFill>
                <a:srgbClr val="333333"/>
              </a:solidFill>
              <a:latin typeface="Calibri" panose="020F0502020204030204" pitchFamily="34" charset="0"/>
            </a:endParaRPr>
          </a:p>
        </p:txBody>
      </p:sp>
      <p:sp>
        <p:nvSpPr>
          <p:cNvPr id="7" name="TextBox 6">
            <a:extLst>
              <a:ext uri="{FF2B5EF4-FFF2-40B4-BE49-F238E27FC236}">
                <a16:creationId xmlns:a16="http://schemas.microsoft.com/office/drawing/2014/main" id="{C04A0ED2-1D64-4B86-9C5E-157877B1D833}"/>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Tree>
    <p:extLst>
      <p:ext uri="{BB962C8B-B14F-4D97-AF65-F5344CB8AC3E}">
        <p14:creationId xmlns:p14="http://schemas.microsoft.com/office/powerpoint/2010/main" val="5099022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E538F13-4F22-4B2F-97E1-D187E038B049}"/>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72FDCF7A-DB6B-44CD-B030-E209BDA9F1E2}"/>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System Architecture</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CEBF0BD3-4620-40A3-A403-D42B89CD85B6}"/>
              </a:ext>
            </a:extLst>
          </p:cNvPr>
          <p:cNvSpPr txBox="1"/>
          <p:nvPr/>
        </p:nvSpPr>
        <p:spPr>
          <a:xfrm>
            <a:off x="482600" y="838200"/>
            <a:ext cx="10668000" cy="338554"/>
          </a:xfrm>
          <a:prstGeom prst="rect">
            <a:avLst/>
          </a:prstGeom>
          <a:noFill/>
        </p:spPr>
        <p:txBody>
          <a:bodyPr vert="horz" rtlCol="0">
            <a:spAutoFit/>
          </a:bodyPr>
          <a:lstStyle/>
          <a:p>
            <a:r>
              <a:rPr lang="en-US" sz="1600" dirty="0">
                <a:solidFill>
                  <a:srgbClr val="525252"/>
                </a:solidFill>
                <a:latin typeface="Calibri" panose="020F0502020204030204" pitchFamily="34" charset="0"/>
              </a:rPr>
              <a:t>Single-student pseudo-distributed Hadoop environment</a:t>
            </a:r>
            <a:endParaRPr lang="az-Cyrl-AZ" sz="1600" dirty="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EA532589-3912-4A27-90A6-F946D2E9E7CB}"/>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Rectangle 5">
            <a:extLst>
              <a:ext uri="{FF2B5EF4-FFF2-40B4-BE49-F238E27FC236}">
                <a16:creationId xmlns:a16="http://schemas.microsoft.com/office/drawing/2014/main" id="{1C8FE879-0BAD-4F3E-839B-371B4CAA8722}"/>
              </a:ext>
            </a:extLst>
          </p:cNvPr>
          <p:cNvSpPr/>
          <p:nvPr/>
        </p:nvSpPr>
        <p:spPr>
          <a:xfrm>
            <a:off x="762000" y="1460500"/>
            <a:ext cx="2984500" cy="3175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7" name="TextBox 6">
            <a:extLst>
              <a:ext uri="{FF2B5EF4-FFF2-40B4-BE49-F238E27FC236}">
                <a16:creationId xmlns:a16="http://schemas.microsoft.com/office/drawing/2014/main" id="{E497E3B2-B9CA-435B-85D5-02D14942E011}"/>
              </a:ext>
            </a:extLst>
          </p:cNvPr>
          <p:cNvSpPr txBox="1"/>
          <p:nvPr/>
        </p:nvSpPr>
        <p:spPr>
          <a:xfrm>
            <a:off x="965200" y="1638300"/>
            <a:ext cx="25781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Storage Layer</a:t>
            </a:r>
            <a:endParaRPr lang="az-Cyrl-AZ" sz="1600" b="1">
              <a:solidFill>
                <a:srgbClr val="4EED0B"/>
              </a:solidFill>
              <a:latin typeface="Calibri" panose="020F0502020204030204" pitchFamily="34" charset="0"/>
            </a:endParaRPr>
          </a:p>
        </p:txBody>
      </p:sp>
      <p:sp>
        <p:nvSpPr>
          <p:cNvPr id="8" name="TextBox 7">
            <a:extLst>
              <a:ext uri="{FF2B5EF4-FFF2-40B4-BE49-F238E27FC236}">
                <a16:creationId xmlns:a16="http://schemas.microsoft.com/office/drawing/2014/main" id="{2E32D24C-91E0-4ABD-8738-2E8BDB1A9C9D}"/>
              </a:ext>
            </a:extLst>
          </p:cNvPr>
          <p:cNvSpPr txBox="1"/>
          <p:nvPr/>
        </p:nvSpPr>
        <p:spPr>
          <a:xfrm>
            <a:off x="965200" y="2019300"/>
            <a:ext cx="2578100" cy="892552"/>
          </a:xfrm>
          <a:prstGeom prst="rect">
            <a:avLst/>
          </a:prstGeom>
          <a:noFill/>
        </p:spPr>
        <p:txBody>
          <a:bodyPr vert="horz" rtlCol="0">
            <a:spAutoFit/>
          </a:bodyPr>
          <a:lstStyle/>
          <a:p>
            <a:r>
              <a:rPr lang="en-US" sz="1300" dirty="0">
                <a:solidFill>
                  <a:srgbClr val="333333"/>
                </a:solidFill>
                <a:latin typeface="Calibri" panose="020F0502020204030204" pitchFamily="34" charset="0"/>
              </a:rPr>
              <a:t>Input files are stored in HDFS under /user/hadoop/</a:t>
            </a:r>
            <a:r>
              <a:rPr lang="en-US" sz="1300" dirty="0" err="1">
                <a:solidFill>
                  <a:srgbClr val="333333"/>
                </a:solidFill>
                <a:latin typeface="Calibri" panose="020F0502020204030204" pitchFamily="34" charset="0"/>
              </a:rPr>
              <a:t>single_project</a:t>
            </a:r>
            <a:r>
              <a:rPr lang="en-US" sz="1300" dirty="0">
                <a:solidFill>
                  <a:srgbClr val="333333"/>
                </a:solidFill>
                <a:latin typeface="Calibri" panose="020F0502020204030204" pitchFamily="34" charset="0"/>
              </a:rPr>
              <a:t>/input. Intermediate and final outputs are also written to HDFS.</a:t>
            </a:r>
            <a:endParaRPr lang="az-Cyrl-AZ" sz="1300" dirty="0">
              <a:solidFill>
                <a:srgbClr val="333333"/>
              </a:solidFill>
              <a:latin typeface="Calibri" panose="020F0502020204030204" pitchFamily="34" charset="0"/>
            </a:endParaRPr>
          </a:p>
        </p:txBody>
      </p:sp>
      <p:sp>
        <p:nvSpPr>
          <p:cNvPr id="9" name="Rectangle 8">
            <a:extLst>
              <a:ext uri="{FF2B5EF4-FFF2-40B4-BE49-F238E27FC236}">
                <a16:creationId xmlns:a16="http://schemas.microsoft.com/office/drawing/2014/main" id="{F2697ED3-B1F1-4E9F-814E-7E2AA9BF7B9A}"/>
              </a:ext>
            </a:extLst>
          </p:cNvPr>
          <p:cNvSpPr/>
          <p:nvPr/>
        </p:nvSpPr>
        <p:spPr>
          <a:xfrm>
            <a:off x="4635500" y="1460500"/>
            <a:ext cx="2984500" cy="3175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0" name="TextBox 9">
            <a:extLst>
              <a:ext uri="{FF2B5EF4-FFF2-40B4-BE49-F238E27FC236}">
                <a16:creationId xmlns:a16="http://schemas.microsoft.com/office/drawing/2014/main" id="{FCCF6B51-84E9-4332-8B67-F4599042EFFC}"/>
              </a:ext>
            </a:extLst>
          </p:cNvPr>
          <p:cNvSpPr txBox="1"/>
          <p:nvPr/>
        </p:nvSpPr>
        <p:spPr>
          <a:xfrm>
            <a:off x="4838700" y="1638300"/>
            <a:ext cx="25781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Processing Layer</a:t>
            </a:r>
            <a:endParaRPr lang="az-Cyrl-AZ" sz="1600" b="1">
              <a:solidFill>
                <a:srgbClr val="4EED0B"/>
              </a:solidFill>
              <a:latin typeface="Calibri" panose="020F0502020204030204" pitchFamily="34" charset="0"/>
            </a:endParaRPr>
          </a:p>
        </p:txBody>
      </p:sp>
      <p:sp>
        <p:nvSpPr>
          <p:cNvPr id="11" name="TextBox 10">
            <a:extLst>
              <a:ext uri="{FF2B5EF4-FFF2-40B4-BE49-F238E27FC236}">
                <a16:creationId xmlns:a16="http://schemas.microsoft.com/office/drawing/2014/main" id="{DA32CB71-F311-47CF-B860-48CA1973F891}"/>
              </a:ext>
            </a:extLst>
          </p:cNvPr>
          <p:cNvSpPr txBox="1"/>
          <p:nvPr/>
        </p:nvSpPr>
        <p:spPr>
          <a:xfrm>
            <a:off x="4838700" y="2019300"/>
            <a:ext cx="2578100" cy="692497"/>
          </a:xfrm>
          <a:prstGeom prst="rect">
            <a:avLst/>
          </a:prstGeom>
          <a:noFill/>
        </p:spPr>
        <p:txBody>
          <a:bodyPr vert="horz" rtlCol="0">
            <a:spAutoFit/>
          </a:bodyPr>
          <a:lstStyle/>
          <a:p>
            <a:r>
              <a:rPr lang="en-US" sz="1300" dirty="0">
                <a:solidFill>
                  <a:srgbClr val="333333"/>
                </a:solidFill>
                <a:latin typeface="Calibri" panose="020F0502020204030204" pitchFamily="34" charset="0"/>
              </a:rPr>
              <a:t>YARN runs the Hadoop MapReduce jobs. The Java application is executed as a packaged JAR.</a:t>
            </a:r>
            <a:endParaRPr lang="az-Cyrl-AZ" sz="1300" dirty="0">
              <a:solidFill>
                <a:srgbClr val="333333"/>
              </a:solidFill>
              <a:latin typeface="Calibri" panose="020F0502020204030204" pitchFamily="34" charset="0"/>
            </a:endParaRPr>
          </a:p>
        </p:txBody>
      </p:sp>
      <p:sp>
        <p:nvSpPr>
          <p:cNvPr id="12" name="Rectangle 11">
            <a:extLst>
              <a:ext uri="{FF2B5EF4-FFF2-40B4-BE49-F238E27FC236}">
                <a16:creationId xmlns:a16="http://schemas.microsoft.com/office/drawing/2014/main" id="{B0ECEC08-F88E-4A07-BCF2-31FD0D3731AE}"/>
              </a:ext>
            </a:extLst>
          </p:cNvPr>
          <p:cNvSpPr/>
          <p:nvPr/>
        </p:nvSpPr>
        <p:spPr>
          <a:xfrm>
            <a:off x="8509000" y="1460500"/>
            <a:ext cx="2984500" cy="31750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3" name="TextBox 12">
            <a:extLst>
              <a:ext uri="{FF2B5EF4-FFF2-40B4-BE49-F238E27FC236}">
                <a16:creationId xmlns:a16="http://schemas.microsoft.com/office/drawing/2014/main" id="{DC6E2BD9-5C74-4EB9-84A1-AAD45F65782D}"/>
              </a:ext>
            </a:extLst>
          </p:cNvPr>
          <p:cNvSpPr txBox="1"/>
          <p:nvPr/>
        </p:nvSpPr>
        <p:spPr>
          <a:xfrm>
            <a:off x="8712200" y="1638300"/>
            <a:ext cx="25781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Baseline Layer</a:t>
            </a:r>
            <a:endParaRPr lang="az-Cyrl-AZ" sz="1600" b="1">
              <a:solidFill>
                <a:srgbClr val="4EED0B"/>
              </a:solidFill>
              <a:latin typeface="Calibri" panose="020F0502020204030204" pitchFamily="34" charset="0"/>
            </a:endParaRPr>
          </a:p>
        </p:txBody>
      </p:sp>
      <p:sp>
        <p:nvSpPr>
          <p:cNvPr id="14" name="TextBox 13">
            <a:extLst>
              <a:ext uri="{FF2B5EF4-FFF2-40B4-BE49-F238E27FC236}">
                <a16:creationId xmlns:a16="http://schemas.microsoft.com/office/drawing/2014/main" id="{243D81EB-B47A-49E8-ADF5-A49BADF19F86}"/>
              </a:ext>
            </a:extLst>
          </p:cNvPr>
          <p:cNvSpPr txBox="1"/>
          <p:nvPr/>
        </p:nvSpPr>
        <p:spPr>
          <a:xfrm>
            <a:off x="8712200" y="2019300"/>
            <a:ext cx="2578100" cy="692497"/>
          </a:xfrm>
          <a:prstGeom prst="rect">
            <a:avLst/>
          </a:prstGeom>
          <a:noFill/>
        </p:spPr>
        <p:txBody>
          <a:bodyPr vert="horz" rtlCol="0">
            <a:spAutoFit/>
          </a:bodyPr>
          <a:lstStyle/>
          <a:p>
            <a:r>
              <a:rPr lang="en-US" sz="1300">
                <a:solidFill>
                  <a:srgbClr val="333333"/>
                </a:solidFill>
                <a:latin typeface="Calibri" panose="020F0502020204030204" pitchFamily="34" charset="0"/>
              </a:rPr>
              <a:t>The Python sequential script processes the same local data without parallel execution.</a:t>
            </a:r>
            <a:endParaRPr lang="az-Cyrl-AZ" sz="1300">
              <a:solidFill>
                <a:srgbClr val="333333"/>
              </a:solidFill>
              <a:latin typeface="Calibri" panose="020F0502020204030204" pitchFamily="34" charset="0"/>
            </a:endParaRPr>
          </a:p>
        </p:txBody>
      </p:sp>
      <p:sp>
        <p:nvSpPr>
          <p:cNvPr id="15" name="TextBox 14">
            <a:extLst>
              <a:ext uri="{FF2B5EF4-FFF2-40B4-BE49-F238E27FC236}">
                <a16:creationId xmlns:a16="http://schemas.microsoft.com/office/drawing/2014/main" id="{D49DBE43-783A-4290-8282-6D18B0AF8490}"/>
              </a:ext>
            </a:extLst>
          </p:cNvPr>
          <p:cNvSpPr txBox="1"/>
          <p:nvPr/>
        </p:nvSpPr>
        <p:spPr>
          <a:xfrm>
            <a:off x="889000" y="5080000"/>
            <a:ext cx="10414000" cy="338554"/>
          </a:xfrm>
          <a:prstGeom prst="rect">
            <a:avLst/>
          </a:prstGeom>
          <a:noFill/>
        </p:spPr>
        <p:txBody>
          <a:bodyPr vert="horz" rtlCol="0">
            <a:spAutoFit/>
          </a:bodyPr>
          <a:lstStyle/>
          <a:p>
            <a:r>
              <a:rPr lang="en-US" sz="1600">
                <a:solidFill>
                  <a:srgbClr val="333333"/>
                </a:solidFill>
                <a:latin typeface="Calibri" panose="020F0502020204030204" pitchFamily="34" charset="0"/>
              </a:rPr>
              <a:t>This setup keeps the comparison controlled: same dataset, same analytics logic, but different execution models.</a:t>
            </a:r>
            <a:endParaRPr lang="az-Cyrl-AZ" sz="1600">
              <a:solidFill>
                <a:srgbClr val="333333"/>
              </a:solidFill>
              <a:latin typeface="Calibri" panose="020F0502020204030204" pitchFamily="34" charset="0"/>
            </a:endParaRPr>
          </a:p>
        </p:txBody>
      </p:sp>
    </p:spTree>
    <p:extLst>
      <p:ext uri="{BB962C8B-B14F-4D97-AF65-F5344CB8AC3E}">
        <p14:creationId xmlns:p14="http://schemas.microsoft.com/office/powerpoint/2010/main" val="42274955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C71D7E-94FC-4EEE-88E6-C7803F640900}"/>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3B1116F8-356C-447A-8D2C-32BEAAFA4993}"/>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Analytics Workflow</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4F41A457-BBFC-4888-9A98-5DFC36D037DD}"/>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Two non-iterative MapReduce jobs in cascade</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F84CBF6C-D280-4111-A852-F89ADFD4352F}"/>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TextBox 5">
            <a:extLst>
              <a:ext uri="{FF2B5EF4-FFF2-40B4-BE49-F238E27FC236}">
                <a16:creationId xmlns:a16="http://schemas.microsoft.com/office/drawing/2014/main" id="{35B3FA8B-FD6D-479D-B95C-DA1BB3638153}"/>
              </a:ext>
            </a:extLst>
          </p:cNvPr>
          <p:cNvSpPr txBox="1"/>
          <p:nvPr/>
        </p:nvSpPr>
        <p:spPr>
          <a:xfrm>
            <a:off x="736600" y="1587500"/>
            <a:ext cx="10541000" cy="2339102"/>
          </a:xfrm>
          <a:prstGeom prst="rect">
            <a:avLst/>
          </a:prstGeom>
          <a:noFill/>
        </p:spPr>
        <p:txBody>
          <a:bodyPr vert="horz" rtlCol="0">
            <a:spAutoFit/>
          </a:bodyPr>
          <a:lstStyle/>
          <a:p>
            <a:pPr marL="342900" indent="-342900">
              <a:spcAft>
                <a:spcPts val="800"/>
              </a:spcAft>
              <a:buFont typeface="+mj-lt"/>
              <a:buChar char="•"/>
            </a:pPr>
            <a:r>
              <a:rPr lang="en-US">
                <a:solidFill>
                  <a:srgbClr val="222222"/>
                </a:solidFill>
                <a:latin typeface="Calibri" panose="020F0502020204030204" pitchFamily="34" charset="0"/>
              </a:rPr>
              <a:t>Job 1 performs ETL: parses pageview lines, filters invalid records, normalizes project/page data, and emits structured records.</a:t>
            </a:r>
          </a:p>
          <a:p>
            <a:pPr marL="342900" indent="-342900">
              <a:spcAft>
                <a:spcPts val="800"/>
              </a:spcAft>
              <a:buFont typeface="+mj-lt"/>
              <a:buChar char="•"/>
            </a:pPr>
            <a:r>
              <a:rPr lang="en-US">
                <a:solidFill>
                  <a:srgbClr val="222222"/>
                </a:solidFill>
                <a:latin typeface="Calibri" panose="020F0502020204030204" pitchFamily="34" charset="0"/>
              </a:rPr>
              <a:t>Job 2 performs analytics: aggregates page views, ranks the most visited projects and pages, and writes compact result files.</a:t>
            </a:r>
          </a:p>
          <a:p>
            <a:pPr marL="342900" indent="-342900">
              <a:spcAft>
                <a:spcPts val="800"/>
              </a:spcAft>
              <a:buFont typeface="+mj-lt"/>
              <a:buChar char="•"/>
            </a:pPr>
            <a:r>
              <a:rPr lang="en-US">
                <a:solidFill>
                  <a:srgbClr val="222222"/>
                </a:solidFill>
                <a:latin typeface="Calibri" panose="020F0502020204030204" pitchFamily="34" charset="0"/>
              </a:rPr>
              <a:t>The output keeps the top 10 pages and top 10 projects to make the results easy to inspect and compare.</a:t>
            </a:r>
          </a:p>
          <a:p>
            <a:pPr marL="342900" indent="-342900">
              <a:spcAft>
                <a:spcPts val="800"/>
              </a:spcAft>
              <a:buFont typeface="+mj-lt"/>
              <a:buChar char="•"/>
            </a:pPr>
            <a:r>
              <a:rPr lang="en-US">
                <a:solidFill>
                  <a:srgbClr val="222222"/>
                </a:solidFill>
                <a:latin typeface="Calibri" panose="020F0502020204030204" pitchFamily="34" charset="0"/>
              </a:rPr>
              <a:t>The sequential baseline implements the same analytics in Python for correctness and performance comparison.</a:t>
            </a:r>
            <a:endParaRPr lang="az-Cyrl-AZ">
              <a:solidFill>
                <a:srgbClr val="222222"/>
              </a:solidFill>
              <a:latin typeface="Calibri" panose="020F0502020204030204" pitchFamily="34" charset="0"/>
            </a:endParaRPr>
          </a:p>
        </p:txBody>
      </p:sp>
    </p:spTree>
    <p:extLst>
      <p:ext uri="{BB962C8B-B14F-4D97-AF65-F5344CB8AC3E}">
        <p14:creationId xmlns:p14="http://schemas.microsoft.com/office/powerpoint/2010/main" val="11643070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85236A-2578-4758-B492-4B3A6482F10C}"/>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B07A36AF-61EC-4A5C-8833-224478E0F0D4}"/>
              </a:ext>
            </a:extLst>
          </p:cNvPr>
          <p:cNvSpPr txBox="1"/>
          <p:nvPr/>
        </p:nvSpPr>
        <p:spPr>
          <a:xfrm>
            <a:off x="482600" y="177800"/>
            <a:ext cx="9652000" cy="446276"/>
          </a:xfrm>
          <a:prstGeom prst="rect">
            <a:avLst/>
          </a:prstGeom>
          <a:noFill/>
        </p:spPr>
        <p:txBody>
          <a:bodyPr vert="horz" rtlCol="0">
            <a:spAutoFit/>
          </a:bodyPr>
          <a:lstStyle/>
          <a:p>
            <a:r>
              <a:rPr lang="en-US" sz="2300" b="1" dirty="0">
                <a:solidFill>
                  <a:srgbClr val="FFFFFF"/>
                </a:solidFill>
                <a:latin typeface="Georgia" panose="02040502050405020303" pitchFamily="18" charset="0"/>
              </a:rPr>
              <a:t>Hadoop Implementation</a:t>
            </a:r>
            <a:endParaRPr lang="az-Cyrl-AZ" sz="2300" b="1" dirty="0">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F693278D-7089-4947-B6B6-58E1B6B2C32B}"/>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Main design choices</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A88D9D2A-8709-41B3-9841-C1A404D00E2B}"/>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TextBox 5">
            <a:extLst>
              <a:ext uri="{FF2B5EF4-FFF2-40B4-BE49-F238E27FC236}">
                <a16:creationId xmlns:a16="http://schemas.microsoft.com/office/drawing/2014/main" id="{E66B25C3-F02B-4F2A-834B-5F5B30783F4D}"/>
              </a:ext>
            </a:extLst>
          </p:cNvPr>
          <p:cNvSpPr txBox="1"/>
          <p:nvPr/>
        </p:nvSpPr>
        <p:spPr>
          <a:xfrm>
            <a:off x="736600" y="1498600"/>
            <a:ext cx="10541000" cy="1887696"/>
          </a:xfrm>
          <a:prstGeom prst="rect">
            <a:avLst/>
          </a:prstGeom>
          <a:noFill/>
        </p:spPr>
        <p:txBody>
          <a:bodyPr vert="horz" rtlCol="0">
            <a:spAutoFit/>
          </a:bodyPr>
          <a:lstStyle/>
          <a:p>
            <a:pPr marL="342900" indent="-342900">
              <a:spcAft>
                <a:spcPts val="800"/>
              </a:spcAft>
              <a:buFont typeface="+mj-lt"/>
              <a:buChar char="•"/>
            </a:pPr>
            <a:r>
              <a:rPr lang="en-US">
                <a:solidFill>
                  <a:srgbClr val="222222"/>
                </a:solidFill>
                <a:latin typeface="Calibri" panose="020F0502020204030204" pitchFamily="34" charset="0"/>
              </a:rPr>
              <a:t>Implemented in Java inside WikimediaPageviewAnalytics.java.</a:t>
            </a:r>
          </a:p>
          <a:p>
            <a:pPr marL="342900" indent="-342900">
              <a:spcAft>
                <a:spcPts val="800"/>
              </a:spcAft>
              <a:buFont typeface="+mj-lt"/>
              <a:buChar char="•"/>
            </a:pPr>
            <a:r>
              <a:rPr lang="en-US">
                <a:solidFill>
                  <a:srgbClr val="222222"/>
                </a:solidFill>
                <a:latin typeface="Calibri" panose="020F0502020204030204" pitchFamily="34" charset="0"/>
              </a:rPr>
              <a:t>Uses a custom Writable object to pass structured pageview records between stages.</a:t>
            </a:r>
          </a:p>
          <a:p>
            <a:pPr marL="342900" indent="-342900">
              <a:spcAft>
                <a:spcPts val="800"/>
              </a:spcAft>
              <a:buFont typeface="+mj-lt"/>
              <a:buChar char="•"/>
            </a:pPr>
            <a:r>
              <a:rPr lang="en-US">
                <a:solidFill>
                  <a:srgbClr val="222222"/>
                </a:solidFill>
                <a:latin typeface="Calibri" panose="020F0502020204030204" pitchFamily="34" charset="0"/>
              </a:rPr>
              <a:t>Uses in-mapper combining to reduce repeated local emissions before shuffle.</a:t>
            </a:r>
          </a:p>
          <a:p>
            <a:pPr marL="342900" indent="-342900">
              <a:spcAft>
                <a:spcPts val="800"/>
              </a:spcAft>
              <a:buFont typeface="+mj-lt"/>
              <a:buChar char="•"/>
            </a:pPr>
            <a:r>
              <a:rPr lang="en-US">
                <a:solidFill>
                  <a:srgbClr val="222222"/>
                </a:solidFill>
                <a:latin typeface="Calibri" panose="020F0502020204030204" pitchFamily="34" charset="0"/>
              </a:rPr>
              <a:t>Uses setup() and cleanup() methods to initialize local state and emit final aggregated values.</a:t>
            </a:r>
          </a:p>
          <a:p>
            <a:pPr marL="342900" indent="-342900">
              <a:spcAft>
                <a:spcPts val="800"/>
              </a:spcAft>
              <a:buFont typeface="+mj-lt"/>
              <a:buChar char="•"/>
            </a:pPr>
            <a:r>
              <a:rPr lang="en-US">
                <a:solidFill>
                  <a:srgbClr val="222222"/>
                </a:solidFill>
                <a:latin typeface="Calibri" panose="020F0502020204030204" pitchFamily="34" charset="0"/>
              </a:rPr>
              <a:t>Uses a custom partitioner so related keys are distributed consistently across reducers.</a:t>
            </a:r>
            <a:endParaRPr lang="az-Cyrl-AZ">
              <a:solidFill>
                <a:srgbClr val="222222"/>
              </a:solidFill>
              <a:latin typeface="Calibri" panose="020F0502020204030204" pitchFamily="34" charset="0"/>
            </a:endParaRPr>
          </a:p>
        </p:txBody>
      </p:sp>
    </p:spTree>
    <p:extLst>
      <p:ext uri="{BB962C8B-B14F-4D97-AF65-F5344CB8AC3E}">
        <p14:creationId xmlns:p14="http://schemas.microsoft.com/office/powerpoint/2010/main" val="31390041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C94E2BE-77A9-410D-824B-4F785659DA1D}"/>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B031A51D-E180-4B27-A180-E16C2E96B77F}"/>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Experimental Configuration</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2CA656F8-89AB-4073-A21C-7E5CA2B9B224}"/>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Controlled parameters used in the benchmarks</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4FE58D1A-D6F4-4B55-898E-3752149124CE}"/>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Rectangle 5">
            <a:extLst>
              <a:ext uri="{FF2B5EF4-FFF2-40B4-BE49-F238E27FC236}">
                <a16:creationId xmlns:a16="http://schemas.microsoft.com/office/drawing/2014/main" id="{80B211F3-FA7C-416E-B4AF-B465C127825D}"/>
              </a:ext>
            </a:extLst>
          </p:cNvPr>
          <p:cNvSpPr/>
          <p:nvPr/>
        </p:nvSpPr>
        <p:spPr>
          <a:xfrm>
            <a:off x="698500" y="1422400"/>
            <a:ext cx="3302000" cy="31115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7" name="TextBox 6">
            <a:extLst>
              <a:ext uri="{FF2B5EF4-FFF2-40B4-BE49-F238E27FC236}">
                <a16:creationId xmlns:a16="http://schemas.microsoft.com/office/drawing/2014/main" id="{18EF7A2D-C88B-49DB-8AEE-6EA8A6AABE33}"/>
              </a:ext>
            </a:extLst>
          </p:cNvPr>
          <p:cNvSpPr txBox="1"/>
          <p:nvPr/>
        </p:nvSpPr>
        <p:spPr>
          <a:xfrm>
            <a:off x="901700" y="1600200"/>
            <a:ext cx="28956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Dataset Size Benchmark</a:t>
            </a:r>
            <a:endParaRPr lang="az-Cyrl-AZ" sz="1600" b="1">
              <a:solidFill>
                <a:srgbClr val="4EED0B"/>
              </a:solidFill>
              <a:latin typeface="Calibri" panose="020F0502020204030204" pitchFamily="34" charset="0"/>
            </a:endParaRPr>
          </a:p>
        </p:txBody>
      </p:sp>
      <p:sp>
        <p:nvSpPr>
          <p:cNvPr id="8" name="TextBox 7">
            <a:extLst>
              <a:ext uri="{FF2B5EF4-FFF2-40B4-BE49-F238E27FC236}">
                <a16:creationId xmlns:a16="http://schemas.microsoft.com/office/drawing/2014/main" id="{2F7AEA37-80C3-41C9-AC85-C02726162298}"/>
              </a:ext>
            </a:extLst>
          </p:cNvPr>
          <p:cNvSpPr txBox="1"/>
          <p:nvPr/>
        </p:nvSpPr>
        <p:spPr>
          <a:xfrm>
            <a:off x="901700" y="1981200"/>
            <a:ext cx="2895600" cy="692497"/>
          </a:xfrm>
          <a:prstGeom prst="rect">
            <a:avLst/>
          </a:prstGeom>
          <a:noFill/>
        </p:spPr>
        <p:txBody>
          <a:bodyPr vert="horz" rtlCol="0">
            <a:spAutoFit/>
          </a:bodyPr>
          <a:lstStyle/>
          <a:p>
            <a:r>
              <a:rPr lang="pt-BR" sz="1300">
                <a:solidFill>
                  <a:srgbClr val="333333"/>
                </a:solidFill>
                <a:latin typeface="Calibri" panose="020F0502020204030204" pitchFamily="34" charset="0"/>
              </a:rPr>
              <a:t>1h, 4h, 8h
Hadoop: 4 reducers
Sequential: same data</a:t>
            </a:r>
            <a:endParaRPr lang="az-Cyrl-AZ" sz="1300">
              <a:solidFill>
                <a:srgbClr val="333333"/>
              </a:solidFill>
              <a:latin typeface="Calibri" panose="020F0502020204030204" pitchFamily="34" charset="0"/>
            </a:endParaRPr>
          </a:p>
        </p:txBody>
      </p:sp>
      <p:sp>
        <p:nvSpPr>
          <p:cNvPr id="9" name="Rectangle 8">
            <a:extLst>
              <a:ext uri="{FF2B5EF4-FFF2-40B4-BE49-F238E27FC236}">
                <a16:creationId xmlns:a16="http://schemas.microsoft.com/office/drawing/2014/main" id="{36A9FE4F-7FB2-4D10-AE97-481879C84126}"/>
              </a:ext>
            </a:extLst>
          </p:cNvPr>
          <p:cNvSpPr/>
          <p:nvPr/>
        </p:nvSpPr>
        <p:spPr>
          <a:xfrm>
            <a:off x="4445000" y="1422400"/>
            <a:ext cx="3302000" cy="31115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0" name="TextBox 9">
            <a:extLst>
              <a:ext uri="{FF2B5EF4-FFF2-40B4-BE49-F238E27FC236}">
                <a16:creationId xmlns:a16="http://schemas.microsoft.com/office/drawing/2014/main" id="{22D2DDD7-D7D6-4CDC-BEE2-3AD989DC42D1}"/>
              </a:ext>
            </a:extLst>
          </p:cNvPr>
          <p:cNvSpPr txBox="1"/>
          <p:nvPr/>
        </p:nvSpPr>
        <p:spPr>
          <a:xfrm>
            <a:off x="4648200" y="1600200"/>
            <a:ext cx="28956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Reducer Benchmark</a:t>
            </a:r>
            <a:endParaRPr lang="az-Cyrl-AZ" sz="1600" b="1">
              <a:solidFill>
                <a:srgbClr val="4EED0B"/>
              </a:solidFill>
              <a:latin typeface="Calibri" panose="020F0502020204030204" pitchFamily="34" charset="0"/>
            </a:endParaRPr>
          </a:p>
        </p:txBody>
      </p:sp>
      <p:sp>
        <p:nvSpPr>
          <p:cNvPr id="11" name="TextBox 10">
            <a:extLst>
              <a:ext uri="{FF2B5EF4-FFF2-40B4-BE49-F238E27FC236}">
                <a16:creationId xmlns:a16="http://schemas.microsoft.com/office/drawing/2014/main" id="{ED8B99B2-A3B5-42AE-AC3F-F023212A176C}"/>
              </a:ext>
            </a:extLst>
          </p:cNvPr>
          <p:cNvSpPr txBox="1"/>
          <p:nvPr/>
        </p:nvSpPr>
        <p:spPr>
          <a:xfrm>
            <a:off x="4648200" y="1981200"/>
            <a:ext cx="2895600" cy="692497"/>
          </a:xfrm>
          <a:prstGeom prst="rect">
            <a:avLst/>
          </a:prstGeom>
          <a:noFill/>
        </p:spPr>
        <p:txBody>
          <a:bodyPr vert="horz" rtlCol="0">
            <a:spAutoFit/>
          </a:bodyPr>
          <a:lstStyle/>
          <a:p>
            <a:r>
              <a:rPr lang="en-US" sz="1300" dirty="0">
                <a:solidFill>
                  <a:srgbClr val="333333"/>
                </a:solidFill>
                <a:latin typeface="Calibri" panose="020F0502020204030204" pitchFamily="34" charset="0"/>
              </a:rPr>
              <a:t>4h dataset
Reducers: 1, 2, 4, 8
Hadoop only</a:t>
            </a:r>
            <a:endParaRPr lang="az-Cyrl-AZ" sz="1300" dirty="0">
              <a:solidFill>
                <a:srgbClr val="333333"/>
              </a:solidFill>
              <a:latin typeface="Calibri" panose="020F0502020204030204" pitchFamily="34" charset="0"/>
            </a:endParaRPr>
          </a:p>
        </p:txBody>
      </p:sp>
      <p:sp>
        <p:nvSpPr>
          <p:cNvPr id="12" name="Rectangle 11">
            <a:extLst>
              <a:ext uri="{FF2B5EF4-FFF2-40B4-BE49-F238E27FC236}">
                <a16:creationId xmlns:a16="http://schemas.microsoft.com/office/drawing/2014/main" id="{A835687E-BD0C-4B38-B412-CE11EAE7462B}"/>
              </a:ext>
            </a:extLst>
          </p:cNvPr>
          <p:cNvSpPr/>
          <p:nvPr/>
        </p:nvSpPr>
        <p:spPr>
          <a:xfrm>
            <a:off x="8191500" y="1422400"/>
            <a:ext cx="3302000" cy="31115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3" name="TextBox 12">
            <a:extLst>
              <a:ext uri="{FF2B5EF4-FFF2-40B4-BE49-F238E27FC236}">
                <a16:creationId xmlns:a16="http://schemas.microsoft.com/office/drawing/2014/main" id="{84010540-B7F7-444B-944B-48BBF201BC41}"/>
              </a:ext>
            </a:extLst>
          </p:cNvPr>
          <p:cNvSpPr txBox="1"/>
          <p:nvPr/>
        </p:nvSpPr>
        <p:spPr>
          <a:xfrm>
            <a:off x="8394700" y="1600200"/>
            <a:ext cx="2895600" cy="338554"/>
          </a:xfrm>
          <a:prstGeom prst="rect">
            <a:avLst/>
          </a:prstGeom>
          <a:noFill/>
        </p:spPr>
        <p:txBody>
          <a:bodyPr vert="horz" rtlCol="0">
            <a:spAutoFit/>
          </a:bodyPr>
          <a:lstStyle/>
          <a:p>
            <a:r>
              <a:rPr lang="en-US" sz="1600" b="1">
                <a:solidFill>
                  <a:srgbClr val="4EED0B"/>
                </a:solidFill>
                <a:latin typeface="Calibri" panose="020F0502020204030204" pitchFamily="34" charset="0"/>
              </a:rPr>
              <a:t>Memory Benchmark</a:t>
            </a:r>
            <a:endParaRPr lang="az-Cyrl-AZ" sz="1600" b="1">
              <a:solidFill>
                <a:srgbClr val="4EED0B"/>
              </a:solidFill>
              <a:latin typeface="Calibri" panose="020F0502020204030204" pitchFamily="34" charset="0"/>
            </a:endParaRPr>
          </a:p>
        </p:txBody>
      </p:sp>
      <p:sp>
        <p:nvSpPr>
          <p:cNvPr id="14" name="TextBox 13">
            <a:extLst>
              <a:ext uri="{FF2B5EF4-FFF2-40B4-BE49-F238E27FC236}">
                <a16:creationId xmlns:a16="http://schemas.microsoft.com/office/drawing/2014/main" id="{41602DD7-9ACD-4571-A224-0782DD38A987}"/>
              </a:ext>
            </a:extLst>
          </p:cNvPr>
          <p:cNvSpPr txBox="1"/>
          <p:nvPr/>
        </p:nvSpPr>
        <p:spPr>
          <a:xfrm>
            <a:off x="8394700" y="1981200"/>
            <a:ext cx="2895600" cy="692497"/>
          </a:xfrm>
          <a:prstGeom prst="rect">
            <a:avLst/>
          </a:prstGeom>
          <a:noFill/>
        </p:spPr>
        <p:txBody>
          <a:bodyPr vert="horz" rtlCol="0">
            <a:spAutoFit/>
          </a:bodyPr>
          <a:lstStyle/>
          <a:p>
            <a:r>
              <a:rPr lang="en-US" sz="1300" dirty="0">
                <a:solidFill>
                  <a:srgbClr val="333333"/>
                </a:solidFill>
                <a:latin typeface="Calibri" panose="020F0502020204030204" pitchFamily="34" charset="0"/>
              </a:rPr>
              <a:t>1h, 4h, 8h
Hadoop: average YARN allocated MB
Sequential: peak RSS MB</a:t>
            </a:r>
            <a:endParaRPr lang="az-Cyrl-AZ" sz="1300" dirty="0">
              <a:solidFill>
                <a:srgbClr val="333333"/>
              </a:solidFill>
              <a:latin typeface="Calibri" panose="020F0502020204030204" pitchFamily="34" charset="0"/>
            </a:endParaRPr>
          </a:p>
        </p:txBody>
      </p:sp>
      <p:sp>
        <p:nvSpPr>
          <p:cNvPr id="15" name="TextBox 14">
            <a:extLst>
              <a:ext uri="{FF2B5EF4-FFF2-40B4-BE49-F238E27FC236}">
                <a16:creationId xmlns:a16="http://schemas.microsoft.com/office/drawing/2014/main" id="{4D0B38ED-F9BC-4329-B895-4F2F5C8E5729}"/>
              </a:ext>
            </a:extLst>
          </p:cNvPr>
          <p:cNvSpPr txBox="1"/>
          <p:nvPr/>
        </p:nvSpPr>
        <p:spPr>
          <a:xfrm>
            <a:off x="914400" y="4953000"/>
            <a:ext cx="10414000" cy="338554"/>
          </a:xfrm>
          <a:prstGeom prst="rect">
            <a:avLst/>
          </a:prstGeom>
          <a:noFill/>
        </p:spPr>
        <p:txBody>
          <a:bodyPr vert="horz" rtlCol="0">
            <a:spAutoFit/>
          </a:bodyPr>
          <a:lstStyle/>
          <a:p>
            <a:r>
              <a:rPr lang="en-US" sz="1600">
                <a:solidFill>
                  <a:srgbClr val="333333"/>
                </a:solidFill>
                <a:latin typeface="Calibri" panose="020F0502020204030204" pitchFamily="34" charset="0"/>
              </a:rPr>
              <a:t>All benchmarks were designed as separate scripts so each experiment can be run and interpreted independently.</a:t>
            </a:r>
            <a:endParaRPr lang="az-Cyrl-AZ" sz="1600">
              <a:solidFill>
                <a:srgbClr val="333333"/>
              </a:solidFill>
              <a:latin typeface="Calibri" panose="020F0502020204030204" pitchFamily="34" charset="0"/>
            </a:endParaRPr>
          </a:p>
        </p:txBody>
      </p:sp>
    </p:spTree>
    <p:extLst>
      <p:ext uri="{BB962C8B-B14F-4D97-AF65-F5344CB8AC3E}">
        <p14:creationId xmlns:p14="http://schemas.microsoft.com/office/powerpoint/2010/main" val="14891954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B0A8493-E5A9-40DA-A72D-5CCC76773511}"/>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D4B23D93-455A-4A3C-B31C-C0A695EDF760}"/>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Execution Time by Dataset Size</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C98DB742-405B-46D4-BC86-84DEBE4759F8}"/>
              </a:ext>
            </a:extLst>
          </p:cNvPr>
          <p:cNvSpPr txBox="1"/>
          <p:nvPr/>
        </p:nvSpPr>
        <p:spPr>
          <a:xfrm>
            <a:off x="482600" y="838200"/>
            <a:ext cx="10668000" cy="338554"/>
          </a:xfrm>
          <a:prstGeom prst="rect">
            <a:avLst/>
          </a:prstGeom>
          <a:noFill/>
        </p:spPr>
        <p:txBody>
          <a:bodyPr vert="horz" rtlCol="0">
            <a:spAutoFit/>
          </a:bodyPr>
          <a:lstStyle/>
          <a:p>
            <a:r>
              <a:rPr lang="en-US" sz="1600" dirty="0">
                <a:solidFill>
                  <a:srgbClr val="525252"/>
                </a:solidFill>
                <a:latin typeface="Calibri" panose="020F0502020204030204" pitchFamily="34" charset="0"/>
              </a:rPr>
              <a:t>Hadoop with 4 reducers vs Python sequential baseline</a:t>
            </a:r>
            <a:endParaRPr lang="az-Cyrl-AZ" sz="1600" dirty="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C56A2312-5998-40E1-B49D-8A7276F1E977}"/>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pic>
        <p:nvPicPr>
          <p:cNvPr id="7" name="Picture 6">
            <a:extLst>
              <a:ext uri="{FF2B5EF4-FFF2-40B4-BE49-F238E27FC236}">
                <a16:creationId xmlns:a16="http://schemas.microsoft.com/office/drawing/2014/main" id="{1B105F7F-AE79-4709-B17C-92ED512D17E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270000" y="1092200"/>
            <a:ext cx="9652000" cy="4953000"/>
          </a:xfrm>
          <a:prstGeom prst="rect">
            <a:avLst/>
          </a:prstGeom>
        </p:spPr>
      </p:pic>
      <p:sp>
        <p:nvSpPr>
          <p:cNvPr id="8" name="TextBox 7">
            <a:extLst>
              <a:ext uri="{FF2B5EF4-FFF2-40B4-BE49-F238E27FC236}">
                <a16:creationId xmlns:a16="http://schemas.microsoft.com/office/drawing/2014/main" id="{EF212B7A-47B9-4B09-BC99-674FFF30C52E}"/>
              </a:ext>
            </a:extLst>
          </p:cNvPr>
          <p:cNvSpPr txBox="1"/>
          <p:nvPr/>
        </p:nvSpPr>
        <p:spPr>
          <a:xfrm>
            <a:off x="787400" y="5969000"/>
            <a:ext cx="10617200" cy="492443"/>
          </a:xfrm>
          <a:prstGeom prst="rect">
            <a:avLst/>
          </a:prstGeom>
          <a:noFill/>
        </p:spPr>
        <p:txBody>
          <a:bodyPr vert="horz" rtlCol="0">
            <a:spAutoFit/>
          </a:bodyPr>
          <a:lstStyle/>
          <a:p>
            <a:r>
              <a:rPr lang="en-US" sz="1300" dirty="0">
                <a:solidFill>
                  <a:srgbClr val="333333"/>
                </a:solidFill>
                <a:latin typeface="Calibri" panose="020F0502020204030204" pitchFamily="34" charset="0"/>
              </a:rPr>
              <a:t>Sequential processing is faster on 1h, 4h, and 8h because the single-VM setup makes Hadoop startup, shuffle, and disk I/O overhead dominant. The 16h stress test shows the opposite scalability risk: Hadoop completes, while the Python process is killed under memory pressure.</a:t>
            </a:r>
            <a:endParaRPr lang="az-Cyrl-AZ" sz="1300" dirty="0">
              <a:solidFill>
                <a:srgbClr val="333333"/>
              </a:solidFill>
              <a:latin typeface="Calibri" panose="020F0502020204030204" pitchFamily="34" charset="0"/>
            </a:endParaRPr>
          </a:p>
        </p:txBody>
      </p:sp>
    </p:spTree>
    <p:extLst>
      <p:ext uri="{BB962C8B-B14F-4D97-AF65-F5344CB8AC3E}">
        <p14:creationId xmlns:p14="http://schemas.microsoft.com/office/powerpoint/2010/main" val="22606120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160E2D7-C6A8-4ED4-A0B1-64FED90EDEA4}"/>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3B639C9F-9DA3-48E8-8D1F-2D250AE26A65}"/>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Execution Time by Reducers</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1F7EE90C-A3D0-4F55-852E-B2C40E972385}"/>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Effect of reducer count on the 4h dataset</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CD8B4404-6476-496E-83C6-7C3CB722D214}"/>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pic>
        <p:nvPicPr>
          <p:cNvPr id="7" name="Picture 6">
            <a:extLst>
              <a:ext uri="{FF2B5EF4-FFF2-40B4-BE49-F238E27FC236}">
                <a16:creationId xmlns:a16="http://schemas.microsoft.com/office/drawing/2014/main" id="{96A9BEDC-3C03-4E4F-9913-80D0724C053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524000" y="1168400"/>
            <a:ext cx="9144000" cy="4572009"/>
          </a:xfrm>
          <a:prstGeom prst="rect">
            <a:avLst/>
          </a:prstGeom>
        </p:spPr>
      </p:pic>
      <p:sp>
        <p:nvSpPr>
          <p:cNvPr id="8" name="TextBox 7">
            <a:extLst>
              <a:ext uri="{FF2B5EF4-FFF2-40B4-BE49-F238E27FC236}">
                <a16:creationId xmlns:a16="http://schemas.microsoft.com/office/drawing/2014/main" id="{1E318364-BD5F-4DAD-8977-A603CC1AFDE2}"/>
              </a:ext>
            </a:extLst>
          </p:cNvPr>
          <p:cNvSpPr txBox="1"/>
          <p:nvPr/>
        </p:nvSpPr>
        <p:spPr>
          <a:xfrm>
            <a:off x="914400" y="5969000"/>
            <a:ext cx="10414000" cy="523220"/>
          </a:xfrm>
          <a:prstGeom prst="rect">
            <a:avLst/>
          </a:prstGeom>
          <a:noFill/>
        </p:spPr>
        <p:txBody>
          <a:bodyPr vert="horz" rtlCol="0">
            <a:spAutoFit/>
          </a:bodyPr>
          <a:lstStyle/>
          <a:p>
            <a:r>
              <a:rPr lang="en-US" sz="1400">
                <a:solidFill>
                  <a:srgbClr val="333333"/>
                </a:solidFill>
                <a:latin typeface="Calibri" panose="020F0502020204030204" pitchFamily="34" charset="0"/>
              </a:rPr>
              <a:t>The one-reducer run is the fastest in this pseudo-distributed environment. Additional reducers introduce scheduling and shuffle overhead without enough physical parallelism to compensate.</a:t>
            </a:r>
            <a:endParaRPr lang="az-Cyrl-AZ" sz="1400">
              <a:solidFill>
                <a:srgbClr val="333333"/>
              </a:solidFill>
              <a:latin typeface="Calibri" panose="020F0502020204030204" pitchFamily="34" charset="0"/>
            </a:endParaRPr>
          </a:p>
        </p:txBody>
      </p:sp>
    </p:spTree>
    <p:extLst>
      <p:ext uri="{BB962C8B-B14F-4D97-AF65-F5344CB8AC3E}">
        <p14:creationId xmlns:p14="http://schemas.microsoft.com/office/powerpoint/2010/main" val="5184875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F1774C5-F335-4D64-926D-99A1951D0DF3}"/>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6C25AEB7-EE0A-4060-AEEC-86ACE863EDAD}"/>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Memory Usage by Dataset Size</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CBD5107A-1141-4F48-B722-93512BF34F2E}"/>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YARN allocation vs Python peak RSS</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24D450C4-9F76-4B58-8F3E-7D2CDEF6651B}"/>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pic>
        <p:nvPicPr>
          <p:cNvPr id="7" name="Picture 6">
            <a:extLst>
              <a:ext uri="{FF2B5EF4-FFF2-40B4-BE49-F238E27FC236}">
                <a16:creationId xmlns:a16="http://schemas.microsoft.com/office/drawing/2014/main" id="{83C2570D-29FB-44EB-B2CA-FC118C5EDDC6}"/>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270000" y="1092200"/>
            <a:ext cx="9652000" cy="4754889"/>
          </a:xfrm>
          <a:prstGeom prst="rect">
            <a:avLst/>
          </a:prstGeom>
        </p:spPr>
      </p:pic>
      <p:sp>
        <p:nvSpPr>
          <p:cNvPr id="8" name="TextBox 7">
            <a:extLst>
              <a:ext uri="{FF2B5EF4-FFF2-40B4-BE49-F238E27FC236}">
                <a16:creationId xmlns:a16="http://schemas.microsoft.com/office/drawing/2014/main" id="{9B58C7AA-37B8-4F9F-96CE-01D54B1B0256}"/>
              </a:ext>
            </a:extLst>
          </p:cNvPr>
          <p:cNvSpPr txBox="1"/>
          <p:nvPr/>
        </p:nvSpPr>
        <p:spPr>
          <a:xfrm>
            <a:off x="787400" y="5969000"/>
            <a:ext cx="10617200" cy="492443"/>
          </a:xfrm>
          <a:prstGeom prst="rect">
            <a:avLst/>
          </a:prstGeom>
          <a:noFill/>
        </p:spPr>
        <p:txBody>
          <a:bodyPr vert="horz" rtlCol="0">
            <a:spAutoFit/>
          </a:bodyPr>
          <a:lstStyle/>
          <a:p>
            <a:r>
              <a:rPr lang="en-US" sz="1300" dirty="0">
                <a:solidFill>
                  <a:srgbClr val="333333"/>
                </a:solidFill>
                <a:latin typeface="Calibri" panose="020F0502020204030204" pitchFamily="34" charset="0"/>
              </a:rPr>
              <a:t>The two memory metrics are not identical: Hadoop reports average allocated YARN memory, while the sequential baseline reports peak process memory. The trend still shows that the Python baseline grows strongly with dataset size.</a:t>
            </a:r>
            <a:endParaRPr lang="az-Cyrl-AZ" sz="1300" dirty="0">
              <a:solidFill>
                <a:srgbClr val="333333"/>
              </a:solidFill>
              <a:latin typeface="Calibri" panose="020F0502020204030204" pitchFamily="34" charset="0"/>
            </a:endParaRPr>
          </a:p>
        </p:txBody>
      </p:sp>
    </p:spTree>
    <p:extLst>
      <p:ext uri="{BB962C8B-B14F-4D97-AF65-F5344CB8AC3E}">
        <p14:creationId xmlns:p14="http://schemas.microsoft.com/office/powerpoint/2010/main" val="40184706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E65490E-2106-4F9F-9E38-B165B46734B1}"/>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E7E3F984-5BC7-4030-9E25-375D05519304}"/>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Main Findings</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17C346C0-11CA-4D06-9247-A5B471568C31}"/>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What the experiments show</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2FA2F1CB-FD0B-46B6-964B-8354A1AD4A72}"/>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TextBox 5">
            <a:extLst>
              <a:ext uri="{FF2B5EF4-FFF2-40B4-BE49-F238E27FC236}">
                <a16:creationId xmlns:a16="http://schemas.microsoft.com/office/drawing/2014/main" id="{FDE21436-59B7-49A6-B3E1-4A42AE349E92}"/>
              </a:ext>
            </a:extLst>
          </p:cNvPr>
          <p:cNvSpPr txBox="1"/>
          <p:nvPr/>
        </p:nvSpPr>
        <p:spPr>
          <a:xfrm>
            <a:off x="736600" y="1600200"/>
            <a:ext cx="10541000" cy="2616101"/>
          </a:xfrm>
          <a:prstGeom prst="rect">
            <a:avLst/>
          </a:prstGeom>
          <a:noFill/>
        </p:spPr>
        <p:txBody>
          <a:bodyPr vert="horz" rtlCol="0">
            <a:spAutoFit/>
          </a:bodyPr>
          <a:lstStyle/>
          <a:p>
            <a:pPr marL="342900" indent="-342900">
              <a:spcAft>
                <a:spcPts val="800"/>
              </a:spcAft>
              <a:buFont typeface="+mj-lt"/>
              <a:buChar char="•"/>
            </a:pPr>
            <a:r>
              <a:rPr lang="en-US" dirty="0">
                <a:solidFill>
                  <a:srgbClr val="222222"/>
                </a:solidFill>
                <a:latin typeface="Calibri" panose="020F0502020204030204" pitchFamily="34" charset="0"/>
              </a:rPr>
              <a:t>For small and medium inputs, the Python sequential baseline wins because it avoids distributed-system overhead.</a:t>
            </a:r>
          </a:p>
          <a:p>
            <a:pPr marL="342900" indent="-342900">
              <a:spcAft>
                <a:spcPts val="800"/>
              </a:spcAft>
              <a:buFont typeface="+mj-lt"/>
              <a:buChar char="•"/>
            </a:pPr>
            <a:r>
              <a:rPr lang="en-US" dirty="0">
                <a:solidFill>
                  <a:srgbClr val="222222"/>
                </a:solidFill>
                <a:latin typeface="Calibri" panose="020F0502020204030204" pitchFamily="34" charset="0"/>
              </a:rPr>
              <a:t>Hadoop becomes more robust as the input grows because work is externalized through HDFS, YARN, and reducers.</a:t>
            </a:r>
          </a:p>
          <a:p>
            <a:pPr marL="342900" indent="-342900">
              <a:spcAft>
                <a:spcPts val="800"/>
              </a:spcAft>
              <a:buFont typeface="+mj-lt"/>
              <a:buChar char="•"/>
            </a:pPr>
            <a:r>
              <a:rPr lang="en-US" dirty="0">
                <a:solidFill>
                  <a:srgbClr val="222222"/>
                </a:solidFill>
                <a:latin typeface="Calibri" panose="020F0502020204030204" pitchFamily="34" charset="0"/>
              </a:rPr>
              <a:t>The 16h test is the most important scalability signal: Hadoop completes, while the sequential process is killed.</a:t>
            </a:r>
          </a:p>
          <a:p>
            <a:pPr marL="342900" indent="-342900">
              <a:spcAft>
                <a:spcPts val="800"/>
              </a:spcAft>
              <a:buFont typeface="+mj-lt"/>
              <a:buChar char="•"/>
            </a:pPr>
            <a:r>
              <a:rPr lang="en-US" dirty="0">
                <a:solidFill>
                  <a:srgbClr val="222222"/>
                </a:solidFill>
                <a:latin typeface="Calibri" panose="020F0502020204030204" pitchFamily="34" charset="0"/>
              </a:rPr>
              <a:t>Increasing reducers does not automatically improve performance on a single VM; the environment limits real parallelism.</a:t>
            </a:r>
            <a:endParaRPr lang="az-Cyrl-AZ" dirty="0">
              <a:solidFill>
                <a:srgbClr val="222222"/>
              </a:solidFill>
              <a:latin typeface="Calibri" panose="020F0502020204030204" pitchFamily="34" charset="0"/>
            </a:endParaRPr>
          </a:p>
        </p:txBody>
      </p:sp>
    </p:spTree>
    <p:extLst>
      <p:ext uri="{BB962C8B-B14F-4D97-AF65-F5344CB8AC3E}">
        <p14:creationId xmlns:p14="http://schemas.microsoft.com/office/powerpoint/2010/main" val="14584224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60F6A7A-F3BB-4762-B62E-B7FF625317B8}"/>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D7AF07CC-95D9-4C19-855C-3C14DD38A6CC}"/>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Live Execution Demo</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4C91F649-C6E6-417E-8B9B-755B81C5D6D3}"/>
              </a:ext>
            </a:extLst>
          </p:cNvPr>
          <p:cNvSpPr txBox="1"/>
          <p:nvPr/>
        </p:nvSpPr>
        <p:spPr>
          <a:xfrm>
            <a:off x="482600" y="761608"/>
            <a:ext cx="10795000" cy="323165"/>
          </a:xfrm>
          <a:prstGeom prst="rect">
            <a:avLst/>
          </a:prstGeom>
          <a:noFill/>
        </p:spPr>
        <p:txBody>
          <a:bodyPr vert="horz" rtlCol="0">
            <a:spAutoFit/>
          </a:bodyPr>
          <a:lstStyle/>
          <a:p>
            <a:r>
              <a:rPr lang="en-US" sz="1500" dirty="0">
                <a:solidFill>
                  <a:srgbClr val="525252"/>
                </a:solidFill>
                <a:latin typeface="Calibri" panose="020F0502020204030204" pitchFamily="34" charset="0"/>
              </a:rPr>
              <a:t>Hadoop MapReduce run on the 1h Wikimedia Pageviews dataset</a:t>
            </a:r>
            <a:endParaRPr lang="az-Cyrl-AZ" sz="1500" dirty="0">
              <a:solidFill>
                <a:srgbClr val="525252"/>
              </a:solidFill>
              <a:latin typeface="Calibri" panose="020F0502020204030204" pitchFamily="34" charset="0"/>
            </a:endParaRPr>
          </a:p>
        </p:txBody>
      </p:sp>
      <p:sp>
        <p:nvSpPr>
          <p:cNvPr id="5" name="Rectangle 4">
            <a:extLst>
              <a:ext uri="{FF2B5EF4-FFF2-40B4-BE49-F238E27FC236}">
                <a16:creationId xmlns:a16="http://schemas.microsoft.com/office/drawing/2014/main" id="{F5DF2056-7601-4100-93AB-6BCE3DC574BB}"/>
              </a:ext>
            </a:extLst>
          </p:cNvPr>
          <p:cNvSpPr/>
          <p:nvPr/>
        </p:nvSpPr>
        <p:spPr>
          <a:xfrm>
            <a:off x="571500" y="1141526"/>
            <a:ext cx="4953000" cy="1785104"/>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6" name="TextBox 5">
            <a:extLst>
              <a:ext uri="{FF2B5EF4-FFF2-40B4-BE49-F238E27FC236}">
                <a16:creationId xmlns:a16="http://schemas.microsoft.com/office/drawing/2014/main" id="{4931951E-0536-410C-9337-6633E7CEBD54}"/>
              </a:ext>
            </a:extLst>
          </p:cNvPr>
          <p:cNvSpPr txBox="1"/>
          <p:nvPr/>
        </p:nvSpPr>
        <p:spPr>
          <a:xfrm>
            <a:off x="723900" y="1268526"/>
            <a:ext cx="4663068" cy="292388"/>
          </a:xfrm>
          <a:prstGeom prst="rect">
            <a:avLst/>
          </a:prstGeom>
          <a:noFill/>
        </p:spPr>
        <p:txBody>
          <a:bodyPr vert="horz" wrap="square" rtlCol="0">
            <a:spAutoFit/>
          </a:bodyPr>
          <a:lstStyle/>
          <a:p>
            <a:r>
              <a:rPr lang="en-US" sz="1300" b="1">
                <a:solidFill>
                  <a:srgbClr val="4EED0B"/>
                </a:solidFill>
                <a:latin typeface="Calibri" panose="020F0502020204030204" pitchFamily="34" charset="0"/>
              </a:rPr>
              <a:t>Command</a:t>
            </a:r>
            <a:endParaRPr lang="az-Cyrl-AZ" sz="1300" b="1">
              <a:solidFill>
                <a:srgbClr val="4EED0B"/>
              </a:solidFill>
              <a:latin typeface="Calibri" panose="020F0502020204030204" pitchFamily="34" charset="0"/>
            </a:endParaRPr>
          </a:p>
        </p:txBody>
      </p:sp>
      <p:sp>
        <p:nvSpPr>
          <p:cNvPr id="7" name="TextBox 6">
            <a:extLst>
              <a:ext uri="{FF2B5EF4-FFF2-40B4-BE49-F238E27FC236}">
                <a16:creationId xmlns:a16="http://schemas.microsoft.com/office/drawing/2014/main" id="{7BCB5A19-944F-4CAE-8AAA-0F03284B3037}"/>
              </a:ext>
            </a:extLst>
          </p:cNvPr>
          <p:cNvSpPr txBox="1"/>
          <p:nvPr/>
        </p:nvSpPr>
        <p:spPr>
          <a:xfrm>
            <a:off x="723900" y="1573326"/>
            <a:ext cx="4663068" cy="1169551"/>
          </a:xfrm>
          <a:prstGeom prst="rect">
            <a:avLst/>
          </a:prstGeom>
          <a:noFill/>
        </p:spPr>
        <p:txBody>
          <a:bodyPr vert="horz" wrap="square" rtlCol="0">
            <a:spAutoFit/>
          </a:bodyPr>
          <a:lstStyle/>
          <a:p>
            <a:r>
              <a:rPr lang="en-US" sz="1000" dirty="0">
                <a:solidFill>
                  <a:srgbClr val="222222"/>
                </a:solidFill>
                <a:latin typeface="Consolas" panose="020B0609020204030204" pitchFamily="49" charset="0"/>
              </a:rPr>
              <a:t>./scripts/run_hadoop_pageviews.sh</a:t>
            </a:r>
          </a:p>
          <a:p>
            <a:r>
              <a:rPr lang="en-US" sz="1000" dirty="0">
                <a:solidFill>
                  <a:srgbClr val="222222"/>
                </a:solidFill>
                <a:latin typeface="Consolas" panose="020B0609020204030204" pitchFamily="49" charset="0"/>
              </a:rPr>
              <a:t>  /home/hadoop/single_project/hadoop-pageviews</a:t>
            </a:r>
          </a:p>
          <a:p>
            <a:r>
              <a:rPr lang="en-US" sz="1000" dirty="0">
                <a:solidFill>
                  <a:srgbClr val="222222"/>
                </a:solidFill>
                <a:latin typeface="Consolas" panose="020B0609020204030204" pitchFamily="49" charset="0"/>
              </a:rPr>
              <a:t>  4</a:t>
            </a:r>
          </a:p>
          <a:p>
            <a:r>
              <a:rPr lang="en-US" sz="1000" dirty="0">
                <a:solidFill>
                  <a:srgbClr val="222222"/>
                </a:solidFill>
                <a:latin typeface="Consolas" panose="020B0609020204030204" pitchFamily="49" charset="0"/>
              </a:rPr>
              <a:t>  /user/hadoop/single_project/input/pageviews_1h</a:t>
            </a:r>
          </a:p>
          <a:p>
            <a:r>
              <a:rPr lang="en-US" sz="1000" dirty="0">
                <a:solidFill>
                  <a:srgbClr val="222222"/>
                </a:solidFill>
                <a:latin typeface="Consolas" panose="020B0609020204030204" pitchFamily="49" charset="0"/>
              </a:rPr>
              <a:t>  /user/hadoop/single_project/intermediate/demo_1h</a:t>
            </a:r>
          </a:p>
          <a:p>
            <a:r>
              <a:rPr lang="en-US" sz="1000" dirty="0">
                <a:solidFill>
                  <a:srgbClr val="222222"/>
                </a:solidFill>
                <a:latin typeface="Consolas" panose="020B0609020204030204" pitchFamily="49" charset="0"/>
              </a:rPr>
              <a:t>  /user/hadoop/single_project/output/demo_1h</a:t>
            </a:r>
          </a:p>
          <a:p>
            <a:r>
              <a:rPr lang="en-US" sz="1000" dirty="0">
                <a:solidFill>
                  <a:srgbClr val="222222"/>
                </a:solidFill>
                <a:latin typeface="Consolas" panose="020B0609020204030204" pitchFamily="49" charset="0"/>
              </a:rPr>
              <a:t>  10</a:t>
            </a:r>
            <a:endParaRPr lang="az-Cyrl-AZ" sz="1000" dirty="0">
              <a:solidFill>
                <a:srgbClr val="222222"/>
              </a:solidFill>
              <a:latin typeface="Consolas" panose="020B0609020204030204" pitchFamily="49" charset="0"/>
            </a:endParaRPr>
          </a:p>
        </p:txBody>
      </p:sp>
      <p:sp>
        <p:nvSpPr>
          <p:cNvPr id="8" name="Rectangle 7">
            <a:extLst>
              <a:ext uri="{FF2B5EF4-FFF2-40B4-BE49-F238E27FC236}">
                <a16:creationId xmlns:a16="http://schemas.microsoft.com/office/drawing/2014/main" id="{2520FB73-F722-495C-A19C-F31D19C90792}"/>
              </a:ext>
            </a:extLst>
          </p:cNvPr>
          <p:cNvSpPr/>
          <p:nvPr/>
        </p:nvSpPr>
        <p:spPr>
          <a:xfrm>
            <a:off x="571500" y="3102686"/>
            <a:ext cx="4953000" cy="26035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9" name="TextBox 8">
            <a:extLst>
              <a:ext uri="{FF2B5EF4-FFF2-40B4-BE49-F238E27FC236}">
                <a16:creationId xmlns:a16="http://schemas.microsoft.com/office/drawing/2014/main" id="{FD634D07-D678-4E6C-A350-B2DE8EF44697}"/>
              </a:ext>
            </a:extLst>
          </p:cNvPr>
          <p:cNvSpPr txBox="1"/>
          <p:nvPr/>
        </p:nvSpPr>
        <p:spPr>
          <a:xfrm>
            <a:off x="723900" y="3229686"/>
            <a:ext cx="4648200" cy="292388"/>
          </a:xfrm>
          <a:prstGeom prst="rect">
            <a:avLst/>
          </a:prstGeom>
          <a:noFill/>
        </p:spPr>
        <p:txBody>
          <a:bodyPr vert="horz" rtlCol="0">
            <a:spAutoFit/>
          </a:bodyPr>
          <a:lstStyle/>
          <a:p>
            <a:r>
              <a:rPr lang="en-US" sz="1300" b="1">
                <a:solidFill>
                  <a:srgbClr val="4EED0B"/>
                </a:solidFill>
                <a:latin typeface="Calibri" panose="020F0502020204030204" pitchFamily="34" charset="0"/>
              </a:rPr>
              <a:t>Observed Run</a:t>
            </a:r>
            <a:endParaRPr lang="az-Cyrl-AZ" sz="1300" b="1">
              <a:solidFill>
                <a:srgbClr val="4EED0B"/>
              </a:solidFill>
              <a:latin typeface="Calibri" panose="020F0502020204030204" pitchFamily="34" charset="0"/>
            </a:endParaRPr>
          </a:p>
        </p:txBody>
      </p:sp>
      <p:sp>
        <p:nvSpPr>
          <p:cNvPr id="10" name="TextBox 9">
            <a:extLst>
              <a:ext uri="{FF2B5EF4-FFF2-40B4-BE49-F238E27FC236}">
                <a16:creationId xmlns:a16="http://schemas.microsoft.com/office/drawing/2014/main" id="{033034B5-60A9-4EC9-9557-2CDF806F799D}"/>
              </a:ext>
            </a:extLst>
          </p:cNvPr>
          <p:cNvSpPr txBox="1"/>
          <p:nvPr/>
        </p:nvSpPr>
        <p:spPr>
          <a:xfrm>
            <a:off x="723900" y="3534486"/>
            <a:ext cx="4648200" cy="1384995"/>
          </a:xfrm>
          <a:prstGeom prst="rect">
            <a:avLst/>
          </a:prstGeom>
          <a:noFill/>
        </p:spPr>
        <p:txBody>
          <a:bodyPr vert="horz" rtlCol="0">
            <a:spAutoFit/>
          </a:bodyPr>
          <a:lstStyle/>
          <a:p>
            <a:r>
              <a:rPr lang="en-US" sz="1200" dirty="0">
                <a:solidFill>
                  <a:srgbClr val="222222"/>
                </a:solidFill>
                <a:latin typeface="Consolas" panose="020B0609020204030204" pitchFamily="49" charset="0"/>
              </a:rPr>
              <a:t>Input: pageviews_1h</a:t>
            </a:r>
          </a:p>
          <a:p>
            <a:r>
              <a:rPr lang="en-US" sz="1200" dirty="0">
                <a:solidFill>
                  <a:srgbClr val="222222"/>
                </a:solidFill>
                <a:latin typeface="Consolas" panose="020B0609020204030204" pitchFamily="49" charset="0"/>
              </a:rPr>
              <a:t>Files: 1 gzip hourly dump</a:t>
            </a:r>
          </a:p>
          <a:p>
            <a:r>
              <a:rPr lang="en-US" sz="1200" dirty="0">
                <a:solidFill>
                  <a:srgbClr val="222222"/>
                </a:solidFill>
                <a:latin typeface="Consolas" panose="020B0609020204030204" pitchFamily="49" charset="0"/>
              </a:rPr>
              <a:t>Compressed size: 51.7 MiB</a:t>
            </a:r>
          </a:p>
          <a:p>
            <a:r>
              <a:rPr lang="en-US" sz="1200" dirty="0">
                <a:solidFill>
                  <a:srgbClr val="222222"/>
                </a:solidFill>
                <a:latin typeface="Consolas" panose="020B0609020204030204" pitchFamily="49" charset="0"/>
              </a:rPr>
              <a:t>HDFS storage: 103.5 MiB (replication 2)</a:t>
            </a:r>
          </a:p>
          <a:p>
            <a:r>
              <a:rPr lang="en-US" sz="1200" dirty="0">
                <a:solidFill>
                  <a:srgbClr val="222222"/>
                </a:solidFill>
                <a:latin typeface="Consolas" panose="020B0609020204030204" pitchFamily="49" charset="0"/>
              </a:rPr>
              <a:t>Reducers: 4</a:t>
            </a:r>
          </a:p>
          <a:p>
            <a:r>
              <a:rPr lang="en-US" sz="1200" dirty="0">
                <a:solidFill>
                  <a:srgbClr val="222222"/>
                </a:solidFill>
                <a:latin typeface="Consolas" panose="020B0609020204030204" pitchFamily="49" charset="0"/>
              </a:rPr>
              <a:t>Output status: _SUCCESS</a:t>
            </a:r>
          </a:p>
          <a:p>
            <a:r>
              <a:rPr lang="en-US" sz="1200" dirty="0">
                <a:solidFill>
                  <a:srgbClr val="222222"/>
                </a:solidFill>
                <a:latin typeface="Consolas" panose="020B0609020204030204" pitchFamily="49" charset="0"/>
              </a:rPr>
              <a:t>Output files: part-r-00000 ... part-r-00003</a:t>
            </a:r>
            <a:endParaRPr lang="az-Cyrl-AZ" sz="1200" dirty="0">
              <a:solidFill>
                <a:srgbClr val="222222"/>
              </a:solidFill>
              <a:latin typeface="Consolas" panose="020B0609020204030204" pitchFamily="49" charset="0"/>
            </a:endParaRPr>
          </a:p>
        </p:txBody>
      </p:sp>
      <p:sp>
        <p:nvSpPr>
          <p:cNvPr id="11" name="Rectangle 10">
            <a:extLst>
              <a:ext uri="{FF2B5EF4-FFF2-40B4-BE49-F238E27FC236}">
                <a16:creationId xmlns:a16="http://schemas.microsoft.com/office/drawing/2014/main" id="{9D313659-6E60-4551-8F0A-74C4C00DCD6C}"/>
              </a:ext>
            </a:extLst>
          </p:cNvPr>
          <p:cNvSpPr/>
          <p:nvPr/>
        </p:nvSpPr>
        <p:spPr>
          <a:xfrm>
            <a:off x="5880100" y="685800"/>
            <a:ext cx="5397500" cy="5791200"/>
          </a:xfrm>
          <a:prstGeom prst="rect">
            <a:avLst/>
          </a:prstGeom>
          <a:solidFill>
            <a:srgbClr val="F1F1F1"/>
          </a:solidFill>
          <a:ln w="12700">
            <a:solidFill>
              <a:srgbClr val="CCCC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12" name="TextBox 11">
            <a:extLst>
              <a:ext uri="{FF2B5EF4-FFF2-40B4-BE49-F238E27FC236}">
                <a16:creationId xmlns:a16="http://schemas.microsoft.com/office/drawing/2014/main" id="{346C0D36-9503-48F6-9152-578293DE755C}"/>
              </a:ext>
            </a:extLst>
          </p:cNvPr>
          <p:cNvSpPr txBox="1"/>
          <p:nvPr/>
        </p:nvSpPr>
        <p:spPr>
          <a:xfrm>
            <a:off x="6032500" y="692006"/>
            <a:ext cx="5245100" cy="292388"/>
          </a:xfrm>
          <a:prstGeom prst="rect">
            <a:avLst/>
          </a:prstGeom>
          <a:noFill/>
        </p:spPr>
        <p:txBody>
          <a:bodyPr vert="horz" wrap="square" rtlCol="0">
            <a:spAutoFit/>
          </a:bodyPr>
          <a:lstStyle/>
          <a:p>
            <a:r>
              <a:rPr lang="en-US" sz="1300" b="1">
                <a:solidFill>
                  <a:srgbClr val="4EED0B"/>
                </a:solidFill>
                <a:latin typeface="Calibri" panose="020F0502020204030204" pitchFamily="34" charset="0"/>
              </a:rPr>
              <a:t>Output Excerpt</a:t>
            </a:r>
            <a:endParaRPr lang="az-Cyrl-AZ" sz="1300" b="1">
              <a:solidFill>
                <a:srgbClr val="4EED0B"/>
              </a:solidFill>
              <a:latin typeface="Calibri" panose="020F0502020204030204" pitchFamily="34" charset="0"/>
            </a:endParaRPr>
          </a:p>
        </p:txBody>
      </p:sp>
      <p:sp>
        <p:nvSpPr>
          <p:cNvPr id="13" name="TextBox 12">
            <a:extLst>
              <a:ext uri="{FF2B5EF4-FFF2-40B4-BE49-F238E27FC236}">
                <a16:creationId xmlns:a16="http://schemas.microsoft.com/office/drawing/2014/main" id="{FF8EF1F3-7DB4-4891-8907-C889534C7BBA}"/>
              </a:ext>
            </a:extLst>
          </p:cNvPr>
          <p:cNvSpPr txBox="1"/>
          <p:nvPr/>
        </p:nvSpPr>
        <p:spPr>
          <a:xfrm>
            <a:off x="6096000" y="967800"/>
            <a:ext cx="5118100" cy="5509200"/>
          </a:xfrm>
          <a:prstGeom prst="rect">
            <a:avLst/>
          </a:prstGeom>
          <a:noFill/>
        </p:spPr>
        <p:txBody>
          <a:bodyPr vert="horz" wrap="square" rtlCol="0">
            <a:spAutoFit/>
          </a:bodyPr>
          <a:lstStyle/>
          <a:p>
            <a:r>
              <a:rPr lang="en-US" sz="1100" dirty="0">
                <a:solidFill>
                  <a:srgbClr val="222222"/>
                </a:solidFill>
                <a:latin typeface="Consolas" panose="020B0609020204030204" pitchFamily="49" charset="0"/>
              </a:rPr>
              <a:t>{</a:t>
            </a:r>
          </a:p>
          <a:p>
            <a:r>
              <a:rPr lang="en-US" sz="1100" dirty="0">
                <a:solidFill>
                  <a:srgbClr val="222222"/>
                </a:solidFill>
                <a:latin typeface="Consolas" panose="020B0609020204030204" pitchFamily="49" charset="0"/>
              </a:rPr>
              <a:t>  "summary": {</a:t>
            </a:r>
          </a:p>
          <a:p>
            <a:r>
              <a:rPr lang="en-US" sz="1100" dirty="0">
                <a:solidFill>
                  <a:srgbClr val="222222"/>
                </a:solidFill>
                <a:latin typeface="Consolas" panose="020B0609020204030204" pitchFamily="49" charset="0"/>
              </a:rPr>
              <a:t>    "total_views": 15459276</a:t>
            </a:r>
          </a:p>
          <a:p>
            <a:r>
              <a:rPr lang="en-US" sz="1100" dirty="0">
                <a:solidFill>
                  <a:srgbClr val="222222"/>
                </a:solidFill>
                <a:latin typeface="Consolas" panose="020B0609020204030204" pitchFamily="49" charset="0"/>
              </a:rPr>
              <a:t>  },</a:t>
            </a:r>
          </a:p>
          <a:p>
            <a:r>
              <a:rPr lang="en-US" sz="1100" dirty="0">
                <a:solidFill>
                  <a:srgbClr val="222222"/>
                </a:solidFill>
                <a:latin typeface="Consolas" panose="020B0609020204030204" pitchFamily="49" charset="0"/>
              </a:rPr>
              <a:t>  "top_projects_by_views": [</a:t>
            </a:r>
          </a:p>
          <a:p>
            <a:r>
              <a:rPr lang="en-US" sz="1100" dirty="0">
                <a:solidFill>
                  <a:srgbClr val="222222"/>
                </a:solidFill>
                <a:latin typeface="Consolas" panose="020B0609020204030204" pitchFamily="49" charset="0"/>
              </a:rPr>
              <a:t>    {"project": "en.m", "views": 5344906},</a:t>
            </a:r>
          </a:p>
          <a:p>
            <a:r>
              <a:rPr lang="en-US" sz="1100" dirty="0">
                <a:solidFill>
                  <a:srgbClr val="222222"/>
                </a:solidFill>
                <a:latin typeface="Consolas" panose="020B0609020204030204" pitchFamily="49" charset="0"/>
              </a:rPr>
              <a:t>    {"project": "en", "views": 3007383},</a:t>
            </a:r>
          </a:p>
          <a:p>
            <a:r>
              <a:rPr lang="en-US" sz="1100" dirty="0">
                <a:solidFill>
                  <a:srgbClr val="222222"/>
                </a:solidFill>
                <a:latin typeface="Consolas" panose="020B0609020204030204" pitchFamily="49" charset="0"/>
              </a:rPr>
              <a:t>    {"project": "zh", "views": 706567},</a:t>
            </a:r>
          </a:p>
          <a:p>
            <a:r>
              <a:rPr lang="en-US" sz="1100" dirty="0">
                <a:solidFill>
                  <a:srgbClr val="222222"/>
                </a:solidFill>
                <a:latin typeface="Consolas" panose="020B0609020204030204" pitchFamily="49" charset="0"/>
              </a:rPr>
              <a:t>    {"project": "ja.m", "views": 698698},</a:t>
            </a:r>
          </a:p>
          <a:p>
            <a:r>
              <a:rPr lang="en-US" sz="1100" dirty="0">
                <a:solidFill>
                  <a:srgbClr val="222222"/>
                </a:solidFill>
                <a:latin typeface="Consolas" panose="020B0609020204030204" pitchFamily="49" charset="0"/>
              </a:rPr>
              <a:t>    {"project": "es.m", "views": 504150},</a:t>
            </a:r>
          </a:p>
          <a:p>
            <a:r>
              <a:rPr lang="en-US" sz="1100" dirty="0">
                <a:solidFill>
                  <a:srgbClr val="222222"/>
                </a:solidFill>
                <a:latin typeface="Consolas" panose="020B0609020204030204" pitchFamily="49" charset="0"/>
              </a:rPr>
              <a:t>    {"project": "ja", "views": 345676},</a:t>
            </a:r>
          </a:p>
          <a:p>
            <a:r>
              <a:rPr lang="en-US" sz="1100" dirty="0">
                <a:solidFill>
                  <a:srgbClr val="222222"/>
                </a:solidFill>
                <a:latin typeface="Consolas" panose="020B0609020204030204" pitchFamily="49" charset="0"/>
              </a:rPr>
              <a:t>    {"project": "fr.m", "views": 311375},</a:t>
            </a:r>
          </a:p>
          <a:p>
            <a:r>
              <a:rPr lang="en-US" sz="1100" dirty="0">
                <a:solidFill>
                  <a:srgbClr val="222222"/>
                </a:solidFill>
                <a:latin typeface="Consolas" panose="020B0609020204030204" pitchFamily="49" charset="0"/>
              </a:rPr>
              <a:t>    {"project": "ru.m", "views": 271529},</a:t>
            </a:r>
          </a:p>
          <a:p>
            <a:r>
              <a:rPr lang="en-US" sz="1100" dirty="0">
                <a:solidFill>
                  <a:srgbClr val="222222"/>
                </a:solidFill>
                <a:latin typeface="Consolas" panose="020B0609020204030204" pitchFamily="49" charset="0"/>
              </a:rPr>
              <a:t>    {"project": "de.m", "views": 232317},</a:t>
            </a:r>
          </a:p>
          <a:p>
            <a:r>
              <a:rPr lang="en-US" sz="1100" dirty="0">
                <a:solidFill>
                  <a:srgbClr val="222222"/>
                </a:solidFill>
                <a:latin typeface="Consolas" panose="020B0609020204030204" pitchFamily="49" charset="0"/>
              </a:rPr>
              <a:t>    {"project": "it.m", "views": 228126}</a:t>
            </a:r>
          </a:p>
          <a:p>
            <a:r>
              <a:rPr lang="en-US" sz="1100" dirty="0">
                <a:solidFill>
                  <a:srgbClr val="222222"/>
                </a:solidFill>
                <a:latin typeface="Consolas" panose="020B0609020204030204" pitchFamily="49" charset="0"/>
              </a:rPr>
              <a:t>  ],</a:t>
            </a:r>
          </a:p>
          <a:p>
            <a:r>
              <a:rPr lang="en-US" sz="1100" dirty="0">
                <a:solidFill>
                  <a:srgbClr val="222222"/>
                </a:solidFill>
                <a:latin typeface="Consolas" panose="020B0609020204030204" pitchFamily="49" charset="0"/>
              </a:rPr>
              <a:t>  "top_pages_by_views": [</a:t>
            </a:r>
          </a:p>
          <a:p>
            <a:r>
              <a:rPr lang="en-US" sz="1100" dirty="0">
                <a:solidFill>
                  <a:srgbClr val="222222"/>
                </a:solidFill>
                <a:latin typeface="Consolas" panose="020B0609020204030204" pitchFamily="49" charset="0"/>
              </a:rPr>
              <a:t>    {"page": "en|Main_Page", "views": 132524},</a:t>
            </a:r>
          </a:p>
          <a:p>
            <a:r>
              <a:rPr lang="en-US" sz="1100" dirty="0">
                <a:solidFill>
                  <a:srgbClr val="222222"/>
                </a:solidFill>
                <a:latin typeface="Consolas" panose="020B0609020204030204" pitchFamily="49" charset="0"/>
              </a:rPr>
              <a:t>    {"page": "en.m|Main_Page", "views": 83818},</a:t>
            </a:r>
          </a:p>
          <a:p>
            <a:r>
              <a:rPr lang="en-US" sz="1100" dirty="0">
                <a:solidFill>
                  <a:srgbClr val="222222"/>
                </a:solidFill>
                <a:latin typeface="Consolas" panose="020B0609020204030204" pitchFamily="49" charset="0"/>
              </a:rPr>
              <a:t>    {"page": "commons.m|-", "views": 40934},</a:t>
            </a:r>
          </a:p>
          <a:p>
            <a:r>
              <a:rPr lang="en-US" sz="1100" dirty="0">
                <a:solidFill>
                  <a:srgbClr val="222222"/>
                </a:solidFill>
                <a:latin typeface="Consolas" panose="020B0609020204030204" pitchFamily="49" charset="0"/>
              </a:rPr>
              <a:t>    {"page": "en|Nahui_Ollin", "views": 38512},</a:t>
            </a:r>
          </a:p>
          <a:p>
            <a:r>
              <a:rPr lang="en-US" sz="1100" dirty="0">
                <a:solidFill>
                  <a:srgbClr val="222222"/>
                </a:solidFill>
                <a:latin typeface="Consolas" panose="020B0609020204030204" pitchFamily="49" charset="0"/>
              </a:rPr>
              <a:t>    {"page": "en|Special:Search", "views": 19453},</a:t>
            </a:r>
          </a:p>
          <a:p>
            <a:r>
              <a:rPr lang="en-US" sz="1100" dirty="0">
                <a:solidFill>
                  <a:srgbClr val="222222"/>
                </a:solidFill>
                <a:latin typeface="Consolas" panose="020B0609020204030204" pitchFamily="49" charset="0"/>
              </a:rPr>
              <a:t>    {"page": "\"\"|-", "views": 15992},</a:t>
            </a:r>
          </a:p>
          <a:p>
            <a:r>
              <a:rPr lang="en-US" sz="1100" dirty="0">
                <a:solidFill>
                  <a:srgbClr val="222222"/>
                </a:solidFill>
                <a:latin typeface="Consolas" panose="020B0609020204030204" pitchFamily="49" charset="0"/>
              </a:rPr>
              <a:t>    {"page": "ja|</a:t>
            </a:r>
            <a:r>
              <a:rPr lang="ja-JP" altLang="en-US" sz="1100" dirty="0">
                <a:solidFill>
                  <a:srgbClr val="222222"/>
                </a:solidFill>
                <a:latin typeface="Consolas" panose="020B0609020204030204" pitchFamily="49" charset="0"/>
              </a:rPr>
              <a:t>メインページ</a:t>
            </a:r>
            <a:r>
              <a:rPr lang="en-US" altLang="ja-JP" sz="1100" dirty="0">
                <a:solidFill>
                  <a:srgbClr val="222222"/>
                </a:solidFill>
                <a:latin typeface="Consolas" panose="020B0609020204030204" pitchFamily="49" charset="0"/>
              </a:rPr>
              <a:t>", "</a:t>
            </a:r>
            <a:r>
              <a:rPr lang="en-US" sz="1100" dirty="0">
                <a:solidFill>
                  <a:srgbClr val="222222"/>
                </a:solidFill>
                <a:latin typeface="Consolas" panose="020B0609020204030204" pitchFamily="49" charset="0"/>
              </a:rPr>
              <a:t>views": 15715},</a:t>
            </a:r>
          </a:p>
          <a:p>
            <a:r>
              <a:rPr lang="en-US" sz="1100" dirty="0">
                <a:solidFill>
                  <a:srgbClr val="222222"/>
                </a:solidFill>
                <a:latin typeface="Consolas" panose="020B0609020204030204" pitchFamily="49" charset="0"/>
              </a:rPr>
              <a:t>    {"page": "hif|khaas:RecentChanges", "views": 14920},</a:t>
            </a:r>
          </a:p>
          <a:p>
            <a:r>
              <a:rPr lang="en-US" sz="1100" dirty="0">
                <a:solidFill>
                  <a:srgbClr val="222222"/>
                </a:solidFill>
                <a:latin typeface="Consolas" panose="020B0609020204030204" pitchFamily="49" charset="0"/>
              </a:rPr>
              <a:t>    {"page": "en.m|David_Allan_Coe", "views": 14697},</a:t>
            </a:r>
          </a:p>
          <a:p>
            <a:r>
              <a:rPr lang="en-US" sz="1100" dirty="0">
                <a:solidFill>
                  <a:srgbClr val="222222"/>
                </a:solidFill>
                <a:latin typeface="Consolas" panose="020B0609020204030204" pitchFamily="49" charset="0"/>
              </a:rPr>
              <a:t>    {"page": "zh|-", "views": 13428}</a:t>
            </a:r>
          </a:p>
          <a:p>
            <a:r>
              <a:rPr lang="en-US" sz="1100" dirty="0">
                <a:solidFill>
                  <a:srgbClr val="222222"/>
                </a:solidFill>
                <a:latin typeface="Consolas" panose="020B0609020204030204" pitchFamily="49" charset="0"/>
              </a:rPr>
              <a:t>  ],</a:t>
            </a:r>
          </a:p>
          <a:p>
            <a:r>
              <a:rPr lang="en-US" sz="1100" dirty="0">
                <a:solidFill>
                  <a:srgbClr val="222222"/>
                </a:solidFill>
                <a:latin typeface="Consolas" panose="020B0609020204030204" pitchFamily="49" charset="0"/>
              </a:rPr>
              <a:t>  "views_by_hour": [</a:t>
            </a:r>
          </a:p>
          <a:p>
            <a:r>
              <a:rPr lang="en-US" sz="1100" dirty="0">
                <a:solidFill>
                  <a:srgbClr val="222222"/>
                </a:solidFill>
                <a:latin typeface="Consolas" panose="020B0609020204030204" pitchFamily="49" charset="0"/>
              </a:rPr>
              <a:t>    {"hour": "20260501-00", "views": 15459276}</a:t>
            </a:r>
          </a:p>
          <a:p>
            <a:r>
              <a:rPr lang="en-US" sz="1100" dirty="0">
                <a:solidFill>
                  <a:srgbClr val="222222"/>
                </a:solidFill>
                <a:latin typeface="Consolas" panose="020B0609020204030204" pitchFamily="49" charset="0"/>
              </a:rPr>
              <a:t>  ]</a:t>
            </a:r>
          </a:p>
          <a:p>
            <a:r>
              <a:rPr lang="en-US" sz="1100" dirty="0">
                <a:solidFill>
                  <a:srgbClr val="222222"/>
                </a:solidFill>
                <a:latin typeface="Consolas" panose="020B0609020204030204" pitchFamily="49" charset="0"/>
              </a:rPr>
              <a:t>}</a:t>
            </a:r>
            <a:endParaRPr lang="az-Cyrl-AZ" sz="1100" dirty="0">
              <a:solidFill>
                <a:srgbClr val="222222"/>
              </a:solidFill>
              <a:latin typeface="Consolas" panose="020B0609020204030204" pitchFamily="49" charset="0"/>
            </a:endParaRPr>
          </a:p>
        </p:txBody>
      </p:sp>
      <p:sp>
        <p:nvSpPr>
          <p:cNvPr id="14" name="TextBox 13">
            <a:extLst>
              <a:ext uri="{FF2B5EF4-FFF2-40B4-BE49-F238E27FC236}">
                <a16:creationId xmlns:a16="http://schemas.microsoft.com/office/drawing/2014/main" id="{644F6306-AE06-4D89-B735-824A35BC7370}"/>
              </a:ext>
            </a:extLst>
          </p:cNvPr>
          <p:cNvSpPr txBox="1"/>
          <p:nvPr/>
        </p:nvSpPr>
        <p:spPr>
          <a:xfrm>
            <a:off x="346075" y="5909600"/>
            <a:ext cx="5040893" cy="461665"/>
          </a:xfrm>
          <a:prstGeom prst="rect">
            <a:avLst/>
          </a:prstGeom>
          <a:noFill/>
        </p:spPr>
        <p:txBody>
          <a:bodyPr vert="horz" wrap="square" rtlCol="0">
            <a:spAutoFit/>
          </a:bodyPr>
          <a:lstStyle/>
          <a:p>
            <a:r>
              <a:rPr lang="en-US" sz="1200" dirty="0">
                <a:solidFill>
                  <a:srgbClr val="525252"/>
                </a:solidFill>
                <a:latin typeface="Calibri" panose="020F0502020204030204" pitchFamily="34" charset="0"/>
              </a:rPr>
              <a:t>Because the demo uses 4 reducers, Hadoop writes multiple part-r files; each part contains the metric category assigned to that reducer.</a:t>
            </a:r>
            <a:endParaRPr lang="az-Cyrl-AZ" sz="1200" dirty="0">
              <a:solidFill>
                <a:srgbClr val="525252"/>
              </a:solidFill>
              <a:latin typeface="Calibri" panose="020F0502020204030204" pitchFamily="34" charset="0"/>
            </a:endParaRPr>
          </a:p>
        </p:txBody>
      </p:sp>
      <p:sp>
        <p:nvSpPr>
          <p:cNvPr id="15" name="TextBox 14">
            <a:extLst>
              <a:ext uri="{FF2B5EF4-FFF2-40B4-BE49-F238E27FC236}">
                <a16:creationId xmlns:a16="http://schemas.microsoft.com/office/drawing/2014/main" id="{4CA6C35E-DF70-4571-A7F4-69E8B999D909}"/>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Tree>
    <p:extLst>
      <p:ext uri="{BB962C8B-B14F-4D97-AF65-F5344CB8AC3E}">
        <p14:creationId xmlns:p14="http://schemas.microsoft.com/office/powerpoint/2010/main" val="36467465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A35AA88-DD00-49DA-9E49-4EA7AA23EA64}"/>
              </a:ext>
            </a:extLst>
          </p:cNvPr>
          <p:cNvSpPr/>
          <p:nvPr/>
        </p:nvSpPr>
        <p:spPr>
          <a:xfrm>
            <a:off x="0" y="0"/>
            <a:ext cx="12192000" cy="685800"/>
          </a:xfrm>
          <a:prstGeom prst="rect">
            <a:avLst/>
          </a:prstGeom>
          <a:solidFill>
            <a:srgbClr val="4EED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az-Cyrl-AZ"/>
          </a:p>
        </p:txBody>
      </p:sp>
      <p:sp>
        <p:nvSpPr>
          <p:cNvPr id="3" name="TextBox 2">
            <a:extLst>
              <a:ext uri="{FF2B5EF4-FFF2-40B4-BE49-F238E27FC236}">
                <a16:creationId xmlns:a16="http://schemas.microsoft.com/office/drawing/2014/main" id="{1D54C83F-AA11-4651-8849-ED56F7CA76C6}"/>
              </a:ext>
            </a:extLst>
          </p:cNvPr>
          <p:cNvSpPr txBox="1"/>
          <p:nvPr/>
        </p:nvSpPr>
        <p:spPr>
          <a:xfrm>
            <a:off x="482600" y="177800"/>
            <a:ext cx="9652000" cy="446276"/>
          </a:xfrm>
          <a:prstGeom prst="rect">
            <a:avLst/>
          </a:prstGeom>
          <a:noFill/>
        </p:spPr>
        <p:txBody>
          <a:bodyPr vert="horz" rtlCol="0">
            <a:spAutoFit/>
          </a:bodyPr>
          <a:lstStyle/>
          <a:p>
            <a:r>
              <a:rPr lang="en-US" sz="2300" b="1">
                <a:solidFill>
                  <a:srgbClr val="FFFFFF"/>
                </a:solidFill>
                <a:latin typeface="Georgia" panose="02040502050405020303" pitchFamily="18" charset="0"/>
              </a:rPr>
              <a:t>Conclusion</a:t>
            </a:r>
            <a:endParaRPr lang="az-Cyrl-AZ" sz="2300" b="1">
              <a:solidFill>
                <a:srgbClr val="FFFFFF"/>
              </a:solidFill>
              <a:latin typeface="Georgia" panose="02040502050405020303" pitchFamily="18" charset="0"/>
            </a:endParaRPr>
          </a:p>
        </p:txBody>
      </p:sp>
      <p:sp>
        <p:nvSpPr>
          <p:cNvPr id="4" name="TextBox 3">
            <a:extLst>
              <a:ext uri="{FF2B5EF4-FFF2-40B4-BE49-F238E27FC236}">
                <a16:creationId xmlns:a16="http://schemas.microsoft.com/office/drawing/2014/main" id="{AB0C7D4F-6878-49D2-9EBF-A07340A0E3E7}"/>
              </a:ext>
            </a:extLst>
          </p:cNvPr>
          <p:cNvSpPr txBox="1"/>
          <p:nvPr/>
        </p:nvSpPr>
        <p:spPr>
          <a:xfrm>
            <a:off x="482600" y="838200"/>
            <a:ext cx="10668000" cy="338554"/>
          </a:xfrm>
          <a:prstGeom prst="rect">
            <a:avLst/>
          </a:prstGeom>
          <a:noFill/>
        </p:spPr>
        <p:txBody>
          <a:bodyPr vert="horz" rtlCol="0">
            <a:spAutoFit/>
          </a:bodyPr>
          <a:lstStyle/>
          <a:p>
            <a:r>
              <a:rPr lang="en-US" sz="1600">
                <a:solidFill>
                  <a:srgbClr val="525252"/>
                </a:solidFill>
                <a:latin typeface="Calibri" panose="020F0502020204030204" pitchFamily="34" charset="0"/>
              </a:rPr>
              <a:t>Final interpretation</a:t>
            </a:r>
            <a:endParaRPr lang="az-Cyrl-AZ" sz="1600">
              <a:solidFill>
                <a:srgbClr val="525252"/>
              </a:solidFill>
              <a:latin typeface="Calibri" panose="020F0502020204030204" pitchFamily="34" charset="0"/>
            </a:endParaRPr>
          </a:p>
        </p:txBody>
      </p:sp>
      <p:sp>
        <p:nvSpPr>
          <p:cNvPr id="5" name="TextBox 4">
            <a:extLst>
              <a:ext uri="{FF2B5EF4-FFF2-40B4-BE49-F238E27FC236}">
                <a16:creationId xmlns:a16="http://schemas.microsoft.com/office/drawing/2014/main" id="{780FA22D-9A0A-457E-BA3A-DA61A2D88E2A}"/>
              </a:ext>
            </a:extLst>
          </p:cNvPr>
          <p:cNvSpPr txBox="1"/>
          <p:nvPr/>
        </p:nvSpPr>
        <p:spPr>
          <a:xfrm>
            <a:off x="482600" y="6477000"/>
            <a:ext cx="10922000" cy="230832"/>
          </a:xfrm>
          <a:prstGeom prst="rect">
            <a:avLst/>
          </a:prstGeom>
          <a:noFill/>
        </p:spPr>
        <p:txBody>
          <a:bodyPr vert="horz" rtlCol="0">
            <a:spAutoFit/>
          </a:bodyPr>
          <a:lstStyle/>
          <a:p>
            <a:r>
              <a:rPr lang="en-US" sz="900">
                <a:solidFill>
                  <a:srgbClr val="808080"/>
                </a:solidFill>
                <a:latin typeface="Calibri" panose="020F0502020204030204" pitchFamily="34" charset="0"/>
              </a:rPr>
              <a:t>Cloud Computing - Wikimedia Pageview Analytics</a:t>
            </a:r>
            <a:endParaRPr lang="az-Cyrl-AZ" sz="900">
              <a:solidFill>
                <a:srgbClr val="808080"/>
              </a:solidFill>
              <a:latin typeface="Calibri" panose="020F0502020204030204" pitchFamily="34" charset="0"/>
            </a:endParaRPr>
          </a:p>
        </p:txBody>
      </p:sp>
      <p:sp>
        <p:nvSpPr>
          <p:cNvPr id="6" name="TextBox 5">
            <a:extLst>
              <a:ext uri="{FF2B5EF4-FFF2-40B4-BE49-F238E27FC236}">
                <a16:creationId xmlns:a16="http://schemas.microsoft.com/office/drawing/2014/main" id="{2EA9E1C5-EE35-40E5-B807-44063029A355}"/>
              </a:ext>
            </a:extLst>
          </p:cNvPr>
          <p:cNvSpPr txBox="1"/>
          <p:nvPr/>
        </p:nvSpPr>
        <p:spPr>
          <a:xfrm>
            <a:off x="736600" y="1600200"/>
            <a:ext cx="10541000" cy="2616101"/>
          </a:xfrm>
          <a:prstGeom prst="rect">
            <a:avLst/>
          </a:prstGeom>
          <a:noFill/>
        </p:spPr>
        <p:txBody>
          <a:bodyPr vert="horz" rtlCol="0">
            <a:spAutoFit/>
          </a:bodyPr>
          <a:lstStyle/>
          <a:p>
            <a:pPr marL="342900" indent="-342900">
              <a:spcAft>
                <a:spcPts val="800"/>
              </a:spcAft>
              <a:buFont typeface="+mj-lt"/>
              <a:buChar char="•"/>
            </a:pPr>
            <a:r>
              <a:rPr lang="en-US" dirty="0">
                <a:solidFill>
                  <a:srgbClr val="222222"/>
                </a:solidFill>
                <a:latin typeface="Calibri" panose="020F0502020204030204" pitchFamily="34" charset="0"/>
              </a:rPr>
              <a:t>The project satisfies the Hadoop implementation requirements with two cascaded non-iterative MapReduce jobs in Java.</a:t>
            </a:r>
          </a:p>
          <a:p>
            <a:pPr marL="342900" indent="-342900">
              <a:spcAft>
                <a:spcPts val="800"/>
              </a:spcAft>
              <a:buFont typeface="+mj-lt"/>
              <a:buChar char="•"/>
            </a:pPr>
            <a:r>
              <a:rPr lang="en-US" dirty="0">
                <a:solidFill>
                  <a:srgbClr val="222222"/>
                </a:solidFill>
                <a:latin typeface="Calibri" panose="020F0502020204030204" pitchFamily="34" charset="0"/>
              </a:rPr>
              <a:t>The implementation includes custom Writable data, setup/cleanup methods, in-mapper combining, custom partitioning, and multi-reducer execution.</a:t>
            </a:r>
          </a:p>
          <a:p>
            <a:pPr marL="342900" indent="-342900">
              <a:spcAft>
                <a:spcPts val="800"/>
              </a:spcAft>
              <a:buFont typeface="+mj-lt"/>
              <a:buChar char="•"/>
            </a:pPr>
            <a:r>
              <a:rPr lang="en-US" dirty="0">
                <a:solidFill>
                  <a:srgbClr val="222222"/>
                </a:solidFill>
                <a:latin typeface="Calibri" panose="020F0502020204030204" pitchFamily="34" charset="0"/>
              </a:rPr>
              <a:t>The sequential baseline is useful for comparison, but its memory behavior becomes a bottleneck at larger scale.</a:t>
            </a:r>
          </a:p>
          <a:p>
            <a:pPr marL="342900" indent="-342900">
              <a:spcAft>
                <a:spcPts val="800"/>
              </a:spcAft>
              <a:buFont typeface="+mj-lt"/>
              <a:buChar char="•"/>
            </a:pPr>
            <a:r>
              <a:rPr lang="en-US" dirty="0">
                <a:solidFill>
                  <a:srgbClr val="222222"/>
                </a:solidFill>
                <a:latin typeface="Calibri" panose="020F0502020204030204" pitchFamily="34" charset="0"/>
              </a:rPr>
              <a:t>The final result demonstrates the trade-off between simple local execution and scalable batch processing on HDFS/YARN.</a:t>
            </a:r>
            <a:endParaRPr lang="az-Cyrl-AZ" dirty="0">
              <a:solidFill>
                <a:srgbClr val="222222"/>
              </a:solidFill>
              <a:latin typeface="Calibri" panose="020F0502020204030204" pitchFamily="34" charset="0"/>
            </a:endParaRPr>
          </a:p>
        </p:txBody>
      </p:sp>
    </p:spTree>
    <p:extLst>
      <p:ext uri="{BB962C8B-B14F-4D97-AF65-F5344CB8AC3E}">
        <p14:creationId xmlns:p14="http://schemas.microsoft.com/office/powerpoint/2010/main" val="34099428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TotalTime>
  <Words>1506</Words>
  <Application>Microsoft Office PowerPoint</Application>
  <PresentationFormat>Widescreen</PresentationFormat>
  <Paragraphs>166</Paragraphs>
  <Slides>14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Calibri Light</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Zeynəddin Papaxov</dc:creator>
  <cp:lastModifiedBy>Zeynəddin Papaxov</cp:lastModifiedBy>
  <cp:revision>7</cp:revision>
  <dcterms:created xsi:type="dcterms:W3CDTF">2026-07-04T08:20:23Z</dcterms:created>
  <dcterms:modified xsi:type="dcterms:W3CDTF">2026-07-05T10:23:41Z</dcterms:modified>
</cp:coreProperties>
</file>