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59" r:id="rId6"/>
    <p:sldId id="260" r:id="rId7"/>
    <p:sldId id="261" r:id="rId8"/>
    <p:sldId id="262" r:id="rId9"/>
    <p:sldId id="263"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1F98D-8009-48FA-AD2C-115029382F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z-Cyrl-AZ"/>
          </a:p>
        </p:txBody>
      </p:sp>
      <p:sp>
        <p:nvSpPr>
          <p:cNvPr id="3" name="Subtitle 2">
            <a:extLst>
              <a:ext uri="{FF2B5EF4-FFF2-40B4-BE49-F238E27FC236}">
                <a16:creationId xmlns:a16="http://schemas.microsoft.com/office/drawing/2014/main" id="{84F4AE1C-D74D-47A6-BFE8-86E148E3AD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z-Cyrl-AZ"/>
          </a:p>
        </p:txBody>
      </p:sp>
      <p:sp>
        <p:nvSpPr>
          <p:cNvPr id="4" name="Date Placeholder 3">
            <a:extLst>
              <a:ext uri="{FF2B5EF4-FFF2-40B4-BE49-F238E27FC236}">
                <a16:creationId xmlns:a16="http://schemas.microsoft.com/office/drawing/2014/main" id="{2ADE2092-16CE-46DD-9FFC-421A958F8FB2}"/>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B1643F62-3290-41BD-8FB1-E56FAF6F86B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4593A30B-3C28-4E7E-ACEE-116B7093891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27910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6DA9D-56CD-486A-AB88-331CE6D56854}"/>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85B065C-9F4A-48CF-AB38-4FAED4C8A3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8E639D4B-DCA6-4B7F-83F8-1F8F05E55E47}"/>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AD2CD47-C47C-41DA-9B36-344F8A6F8454}"/>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B64E2E89-1D39-40FD-ACA3-77E26F577600}"/>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96167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56095-811E-485F-ACF6-D937FA4DCB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z-Cyrl-AZ"/>
          </a:p>
        </p:txBody>
      </p:sp>
      <p:sp>
        <p:nvSpPr>
          <p:cNvPr id="3" name="Text Placeholder 2">
            <a:extLst>
              <a:ext uri="{FF2B5EF4-FFF2-40B4-BE49-F238E27FC236}">
                <a16:creationId xmlns:a16="http://schemas.microsoft.com/office/drawing/2014/main" id="{779BFF19-EEEA-43F2-8B17-AE5AAC1C2E9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0D403B-0A42-4294-9B2C-5BCC39FFC50B}"/>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0A753FF-3996-4500-B142-AB25B77AAC7C}"/>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328B153-B73B-442C-94A3-37744C225ADD}"/>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14342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587A8-561B-492B-B5BB-E5ECB7B609A0}"/>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7BDD55C3-CA05-48FA-B526-E8F890EF41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Content Placeholder 3">
            <a:extLst>
              <a:ext uri="{FF2B5EF4-FFF2-40B4-BE49-F238E27FC236}">
                <a16:creationId xmlns:a16="http://schemas.microsoft.com/office/drawing/2014/main" id="{7531943A-F404-4142-AB23-014FDD3AC9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Date Placeholder 4">
            <a:extLst>
              <a:ext uri="{FF2B5EF4-FFF2-40B4-BE49-F238E27FC236}">
                <a16:creationId xmlns:a16="http://schemas.microsoft.com/office/drawing/2014/main" id="{8C6A7669-49C2-4088-9521-EC1940E9BF5D}"/>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E560B35E-CB7A-4F7D-9AC3-D4176966041B}"/>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F826B239-7F7F-4C0B-A833-4FD299323EC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527907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CB001-00BE-4164-BD4F-2975DD5DBFD9}"/>
              </a:ext>
            </a:extLst>
          </p:cNvPr>
          <p:cNvSpPr>
            <a:spLocks noGrp="1"/>
          </p:cNvSpPr>
          <p:nvPr>
            <p:ph type="title"/>
          </p:nvPr>
        </p:nvSpPr>
        <p:spPr>
          <a:xfrm>
            <a:off x="839788" y="365125"/>
            <a:ext cx="10515600" cy="1325563"/>
          </a:xfrm>
        </p:spPr>
        <p:txBody>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264162B1-C5B8-4849-ACFE-ECDD7DE326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6FDDC-01BF-4139-BE71-D85B9062EA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Text Placeholder 4">
            <a:extLst>
              <a:ext uri="{FF2B5EF4-FFF2-40B4-BE49-F238E27FC236}">
                <a16:creationId xmlns:a16="http://schemas.microsoft.com/office/drawing/2014/main" id="{F4666F52-0B75-43C5-96D6-6963ADA8F9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F95E9B2-A417-4772-BE8F-2EF2F95988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7" name="Date Placeholder 6">
            <a:extLst>
              <a:ext uri="{FF2B5EF4-FFF2-40B4-BE49-F238E27FC236}">
                <a16:creationId xmlns:a16="http://schemas.microsoft.com/office/drawing/2014/main" id="{5C0F073C-266A-46F5-AA44-0351B73C8ADA}"/>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8" name="Footer Placeholder 7">
            <a:extLst>
              <a:ext uri="{FF2B5EF4-FFF2-40B4-BE49-F238E27FC236}">
                <a16:creationId xmlns:a16="http://schemas.microsoft.com/office/drawing/2014/main" id="{D428CFC9-6D81-4780-83EC-FE9D02B06A36}"/>
              </a:ext>
            </a:extLst>
          </p:cNvPr>
          <p:cNvSpPr>
            <a:spLocks noGrp="1"/>
          </p:cNvSpPr>
          <p:nvPr>
            <p:ph type="ftr" sz="quarter" idx="11"/>
          </p:nvPr>
        </p:nvSpPr>
        <p:spPr/>
        <p:txBody>
          <a:bodyPr/>
          <a:lstStyle/>
          <a:p>
            <a:endParaRPr lang="az-Cyrl-AZ"/>
          </a:p>
        </p:txBody>
      </p:sp>
      <p:sp>
        <p:nvSpPr>
          <p:cNvPr id="9" name="Slide Number Placeholder 8">
            <a:extLst>
              <a:ext uri="{FF2B5EF4-FFF2-40B4-BE49-F238E27FC236}">
                <a16:creationId xmlns:a16="http://schemas.microsoft.com/office/drawing/2014/main" id="{88972282-C781-4E81-9A3C-2DF4D551507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00655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EB04E-478F-4D7C-AF81-6FC690EF8E48}"/>
              </a:ext>
            </a:extLst>
          </p:cNvPr>
          <p:cNvSpPr>
            <a:spLocks noGrp="1"/>
          </p:cNvSpPr>
          <p:nvPr>
            <p:ph type="title"/>
          </p:nvPr>
        </p:nvSpPr>
        <p:spPr/>
        <p:txBody>
          <a:bodyPr/>
          <a:lstStyle/>
          <a:p>
            <a:r>
              <a:rPr lang="en-US"/>
              <a:t>Click to edit Master title style</a:t>
            </a:r>
            <a:endParaRPr lang="az-Cyrl-AZ"/>
          </a:p>
        </p:txBody>
      </p:sp>
      <p:sp>
        <p:nvSpPr>
          <p:cNvPr id="3" name="Date Placeholder 2">
            <a:extLst>
              <a:ext uri="{FF2B5EF4-FFF2-40B4-BE49-F238E27FC236}">
                <a16:creationId xmlns:a16="http://schemas.microsoft.com/office/drawing/2014/main" id="{DFAA15F1-A724-4FA3-B8BA-21B98181C9B3}"/>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4" name="Footer Placeholder 3">
            <a:extLst>
              <a:ext uri="{FF2B5EF4-FFF2-40B4-BE49-F238E27FC236}">
                <a16:creationId xmlns:a16="http://schemas.microsoft.com/office/drawing/2014/main" id="{1A00244A-C88A-4AA9-A340-22B163EBD92F}"/>
              </a:ext>
            </a:extLst>
          </p:cNvPr>
          <p:cNvSpPr>
            <a:spLocks noGrp="1"/>
          </p:cNvSpPr>
          <p:nvPr>
            <p:ph type="ftr" sz="quarter" idx="11"/>
          </p:nvPr>
        </p:nvSpPr>
        <p:spPr/>
        <p:txBody>
          <a:bodyPr/>
          <a:lstStyle/>
          <a:p>
            <a:endParaRPr lang="az-Cyrl-AZ"/>
          </a:p>
        </p:txBody>
      </p:sp>
      <p:sp>
        <p:nvSpPr>
          <p:cNvPr id="5" name="Slide Number Placeholder 4">
            <a:extLst>
              <a:ext uri="{FF2B5EF4-FFF2-40B4-BE49-F238E27FC236}">
                <a16:creationId xmlns:a16="http://schemas.microsoft.com/office/drawing/2014/main" id="{AB9B4AF2-48E1-4B5A-9E97-41107820743C}"/>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4527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403321-0D7E-489A-A1D9-D0E29C728748}"/>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3" name="Footer Placeholder 2">
            <a:extLst>
              <a:ext uri="{FF2B5EF4-FFF2-40B4-BE49-F238E27FC236}">
                <a16:creationId xmlns:a16="http://schemas.microsoft.com/office/drawing/2014/main" id="{756C1BAC-E3F6-420B-8B29-682B050E0FF9}"/>
              </a:ext>
            </a:extLst>
          </p:cNvPr>
          <p:cNvSpPr>
            <a:spLocks noGrp="1"/>
          </p:cNvSpPr>
          <p:nvPr>
            <p:ph type="ftr" sz="quarter" idx="11"/>
          </p:nvPr>
        </p:nvSpPr>
        <p:spPr/>
        <p:txBody>
          <a:bodyPr/>
          <a:lstStyle/>
          <a:p>
            <a:endParaRPr lang="az-Cyrl-AZ"/>
          </a:p>
        </p:txBody>
      </p:sp>
      <p:sp>
        <p:nvSpPr>
          <p:cNvPr id="4" name="Slide Number Placeholder 3">
            <a:extLst>
              <a:ext uri="{FF2B5EF4-FFF2-40B4-BE49-F238E27FC236}">
                <a16:creationId xmlns:a16="http://schemas.microsoft.com/office/drawing/2014/main" id="{F9A8DC05-6B79-4984-B75B-22C749C6BFF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86534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C8DA9-4B61-45C0-988F-8CB09D171D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79171EC-75F7-43DC-9CF1-F3A560723C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Text Placeholder 3">
            <a:extLst>
              <a:ext uri="{FF2B5EF4-FFF2-40B4-BE49-F238E27FC236}">
                <a16:creationId xmlns:a16="http://schemas.microsoft.com/office/drawing/2014/main" id="{7D23ACE7-B238-47D2-82D5-408EA5B48E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D1C2D-F371-490B-A572-7956A62B9A8F}"/>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4326C257-E234-4F10-AACC-DC42E7CFB2E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602AB862-B46D-415A-9F6C-FD10677B3664}"/>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170793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79345-A292-48D2-BFDB-002654610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Picture Placeholder 2">
            <a:extLst>
              <a:ext uri="{FF2B5EF4-FFF2-40B4-BE49-F238E27FC236}">
                <a16:creationId xmlns:a16="http://schemas.microsoft.com/office/drawing/2014/main" id="{29BF496E-F114-4A3B-B32C-AC11B4905A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z-Cyrl-AZ"/>
          </a:p>
        </p:txBody>
      </p:sp>
      <p:sp>
        <p:nvSpPr>
          <p:cNvPr id="4" name="Text Placeholder 3">
            <a:extLst>
              <a:ext uri="{FF2B5EF4-FFF2-40B4-BE49-F238E27FC236}">
                <a16:creationId xmlns:a16="http://schemas.microsoft.com/office/drawing/2014/main" id="{9CE47A8C-6078-498C-A7C5-45C6FD00F6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4C114-F683-49D0-8EF1-1C255F9C8A49}"/>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A8997260-26B4-4CDA-8FBB-AB750E0E3CA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D7CB9E66-AC62-4C0F-A755-FC12EA6F88B8}"/>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78870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A5998-BE43-4679-A6D2-FE575D53FE94}"/>
              </a:ext>
            </a:extLst>
          </p:cNvPr>
          <p:cNvSpPr>
            <a:spLocks noGrp="1"/>
          </p:cNvSpPr>
          <p:nvPr>
            <p:ph type="title"/>
          </p:nvPr>
        </p:nvSpPr>
        <p:spPr/>
        <p:txBody>
          <a:bodyPr/>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55FCF28C-0BE1-48DD-BC0E-1911E821D28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28717A92-598A-478B-8C3E-2E089CE2D3E5}"/>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FC89B3F1-BA23-4AD6-9660-89A5BB55412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5A8D326-D557-43E5-B672-1929FFB9D44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67803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1E6658-E1A0-40C2-B12C-F53314C96E6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20C99040-1CA9-4491-9A94-F744A3DA4C9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74986534-D9CD-4A05-8CAD-47A6C44C658C}"/>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A0CF9EC7-28D7-4047-8E1C-3A8E1E368D42}"/>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CF40DAC1-B60F-4BAF-AE6F-1FF7A0DC5617}"/>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3604814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26E92C-4ABE-490F-A80A-A855884FD0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CF7D98F6-CCE0-4B38-BD5D-9FC6318019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CF2EC3E9-DB72-474E-AF75-8D5028C279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D4B2172F-5406-4996-950E-E26E4A14E5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z-Cyrl-AZ"/>
          </a:p>
        </p:txBody>
      </p:sp>
      <p:sp>
        <p:nvSpPr>
          <p:cNvPr id="6" name="Slide Number Placeholder 5">
            <a:extLst>
              <a:ext uri="{FF2B5EF4-FFF2-40B4-BE49-F238E27FC236}">
                <a16:creationId xmlns:a16="http://schemas.microsoft.com/office/drawing/2014/main" id="{C7CA83AD-C0C4-4F37-BD3A-071CEE3C65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E844E5-0A83-4DC0-857B-EE87E1FCBC34}" type="slidenum">
              <a:rPr lang="az-Cyrl-AZ" smtClean="0"/>
              <a:t>‹#›</a:t>
            </a:fld>
            <a:endParaRPr lang="az-Cyrl-AZ"/>
          </a:p>
        </p:txBody>
      </p:sp>
    </p:spTree>
    <p:extLst>
      <p:ext uri="{BB962C8B-B14F-4D97-AF65-F5344CB8AC3E}">
        <p14:creationId xmlns:p14="http://schemas.microsoft.com/office/powerpoint/2010/main" val="1124163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951319-E991-4460-9389-D0A1EC2DF48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5018087" y="352485"/>
            <a:ext cx="2155825" cy="1746765"/>
          </a:xfrm>
          <a:prstGeom prst="rect">
            <a:avLst/>
          </a:prstGeom>
        </p:spPr>
      </p:pic>
      <p:sp>
        <p:nvSpPr>
          <p:cNvPr id="4" name="TextBox 3">
            <a:extLst>
              <a:ext uri="{FF2B5EF4-FFF2-40B4-BE49-F238E27FC236}">
                <a16:creationId xmlns:a16="http://schemas.microsoft.com/office/drawing/2014/main" id="{1235E3C2-5DC2-4F4A-AB9F-FD9B9DE0E571}"/>
              </a:ext>
            </a:extLst>
          </p:cNvPr>
          <p:cNvSpPr txBox="1"/>
          <p:nvPr/>
        </p:nvSpPr>
        <p:spPr>
          <a:xfrm>
            <a:off x="3175000" y="2386111"/>
            <a:ext cx="5842000" cy="615553"/>
          </a:xfrm>
          <a:prstGeom prst="rect">
            <a:avLst/>
          </a:prstGeom>
          <a:noFill/>
        </p:spPr>
        <p:txBody>
          <a:bodyPr vert="horz" rtlCol="0">
            <a:spAutoFit/>
          </a:bodyPr>
          <a:lstStyle/>
          <a:p>
            <a:pPr algn="ctr"/>
            <a:r>
              <a:rPr lang="en-US" sz="3400" b="1" dirty="0">
                <a:solidFill>
                  <a:srgbClr val="4EED0B"/>
                </a:solidFill>
                <a:latin typeface="Calibri" panose="020F0502020204030204" pitchFamily="34" charset="0"/>
              </a:rPr>
              <a:t>UNIVERSITA DI PISA</a:t>
            </a:r>
            <a:endParaRPr lang="az-Cyrl-AZ" sz="3400" b="1" dirty="0">
              <a:solidFill>
                <a:srgbClr val="4EED0B"/>
              </a:solidFill>
              <a:latin typeface="Calibri" panose="020F0502020204030204" pitchFamily="34" charset="0"/>
            </a:endParaRPr>
          </a:p>
        </p:txBody>
      </p:sp>
      <p:sp>
        <p:nvSpPr>
          <p:cNvPr id="5" name="TextBox 4">
            <a:extLst>
              <a:ext uri="{FF2B5EF4-FFF2-40B4-BE49-F238E27FC236}">
                <a16:creationId xmlns:a16="http://schemas.microsoft.com/office/drawing/2014/main" id="{3116AEC6-A062-401E-A263-7555D6D15D4B}"/>
              </a:ext>
            </a:extLst>
          </p:cNvPr>
          <p:cNvSpPr txBox="1"/>
          <p:nvPr/>
        </p:nvSpPr>
        <p:spPr>
          <a:xfrm>
            <a:off x="3530600" y="3173511"/>
            <a:ext cx="5207000" cy="338554"/>
          </a:xfrm>
          <a:prstGeom prst="rect">
            <a:avLst/>
          </a:prstGeom>
          <a:noFill/>
        </p:spPr>
        <p:txBody>
          <a:bodyPr vert="horz" rtlCol="0">
            <a:spAutoFit/>
          </a:bodyPr>
          <a:lstStyle/>
          <a:p>
            <a:pPr algn="ctr"/>
            <a:r>
              <a:rPr lang="en-US" sz="1600" dirty="0">
                <a:solidFill>
                  <a:srgbClr val="555555"/>
                </a:solidFill>
                <a:latin typeface="Calibri" panose="020F0502020204030204" pitchFamily="34" charset="0"/>
              </a:rPr>
              <a:t>Artificial Intelligence and Data Engineering</a:t>
            </a:r>
            <a:endParaRPr lang="az-Cyrl-AZ" sz="1600" dirty="0">
              <a:solidFill>
                <a:srgbClr val="555555"/>
              </a:solidFill>
              <a:latin typeface="Calibri" panose="020F0502020204030204" pitchFamily="34" charset="0"/>
            </a:endParaRPr>
          </a:p>
        </p:txBody>
      </p:sp>
      <p:sp>
        <p:nvSpPr>
          <p:cNvPr id="6" name="TextBox 5">
            <a:extLst>
              <a:ext uri="{FF2B5EF4-FFF2-40B4-BE49-F238E27FC236}">
                <a16:creationId xmlns:a16="http://schemas.microsoft.com/office/drawing/2014/main" id="{19E510C3-F804-48F1-B7F0-3614C5487147}"/>
              </a:ext>
            </a:extLst>
          </p:cNvPr>
          <p:cNvSpPr txBox="1"/>
          <p:nvPr/>
        </p:nvSpPr>
        <p:spPr>
          <a:xfrm>
            <a:off x="4953000" y="3618011"/>
            <a:ext cx="2794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Cloud Computing</a:t>
            </a:r>
            <a:endParaRPr lang="az-Cyrl-AZ">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150F3E45-B246-4390-943B-CB8A94C9BE1E}"/>
              </a:ext>
            </a:extLst>
          </p:cNvPr>
          <p:cNvSpPr txBox="1"/>
          <p:nvPr/>
        </p:nvSpPr>
        <p:spPr>
          <a:xfrm>
            <a:off x="2717800" y="4292600"/>
            <a:ext cx="7112000" cy="553998"/>
          </a:xfrm>
          <a:prstGeom prst="rect">
            <a:avLst/>
          </a:prstGeom>
          <a:noFill/>
        </p:spPr>
        <p:txBody>
          <a:bodyPr vert="horz" rtlCol="0">
            <a:spAutoFit/>
          </a:bodyPr>
          <a:lstStyle/>
          <a:p>
            <a:pPr algn="ctr"/>
            <a:r>
              <a:rPr lang="en-US" sz="3000" b="1">
                <a:solidFill>
                  <a:srgbClr val="000000"/>
                </a:solidFill>
                <a:latin typeface="Calibri" panose="020F0502020204030204" pitchFamily="34" charset="0"/>
              </a:rPr>
              <a:t>Wikimedia Pageview Analytics</a:t>
            </a:r>
            <a:endParaRPr lang="az-Cyrl-AZ" sz="3000" b="1">
              <a:solidFill>
                <a:srgbClr val="000000"/>
              </a:solidFill>
              <a:latin typeface="Calibri" panose="020F0502020204030204" pitchFamily="34" charset="0"/>
            </a:endParaRPr>
          </a:p>
        </p:txBody>
      </p:sp>
      <p:sp>
        <p:nvSpPr>
          <p:cNvPr id="8" name="TextBox 7">
            <a:extLst>
              <a:ext uri="{FF2B5EF4-FFF2-40B4-BE49-F238E27FC236}">
                <a16:creationId xmlns:a16="http://schemas.microsoft.com/office/drawing/2014/main" id="{94F13106-7980-4FE6-AA61-90C92611A45E}"/>
              </a:ext>
            </a:extLst>
          </p:cNvPr>
          <p:cNvSpPr txBox="1"/>
          <p:nvPr/>
        </p:nvSpPr>
        <p:spPr>
          <a:xfrm>
            <a:off x="4699000" y="5154711"/>
            <a:ext cx="3048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Project Presentation</a:t>
            </a:r>
            <a:endParaRPr lang="az-Cyrl-AZ">
              <a:solidFill>
                <a:srgbClr val="333333"/>
              </a:solidFill>
              <a:latin typeface="Calibri" panose="020F0502020204030204" pitchFamily="34" charset="0"/>
            </a:endParaRPr>
          </a:p>
        </p:txBody>
      </p:sp>
      <p:sp>
        <p:nvSpPr>
          <p:cNvPr id="9" name="TextBox 8">
            <a:extLst>
              <a:ext uri="{FF2B5EF4-FFF2-40B4-BE49-F238E27FC236}">
                <a16:creationId xmlns:a16="http://schemas.microsoft.com/office/drawing/2014/main" id="{C38E4A3F-3AB7-4E25-A43A-3CC99296FC26}"/>
              </a:ext>
            </a:extLst>
          </p:cNvPr>
          <p:cNvSpPr txBox="1"/>
          <p:nvPr/>
        </p:nvSpPr>
        <p:spPr>
          <a:xfrm>
            <a:off x="4597400" y="6170711"/>
            <a:ext cx="3556000" cy="307777"/>
          </a:xfrm>
          <a:prstGeom prst="rect">
            <a:avLst/>
          </a:prstGeom>
          <a:noFill/>
        </p:spPr>
        <p:txBody>
          <a:bodyPr vert="horz" rtlCol="0">
            <a:spAutoFit/>
          </a:bodyPr>
          <a:lstStyle/>
          <a:p>
            <a:pPr algn="ctr"/>
            <a:r>
              <a:rPr lang="en-US" sz="1400">
                <a:solidFill>
                  <a:srgbClr val="555555"/>
                </a:solidFill>
                <a:latin typeface="Calibri" panose="020F0502020204030204" pitchFamily="34" charset="0"/>
              </a:rPr>
              <a:t>Author: Zeynaddin Papakhov</a:t>
            </a:r>
            <a:endParaRPr lang="az-Cyrl-AZ" sz="1400">
              <a:solidFill>
                <a:srgbClr val="555555"/>
              </a:solidFill>
              <a:latin typeface="Calibri" panose="020F0502020204030204" pitchFamily="34" charset="0"/>
            </a:endParaRPr>
          </a:p>
        </p:txBody>
      </p:sp>
    </p:spTree>
    <p:extLst>
      <p:ext uri="{BB962C8B-B14F-4D97-AF65-F5344CB8AC3E}">
        <p14:creationId xmlns:p14="http://schemas.microsoft.com/office/powerpoint/2010/main" val="3304455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70DC36-F7DC-4021-88B1-7B40492B53C8}"/>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1F25339-EF60-458F-B323-7D553BE219E7}"/>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Application Scenario</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5E6F9008-C710-4A0F-82BD-247A05BD8C8F}"/>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Understanding public attention through Wikimedia pageview logs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166B1CB6-A0F3-42B3-B07A-58F5D282431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AC0F5C7E-E286-4E2D-8093-101232DD638F}"/>
              </a:ext>
            </a:extLst>
          </p:cNvPr>
          <p:cNvSpPr txBox="1"/>
          <p:nvPr/>
        </p:nvSpPr>
        <p:spPr>
          <a:xfrm>
            <a:off x="736600" y="1600200"/>
            <a:ext cx="10414000" cy="2446824"/>
          </a:xfrm>
          <a:prstGeom prst="rect">
            <a:avLst/>
          </a:prstGeom>
          <a:noFill/>
        </p:spPr>
        <p:txBody>
          <a:bodyPr vert="horz" rtlCol="0">
            <a:spAutoFit/>
          </a:bodyPr>
          <a:lstStyle/>
          <a:p>
            <a:pPr marL="457200" indent="-457200">
              <a:spcAft>
                <a:spcPts val="800"/>
              </a:spcAft>
              <a:buFont typeface="+mj-lt"/>
              <a:buChar char="•"/>
            </a:pPr>
            <a:r>
              <a:rPr lang="en-US" sz="1900">
                <a:solidFill>
                  <a:srgbClr val="222222"/>
                </a:solidFill>
                <a:latin typeface="Calibri" panose="020F0502020204030204" pitchFamily="34" charset="0"/>
              </a:rPr>
              <a:t>The project analyzes hourly Wikimedia pageview dumps to identify the most visited pages and projects.</a:t>
            </a:r>
          </a:p>
          <a:p>
            <a:pPr marL="457200" indent="-457200">
              <a:spcAft>
                <a:spcPts val="800"/>
              </a:spcAft>
              <a:buFont typeface="+mj-lt"/>
              <a:buChar char="•"/>
            </a:pPr>
            <a:r>
              <a:rPr lang="en-US" sz="1900">
                <a:solidFill>
                  <a:srgbClr val="222222"/>
                </a:solidFill>
                <a:latin typeface="Calibri" panose="020F0502020204030204" pitchFamily="34" charset="0"/>
              </a:rPr>
              <a:t>The input is naturally large, append-only log data, which makes it suitable for HDFS storage and batch processing.</a:t>
            </a:r>
          </a:p>
          <a:p>
            <a:pPr marL="457200" indent="-457200">
              <a:spcAft>
                <a:spcPts val="800"/>
              </a:spcAft>
              <a:buFont typeface="+mj-lt"/>
              <a:buChar char="•"/>
            </a:pPr>
            <a:r>
              <a:rPr lang="en-US" sz="1900">
                <a:solidFill>
                  <a:srgbClr val="222222"/>
                </a:solidFill>
                <a:latin typeface="Calibri" panose="020F0502020204030204" pitchFamily="34" charset="0"/>
              </a:rPr>
              <a:t>The goal is to compare a Java Hadoop MapReduce implementation with a Python non-parallel baseline.</a:t>
            </a:r>
          </a:p>
          <a:p>
            <a:pPr marL="457200" indent="-457200">
              <a:spcAft>
                <a:spcPts val="800"/>
              </a:spcAft>
              <a:buFont typeface="+mj-lt"/>
              <a:buChar char="•"/>
            </a:pPr>
            <a:r>
              <a:rPr lang="en-US" sz="1900">
                <a:solidFill>
                  <a:srgbClr val="222222"/>
                </a:solidFill>
                <a:latin typeface="Calibri" panose="020F0502020204030204" pitchFamily="34" charset="0"/>
              </a:rPr>
              <a:t>The experiments focus on execution time, reducer scalability, and memory behavior.</a:t>
            </a:r>
            <a:endParaRPr lang="az-Cyrl-AZ" sz="1900">
              <a:solidFill>
                <a:srgbClr val="222222"/>
              </a:solidFill>
              <a:latin typeface="Calibri" panose="020F0502020204030204" pitchFamily="34" charset="0"/>
            </a:endParaRPr>
          </a:p>
        </p:txBody>
      </p:sp>
    </p:spTree>
    <p:extLst>
      <p:ext uri="{BB962C8B-B14F-4D97-AF65-F5344CB8AC3E}">
        <p14:creationId xmlns:p14="http://schemas.microsoft.com/office/powerpoint/2010/main" val="34833248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549A593-AFE9-48EA-8F85-CBA1B88EDDD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D7F4455-C3C8-410E-A614-2160C8C0B60A}"/>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BD8CBB5B-2C9A-404E-B7BC-EBF999ED150C}"/>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Wikimedia Pageviews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D028A4E0-F65E-4A6F-97B4-8AAE9C5DA88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2561F8D-D5E1-434C-A00D-CB6BE8C643E3}"/>
              </a:ext>
            </a:extLst>
          </p:cNvPr>
          <p:cNvSpPr/>
          <p:nvPr/>
        </p:nvSpPr>
        <p:spPr>
          <a:xfrm>
            <a:off x="69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0661278A-C9F2-4055-9E0A-0F55F9FF5F34}"/>
              </a:ext>
            </a:extLst>
          </p:cNvPr>
          <p:cNvSpPr txBox="1"/>
          <p:nvPr/>
        </p:nvSpPr>
        <p:spPr>
          <a:xfrm>
            <a:off x="90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Source</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A90637D7-45E8-462A-9DD8-CFC7437D7DA8}"/>
              </a:ext>
            </a:extLst>
          </p:cNvPr>
          <p:cNvSpPr txBox="1"/>
          <p:nvPr/>
        </p:nvSpPr>
        <p:spPr>
          <a:xfrm>
            <a:off x="90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Wikimedia hourly pageview dumps from dumps.wikimedia.org/other/pageviews.</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02427604-4334-47CC-9C0E-0969D0608AFB}"/>
              </a:ext>
            </a:extLst>
          </p:cNvPr>
          <p:cNvSpPr/>
          <p:nvPr/>
        </p:nvSpPr>
        <p:spPr>
          <a:xfrm>
            <a:off x="450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30F8883-323A-4E12-A3A1-16F5970A960E}"/>
              </a:ext>
            </a:extLst>
          </p:cNvPr>
          <p:cNvSpPr txBox="1"/>
          <p:nvPr/>
        </p:nvSpPr>
        <p:spPr>
          <a:xfrm>
            <a:off x="471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Selected Volumes</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B4E15CF5-07E6-47E7-9A0E-03844CAE335A}"/>
              </a:ext>
            </a:extLst>
          </p:cNvPr>
          <p:cNvSpPr txBox="1"/>
          <p:nvPr/>
        </p:nvSpPr>
        <p:spPr>
          <a:xfrm>
            <a:off x="4711700" y="1981200"/>
            <a:ext cx="2768600" cy="692497"/>
          </a:xfrm>
          <a:prstGeom prst="rect">
            <a:avLst/>
          </a:prstGeom>
          <a:noFill/>
        </p:spPr>
        <p:txBody>
          <a:bodyPr vert="horz" rtlCol="0">
            <a:spAutoFit/>
          </a:bodyPr>
          <a:lstStyle/>
          <a:p>
            <a:r>
              <a:rPr lang="en-US" sz="1300">
                <a:solidFill>
                  <a:srgbClr val="333333"/>
                </a:solidFill>
                <a:latin typeface="Calibri" panose="020F0502020204030204" pitchFamily="34" charset="0"/>
              </a:rPr>
              <a:t>1h, 4h, 8h datasets for the main benchmarks, plus a 16h stress test for scalability observation.</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58FA831B-AA67-479C-B3A2-1B92997F6F68}"/>
              </a:ext>
            </a:extLst>
          </p:cNvPr>
          <p:cNvSpPr/>
          <p:nvPr/>
        </p:nvSpPr>
        <p:spPr>
          <a:xfrm>
            <a:off x="831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52B825DA-6333-417F-8355-967A26DEE8FC}"/>
              </a:ext>
            </a:extLst>
          </p:cNvPr>
          <p:cNvSpPr txBox="1"/>
          <p:nvPr/>
        </p:nvSpPr>
        <p:spPr>
          <a:xfrm>
            <a:off x="852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Record Fields</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AD37F45E-7525-4560-8AE3-7C45A20F901C}"/>
              </a:ext>
            </a:extLst>
          </p:cNvPr>
          <p:cNvSpPr txBox="1"/>
          <p:nvPr/>
        </p:nvSpPr>
        <p:spPr>
          <a:xfrm>
            <a:off x="852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Each line contains project, page title, view count, and response size. The analytics use the project, page, and view count fields.</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3AB8A36D-CBE9-4595-8952-370BAFC6141C}"/>
              </a:ext>
            </a:extLst>
          </p:cNvPr>
          <p:cNvSpPr txBox="1"/>
          <p:nvPr/>
        </p:nvSpPr>
        <p:spPr>
          <a:xfrm>
            <a:off x="914400" y="4953000"/>
            <a:ext cx="10414000" cy="584775"/>
          </a:xfrm>
          <a:prstGeom prst="rect">
            <a:avLst/>
          </a:prstGeom>
          <a:noFill/>
        </p:spPr>
        <p:txBody>
          <a:bodyPr vert="horz" rtlCol="0">
            <a:spAutoFit/>
          </a:bodyPr>
          <a:lstStyle/>
          <a:p>
            <a:r>
              <a:rPr lang="en-US" sz="1600">
                <a:solidFill>
                  <a:srgbClr val="333333"/>
                </a:solidFill>
                <a:latin typeface="Calibri" panose="020F0502020204030204" pitchFamily="34" charset="0"/>
              </a:rPr>
              <a:t>The dataset was chosen because it is public, structured, scalable by hour, and large enough to show batch-processing trade-offs.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3716294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A407D04-7987-4D15-84AC-EEBB8D02BB7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AD6BBD7D-40FE-481B-B69F-5B9C66AC325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D35A9FB-E6C8-4E6A-B44A-A12C4AE3BE51}"/>
              </a:ext>
            </a:extLst>
          </p:cNvPr>
          <p:cNvSpPr txBox="1"/>
          <p:nvPr/>
        </p:nvSpPr>
        <p:spPr>
          <a:xfrm>
            <a:off x="482600" y="838200"/>
            <a:ext cx="10795000" cy="338554"/>
          </a:xfrm>
          <a:prstGeom prst="rect">
            <a:avLst/>
          </a:prstGeom>
          <a:noFill/>
        </p:spPr>
        <p:txBody>
          <a:bodyPr vert="horz" rtlCol="0">
            <a:spAutoFit/>
          </a:bodyPr>
          <a:lstStyle/>
          <a:p>
            <a:r>
              <a:rPr lang="en-US" sz="1600">
                <a:solidFill>
                  <a:srgbClr val="525252"/>
                </a:solidFill>
                <a:latin typeface="Calibri" panose="020F0502020204030204" pitchFamily="34" charset="0"/>
              </a:rPr>
              <a:t>Compressed storage size vs logical text processed by Hadoop</a:t>
            </a:r>
            <a:endParaRPr lang="az-Cyrl-AZ" sz="1600">
              <a:solidFill>
                <a:srgbClr val="525252"/>
              </a:solidFill>
              <a:latin typeface="Calibri" panose="020F0502020204030204" pitchFamily="34" charset="0"/>
            </a:endParaRPr>
          </a:p>
        </p:txBody>
      </p:sp>
      <p:graphicFrame>
        <p:nvGraphicFramePr>
          <p:cNvPr id="5" name="Table 4">
            <a:extLst>
              <a:ext uri="{FF2B5EF4-FFF2-40B4-BE49-F238E27FC236}">
                <a16:creationId xmlns:a16="http://schemas.microsoft.com/office/drawing/2014/main" id="{955EA40B-35D9-45A3-A1FF-C020D8984F6A}"/>
              </a:ext>
            </a:extLst>
          </p:cNvPr>
          <p:cNvGraphicFramePr>
            <a:graphicFrameLocks noGrp="1"/>
          </p:cNvGraphicFramePr>
          <p:nvPr>
            <p:extLst>
              <p:ext uri="{D42A27DB-BD31-4B8C-83A1-F6EECF244321}">
                <p14:modId xmlns:p14="http://schemas.microsoft.com/office/powerpoint/2010/main" val="3028418743"/>
              </p:ext>
            </p:extLst>
          </p:nvPr>
        </p:nvGraphicFramePr>
        <p:xfrm>
          <a:off x="762000" y="1524000"/>
          <a:ext cx="10668000" cy="266700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3542559096"/>
                    </a:ext>
                  </a:extLst>
                </a:gridCol>
                <a:gridCol w="2133600">
                  <a:extLst>
                    <a:ext uri="{9D8B030D-6E8A-4147-A177-3AD203B41FA5}">
                      <a16:colId xmlns:a16="http://schemas.microsoft.com/office/drawing/2014/main" val="424846365"/>
                    </a:ext>
                  </a:extLst>
                </a:gridCol>
                <a:gridCol w="2133600">
                  <a:extLst>
                    <a:ext uri="{9D8B030D-6E8A-4147-A177-3AD203B41FA5}">
                      <a16:colId xmlns:a16="http://schemas.microsoft.com/office/drawing/2014/main" val="2827477289"/>
                    </a:ext>
                  </a:extLst>
                </a:gridCol>
                <a:gridCol w="2133600">
                  <a:extLst>
                    <a:ext uri="{9D8B030D-6E8A-4147-A177-3AD203B41FA5}">
                      <a16:colId xmlns:a16="http://schemas.microsoft.com/office/drawing/2014/main" val="4042913416"/>
                    </a:ext>
                  </a:extLst>
                </a:gridCol>
                <a:gridCol w="2133600">
                  <a:extLst>
                    <a:ext uri="{9D8B030D-6E8A-4147-A177-3AD203B41FA5}">
                      <a16:colId xmlns:a16="http://schemas.microsoft.com/office/drawing/2014/main" val="1275781823"/>
                    </a:ext>
                  </a:extLst>
                </a:gridCol>
              </a:tblGrid>
              <a:tr h="533400">
                <a:tc>
                  <a:txBody>
                    <a:bodyPr/>
                    <a:lstStyle/>
                    <a:p>
                      <a:r>
                        <a:rPr lang="en-US" sz="1300" b="1">
                          <a:latin typeface="Calibri" panose="020F0502020204030204" pitchFamily="34" charset="0"/>
                        </a:rPr>
                        <a:t>Subset</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Files</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Decompressed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HDFS with repl.</a:t>
                      </a:r>
                      <a:endParaRPr lang="az-Cyrl-AZ" sz="1300" b="1">
                        <a:latin typeface="Calibri" panose="020F0502020204030204" pitchFamily="34" charset="0"/>
                      </a:endParaRPr>
                    </a:p>
                  </a:txBody>
                  <a:tcPr>
                    <a:solidFill>
                      <a:srgbClr val="E4E4E4"/>
                    </a:solidFill>
                  </a:tcPr>
                </a:tc>
                <a:extLst>
                  <a:ext uri="{0D108BD9-81ED-4DB2-BD59-A6C34878D82A}">
                    <a16:rowId xmlns:a16="http://schemas.microsoft.com/office/drawing/2014/main" val="4061520799"/>
                  </a:ext>
                </a:extLst>
              </a:tr>
              <a:tr h="533400">
                <a:tc>
                  <a:txBody>
                    <a:bodyPr/>
                    <a:lstStyle/>
                    <a:p>
                      <a:r>
                        <a:rPr lang="en-US" sz="1200">
                          <a:latin typeface="Calibri" panose="020F0502020204030204" pitchFamily="34" charset="0"/>
                        </a:rPr>
                        <a:t>1h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a:t>
                      </a:r>
                    </a:p>
                  </a:txBody>
                  <a:tcPr/>
                </a:tc>
                <a:tc>
                  <a:txBody>
                    <a:bodyPr/>
                    <a:lstStyle/>
                    <a:p>
                      <a:r>
                        <a:rPr lang="en-US" sz="1200">
                          <a:latin typeface="Calibri" panose="020F0502020204030204" pitchFamily="34" charset="0"/>
                        </a:rPr>
                        <a:t>51.7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185.6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103.5 MiB</a:t>
                      </a:r>
                      <a:endParaRPr lang="az-Cyrl-AZ" sz="1200">
                        <a:latin typeface="Calibri" panose="020F0502020204030204" pitchFamily="34" charset="0"/>
                      </a:endParaRPr>
                    </a:p>
                  </a:txBody>
                  <a:tcPr/>
                </a:tc>
                <a:extLst>
                  <a:ext uri="{0D108BD9-81ED-4DB2-BD59-A6C34878D82A}">
                    <a16:rowId xmlns:a16="http://schemas.microsoft.com/office/drawing/2014/main" val="2596008393"/>
                  </a:ext>
                </a:extLst>
              </a:tr>
              <a:tr h="533400">
                <a:tc>
                  <a:txBody>
                    <a:bodyPr/>
                    <a:lstStyle/>
                    <a:p>
                      <a:r>
                        <a:rPr lang="en-US" sz="1200">
                          <a:latin typeface="Calibri" panose="020F0502020204030204" pitchFamily="34" charset="0"/>
                        </a:rPr>
                        <a:t>4h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4</a:t>
                      </a:r>
                    </a:p>
                  </a:txBody>
                  <a:tcPr/>
                </a:tc>
                <a:tc>
                  <a:txBody>
                    <a:bodyPr/>
                    <a:lstStyle/>
                    <a:p>
                      <a:r>
                        <a:rPr lang="en-US" sz="1200">
                          <a:latin typeface="Calibri" panose="020F0502020204030204" pitchFamily="34" charset="0"/>
                        </a:rPr>
                        <a:t>199.9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723.2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399.8 MiB</a:t>
                      </a:r>
                      <a:endParaRPr lang="az-Cyrl-AZ" sz="1200">
                        <a:latin typeface="Calibri" panose="020F0502020204030204" pitchFamily="34" charset="0"/>
                      </a:endParaRPr>
                    </a:p>
                  </a:txBody>
                  <a:tcPr/>
                </a:tc>
                <a:extLst>
                  <a:ext uri="{0D108BD9-81ED-4DB2-BD59-A6C34878D82A}">
                    <a16:rowId xmlns:a16="http://schemas.microsoft.com/office/drawing/2014/main" val="4156420048"/>
                  </a:ext>
                </a:extLst>
              </a:tr>
              <a:tr h="533400">
                <a:tc>
                  <a:txBody>
                    <a:bodyPr/>
                    <a:lstStyle/>
                    <a:p>
                      <a:r>
                        <a:rPr lang="en-US" sz="1200">
                          <a:latin typeface="Calibri" panose="020F0502020204030204" pitchFamily="34" charset="0"/>
                        </a:rPr>
                        <a:t>8h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8</a:t>
                      </a:r>
                    </a:p>
                  </a:txBody>
                  <a:tcPr/>
                </a:tc>
                <a:tc>
                  <a:txBody>
                    <a:bodyPr/>
                    <a:lstStyle/>
                    <a:p>
                      <a:r>
                        <a:rPr lang="en-US" sz="1200">
                          <a:latin typeface="Calibri" panose="020F0502020204030204" pitchFamily="34" charset="0"/>
                        </a:rPr>
                        <a:t>400.6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1.42 GiB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801.3 MiB</a:t>
                      </a:r>
                      <a:endParaRPr lang="az-Cyrl-AZ" sz="1200">
                        <a:latin typeface="Calibri" panose="020F0502020204030204" pitchFamily="34" charset="0"/>
                      </a:endParaRPr>
                    </a:p>
                  </a:txBody>
                  <a:tcPr/>
                </a:tc>
                <a:extLst>
                  <a:ext uri="{0D108BD9-81ED-4DB2-BD59-A6C34878D82A}">
                    <a16:rowId xmlns:a16="http://schemas.microsoft.com/office/drawing/2014/main" val="877955274"/>
                  </a:ext>
                </a:extLst>
              </a:tr>
              <a:tr h="533400">
                <a:tc>
                  <a:txBody>
                    <a:bodyPr/>
                    <a:lstStyle/>
                    <a:p>
                      <a:r>
                        <a:rPr lang="en-US" sz="1200">
                          <a:latin typeface="Calibri" panose="020F0502020204030204" pitchFamily="34" charset="0"/>
                        </a:rPr>
                        <a:t>16h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16</a:t>
                      </a:r>
                    </a:p>
                  </a:txBody>
                  <a:tcPr/>
                </a:tc>
                <a:tc>
                  <a:txBody>
                    <a:bodyPr/>
                    <a:lstStyle/>
                    <a:p>
                      <a:r>
                        <a:rPr lang="en-US" sz="1200">
                          <a:latin typeface="Calibri" panose="020F0502020204030204" pitchFamily="34" charset="0"/>
                        </a:rPr>
                        <a:t>845.4 MiB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2.97 GiB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1.7 GiB</a:t>
                      </a:r>
                      <a:endParaRPr lang="az-Cyrl-AZ" sz="1200">
                        <a:latin typeface="Calibri" panose="020F0502020204030204" pitchFamily="34" charset="0"/>
                      </a:endParaRPr>
                    </a:p>
                  </a:txBody>
                  <a:tcPr/>
                </a:tc>
                <a:extLst>
                  <a:ext uri="{0D108BD9-81ED-4DB2-BD59-A6C34878D82A}">
                    <a16:rowId xmlns:a16="http://schemas.microsoft.com/office/drawing/2014/main" val="2464195952"/>
                  </a:ext>
                </a:extLst>
              </a:tr>
            </a:tbl>
          </a:graphicData>
        </a:graphic>
      </p:graphicFrame>
      <p:sp>
        <p:nvSpPr>
          <p:cNvPr id="6" name="TextBox 5">
            <a:extLst>
              <a:ext uri="{FF2B5EF4-FFF2-40B4-BE49-F238E27FC236}">
                <a16:creationId xmlns:a16="http://schemas.microsoft.com/office/drawing/2014/main" id="{79398968-0C9C-42AA-AC21-8A0A834E0571}"/>
              </a:ext>
            </a:extLst>
          </p:cNvPr>
          <p:cNvSpPr txBox="1"/>
          <p:nvPr/>
        </p:nvSpPr>
        <p:spPr>
          <a:xfrm>
            <a:off x="889000" y="4572000"/>
            <a:ext cx="10414000" cy="784830"/>
          </a:xfrm>
          <a:prstGeom prst="rect">
            <a:avLst/>
          </a:prstGeom>
          <a:noFill/>
        </p:spPr>
        <p:txBody>
          <a:bodyPr vert="horz" rtlCol="0">
            <a:spAutoFit/>
          </a:bodyPr>
          <a:lstStyle/>
          <a:p>
            <a:r>
              <a:rPr lang="en-US" sz="1500">
                <a:solidFill>
                  <a:srgbClr val="333333"/>
                </a:solidFill>
                <a:latin typeface="Calibri" panose="020F0502020204030204" pitchFamily="34" charset="0"/>
              </a:rPr>
              <a:t>The input files are stored as gzip-compressed Wikimedia hourly dumps. Hadoop stores the compressed files in HDFS, but during MapReduce execution it reads the decompressed text records. The HDFS physical usage is higher because the cluster uses replication factor 2.</a:t>
            </a:r>
            <a:endParaRPr lang="az-Cyrl-AZ" sz="1500">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C04A0ED2-1D64-4B86-9C5E-157877B1D83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Tree>
    <p:extLst>
      <p:ext uri="{BB962C8B-B14F-4D97-AF65-F5344CB8AC3E}">
        <p14:creationId xmlns:p14="http://schemas.microsoft.com/office/powerpoint/2010/main" val="509902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538F13-4F22-4B2F-97E1-D187E038B049}"/>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72FDCF7A-DB6B-44CD-B030-E209BDA9F1E2}"/>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System Architecture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EBF0BD3-4620-40A3-A403-D42B89CD85B6}"/>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Single-student pseudo-distributed Hadoop environment</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EA532589-3912-4A27-90A6-F946D2E9E7C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1C8FE879-0BAD-4F3E-839B-371B4CAA8722}"/>
              </a:ext>
            </a:extLst>
          </p:cNvPr>
          <p:cNvSpPr/>
          <p:nvPr/>
        </p:nvSpPr>
        <p:spPr>
          <a:xfrm>
            <a:off x="762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E497E3B2-B9CA-435B-85D5-02D14942E011}"/>
              </a:ext>
            </a:extLst>
          </p:cNvPr>
          <p:cNvSpPr txBox="1"/>
          <p:nvPr/>
        </p:nvSpPr>
        <p:spPr>
          <a:xfrm>
            <a:off x="965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Storage Layer</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E32D24C-91E0-4ABD-8738-2E8BDB1A9C9D}"/>
              </a:ext>
            </a:extLst>
          </p:cNvPr>
          <p:cNvSpPr txBox="1"/>
          <p:nvPr/>
        </p:nvSpPr>
        <p:spPr>
          <a:xfrm>
            <a:off x="965200" y="2019300"/>
            <a:ext cx="2578100" cy="892552"/>
          </a:xfrm>
          <a:prstGeom prst="rect">
            <a:avLst/>
          </a:prstGeom>
          <a:noFill/>
        </p:spPr>
        <p:txBody>
          <a:bodyPr vert="horz" rtlCol="0">
            <a:spAutoFit/>
          </a:bodyPr>
          <a:lstStyle/>
          <a:p>
            <a:r>
              <a:rPr lang="en-US" sz="1300">
                <a:solidFill>
                  <a:srgbClr val="333333"/>
                </a:solidFill>
                <a:latin typeface="Calibri" panose="020F0502020204030204" pitchFamily="34" charset="0"/>
              </a:rPr>
              <a:t>Input files are stored in HDFS under /user/hadoop/single_project/input. Intermediate and final outputs are also written to HDFS.</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F2697ED3-B1F1-4E9F-814E-7E2AA9BF7B9A}"/>
              </a:ext>
            </a:extLst>
          </p:cNvPr>
          <p:cNvSpPr/>
          <p:nvPr/>
        </p:nvSpPr>
        <p:spPr>
          <a:xfrm>
            <a:off x="46355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CCF6B51-84E9-4332-8B67-F4599042EFFC}"/>
              </a:ext>
            </a:extLst>
          </p:cNvPr>
          <p:cNvSpPr txBox="1"/>
          <p:nvPr/>
        </p:nvSpPr>
        <p:spPr>
          <a:xfrm>
            <a:off x="48387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Processing Layer</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DA32CB71-F311-47CF-B860-48CA1973F891}"/>
              </a:ext>
            </a:extLst>
          </p:cNvPr>
          <p:cNvSpPr txBox="1"/>
          <p:nvPr/>
        </p:nvSpPr>
        <p:spPr>
          <a:xfrm>
            <a:off x="4838700" y="2019300"/>
            <a:ext cx="2578100" cy="692497"/>
          </a:xfrm>
          <a:prstGeom prst="rect">
            <a:avLst/>
          </a:prstGeom>
          <a:noFill/>
        </p:spPr>
        <p:txBody>
          <a:bodyPr vert="horz" rtlCol="0">
            <a:spAutoFit/>
          </a:bodyPr>
          <a:lstStyle/>
          <a:p>
            <a:r>
              <a:rPr lang="en-US" sz="1300">
                <a:solidFill>
                  <a:srgbClr val="333333"/>
                </a:solidFill>
                <a:latin typeface="Calibri" panose="020F0502020204030204" pitchFamily="34" charset="0"/>
              </a:rPr>
              <a:t>YARN runs the Hadoop MapReduce jobs. The Java application is executed as a packaged JAR.</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B0ECEC08-F88E-4A07-BCF2-31FD0D3731AE}"/>
              </a:ext>
            </a:extLst>
          </p:cNvPr>
          <p:cNvSpPr/>
          <p:nvPr/>
        </p:nvSpPr>
        <p:spPr>
          <a:xfrm>
            <a:off x="8509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DC6E2BD9-5C74-4EB9-84A1-AAD45F65782D}"/>
              </a:ext>
            </a:extLst>
          </p:cNvPr>
          <p:cNvSpPr txBox="1"/>
          <p:nvPr/>
        </p:nvSpPr>
        <p:spPr>
          <a:xfrm>
            <a:off x="8712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Baseline Layer</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243D81EB-B47A-49E8-ADF5-A49BADF19F86}"/>
              </a:ext>
            </a:extLst>
          </p:cNvPr>
          <p:cNvSpPr txBox="1"/>
          <p:nvPr/>
        </p:nvSpPr>
        <p:spPr>
          <a:xfrm>
            <a:off x="8712200" y="2019300"/>
            <a:ext cx="2578100" cy="692497"/>
          </a:xfrm>
          <a:prstGeom prst="rect">
            <a:avLst/>
          </a:prstGeom>
          <a:noFill/>
        </p:spPr>
        <p:txBody>
          <a:bodyPr vert="horz" rtlCol="0">
            <a:spAutoFit/>
          </a:bodyPr>
          <a:lstStyle/>
          <a:p>
            <a:r>
              <a:rPr lang="en-US" sz="1300">
                <a:solidFill>
                  <a:srgbClr val="333333"/>
                </a:solidFill>
                <a:latin typeface="Calibri" panose="020F0502020204030204" pitchFamily="34" charset="0"/>
              </a:rPr>
              <a:t>The Python sequential script processes the same local data without parallel execution.</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D49DBE43-783A-4290-8282-6D18B0AF8490}"/>
              </a:ext>
            </a:extLst>
          </p:cNvPr>
          <p:cNvSpPr txBox="1"/>
          <p:nvPr/>
        </p:nvSpPr>
        <p:spPr>
          <a:xfrm>
            <a:off x="889000" y="5080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This setup keeps the comparison controlled: same dataset, same analytics logic, but different execution models.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4227495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C71D7E-94FC-4EEE-88E6-C7803F640900}"/>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1116F8-356C-447A-8D2C-32BEAAFA4993}"/>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Analytics Workflow</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4F41A457-BBFC-4888-9A98-5DFC36D037DD}"/>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Two non-iterative MapReduce jobs in cascade</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F84CBF6C-D280-4111-A852-F89ADFD4352F}"/>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35B3FA8B-FD6D-479D-B95C-DA1BB3638153}"/>
              </a:ext>
            </a:extLst>
          </p:cNvPr>
          <p:cNvSpPr txBox="1"/>
          <p:nvPr/>
        </p:nvSpPr>
        <p:spPr>
          <a:xfrm>
            <a:off x="736600" y="1587500"/>
            <a:ext cx="10541000" cy="2339102"/>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Job 1 performs ETL: parses pageview lines, filters invalid records, normalizes project/page data, and emits structured records.</a:t>
            </a:r>
          </a:p>
          <a:p>
            <a:pPr marL="342900" indent="-342900">
              <a:spcAft>
                <a:spcPts val="800"/>
              </a:spcAft>
              <a:buFont typeface="+mj-lt"/>
              <a:buChar char="•"/>
            </a:pPr>
            <a:r>
              <a:rPr lang="en-US">
                <a:solidFill>
                  <a:srgbClr val="222222"/>
                </a:solidFill>
                <a:latin typeface="Calibri" panose="020F0502020204030204" pitchFamily="34" charset="0"/>
              </a:rPr>
              <a:t>Job 2 performs analytics: aggregates page views, ranks the most visited projects and pages, and writes compact result files.</a:t>
            </a:r>
          </a:p>
          <a:p>
            <a:pPr marL="342900" indent="-342900">
              <a:spcAft>
                <a:spcPts val="800"/>
              </a:spcAft>
              <a:buFont typeface="+mj-lt"/>
              <a:buChar char="•"/>
            </a:pPr>
            <a:r>
              <a:rPr lang="en-US">
                <a:solidFill>
                  <a:srgbClr val="222222"/>
                </a:solidFill>
                <a:latin typeface="Calibri" panose="020F0502020204030204" pitchFamily="34" charset="0"/>
              </a:rPr>
              <a:t>The output keeps the top 10 pages and top 10 projects to make the results easy to inspect and compare.</a:t>
            </a:r>
          </a:p>
          <a:p>
            <a:pPr marL="342900" indent="-342900">
              <a:spcAft>
                <a:spcPts val="800"/>
              </a:spcAft>
              <a:buFont typeface="+mj-lt"/>
              <a:buChar char="•"/>
            </a:pPr>
            <a:r>
              <a:rPr lang="en-US">
                <a:solidFill>
                  <a:srgbClr val="222222"/>
                </a:solidFill>
                <a:latin typeface="Calibri" panose="020F0502020204030204" pitchFamily="34" charset="0"/>
              </a:rPr>
              <a:t>The sequential baseline implements the same analytics in Python for correctness and performance comparison.</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1164307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85236A-2578-4758-B492-4B3A6482F10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7A36AF-61EC-4A5C-8833-224478E0F0D4}"/>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Hadoop Implementation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F693278D-7089-4947-B6B6-58E1B6B2C32B}"/>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Main design choices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A88D9D2A-8709-41B3-9841-C1A404D00E2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E66B25C3-F02B-4F2A-834B-5F5B30783F4D}"/>
              </a:ext>
            </a:extLst>
          </p:cNvPr>
          <p:cNvSpPr txBox="1"/>
          <p:nvPr/>
        </p:nvSpPr>
        <p:spPr>
          <a:xfrm>
            <a:off x="736600" y="1498600"/>
            <a:ext cx="10541000" cy="1887696"/>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Implemented in Java inside WikimediaPageviewAnalytics.java.</a:t>
            </a:r>
          </a:p>
          <a:p>
            <a:pPr marL="342900" indent="-342900">
              <a:spcAft>
                <a:spcPts val="800"/>
              </a:spcAft>
              <a:buFont typeface="+mj-lt"/>
              <a:buChar char="•"/>
            </a:pPr>
            <a:r>
              <a:rPr lang="en-US">
                <a:solidFill>
                  <a:srgbClr val="222222"/>
                </a:solidFill>
                <a:latin typeface="Calibri" panose="020F0502020204030204" pitchFamily="34" charset="0"/>
              </a:rPr>
              <a:t>Uses a custom Writable object to pass structured pageview records between stages.</a:t>
            </a:r>
          </a:p>
          <a:p>
            <a:pPr marL="342900" indent="-342900">
              <a:spcAft>
                <a:spcPts val="800"/>
              </a:spcAft>
              <a:buFont typeface="+mj-lt"/>
              <a:buChar char="•"/>
            </a:pPr>
            <a:r>
              <a:rPr lang="en-US">
                <a:solidFill>
                  <a:srgbClr val="222222"/>
                </a:solidFill>
                <a:latin typeface="Calibri" panose="020F0502020204030204" pitchFamily="34" charset="0"/>
              </a:rPr>
              <a:t>Uses in-mapper combining to reduce repeated local emissions before shuffle.</a:t>
            </a:r>
          </a:p>
          <a:p>
            <a:pPr marL="342900" indent="-342900">
              <a:spcAft>
                <a:spcPts val="800"/>
              </a:spcAft>
              <a:buFont typeface="+mj-lt"/>
              <a:buChar char="•"/>
            </a:pPr>
            <a:r>
              <a:rPr lang="en-US">
                <a:solidFill>
                  <a:srgbClr val="222222"/>
                </a:solidFill>
                <a:latin typeface="Calibri" panose="020F0502020204030204" pitchFamily="34" charset="0"/>
              </a:rPr>
              <a:t>Uses setup() and cleanup() methods to initialize local state and emit final aggregated values.</a:t>
            </a:r>
          </a:p>
          <a:p>
            <a:pPr marL="342900" indent="-342900">
              <a:spcAft>
                <a:spcPts val="800"/>
              </a:spcAft>
              <a:buFont typeface="+mj-lt"/>
              <a:buChar char="•"/>
            </a:pPr>
            <a:r>
              <a:rPr lang="en-US">
                <a:solidFill>
                  <a:srgbClr val="222222"/>
                </a:solidFill>
                <a:latin typeface="Calibri" panose="020F0502020204030204" pitchFamily="34" charset="0"/>
              </a:rPr>
              <a:t>Uses a custom partitioner so related keys are distributed consistently across reducers.</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3139004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4E2BE-77A9-410D-824B-4F785659DA1D}"/>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31A51D-E180-4B27-A180-E16C2E96B77F}"/>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Experimental Configuration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CA656F8-89AB-4073-A21C-7E5CA2B9B224}"/>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Controlled parameters used in the benchmarks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4FE58D1A-D6F4-4B55-898E-3752149124CE}"/>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0B211F3-FA7C-416E-B4AF-B465C127825D}"/>
              </a:ext>
            </a:extLst>
          </p:cNvPr>
          <p:cNvSpPr/>
          <p:nvPr/>
        </p:nvSpPr>
        <p:spPr>
          <a:xfrm>
            <a:off x="698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18EF7A2D-C88B-49DB-8AEE-6EA8A6AABE33}"/>
              </a:ext>
            </a:extLst>
          </p:cNvPr>
          <p:cNvSpPr txBox="1"/>
          <p:nvPr/>
        </p:nvSpPr>
        <p:spPr>
          <a:xfrm>
            <a:off x="901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Dataset Size Benchmark</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F7AEA37-80C3-41C9-AC85-C02726162298}"/>
              </a:ext>
            </a:extLst>
          </p:cNvPr>
          <p:cNvSpPr txBox="1"/>
          <p:nvPr/>
        </p:nvSpPr>
        <p:spPr>
          <a:xfrm>
            <a:off x="901700" y="1981200"/>
            <a:ext cx="2895600" cy="692497"/>
          </a:xfrm>
          <a:prstGeom prst="rect">
            <a:avLst/>
          </a:prstGeom>
          <a:noFill/>
        </p:spPr>
        <p:txBody>
          <a:bodyPr vert="horz" rtlCol="0">
            <a:spAutoFit/>
          </a:bodyPr>
          <a:lstStyle/>
          <a:p>
            <a:r>
              <a:rPr lang="pt-BR" sz="1300">
                <a:solidFill>
                  <a:srgbClr val="333333"/>
                </a:solidFill>
                <a:latin typeface="Calibri" panose="020F0502020204030204" pitchFamily="34" charset="0"/>
              </a:rPr>
              <a:t>1h, 4h, 8h
Hadoop: 4 reducers
Sequential: same data</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36A9FE4F-7FB2-4D10-AE97-481879C84126}"/>
              </a:ext>
            </a:extLst>
          </p:cNvPr>
          <p:cNvSpPr/>
          <p:nvPr/>
        </p:nvSpPr>
        <p:spPr>
          <a:xfrm>
            <a:off x="44450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22D2DDD7-D7D6-4CDC-BEE2-3AD989DC42D1}"/>
              </a:ext>
            </a:extLst>
          </p:cNvPr>
          <p:cNvSpPr txBox="1"/>
          <p:nvPr/>
        </p:nvSpPr>
        <p:spPr>
          <a:xfrm>
            <a:off x="46482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Reducer Benchmark</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ED8B99B2-A3B5-42AE-AC3F-F023212A176C}"/>
              </a:ext>
            </a:extLst>
          </p:cNvPr>
          <p:cNvSpPr txBox="1"/>
          <p:nvPr/>
        </p:nvSpPr>
        <p:spPr>
          <a:xfrm>
            <a:off x="4648200" y="1981200"/>
            <a:ext cx="2895600" cy="692497"/>
          </a:xfrm>
          <a:prstGeom prst="rect">
            <a:avLst/>
          </a:prstGeom>
          <a:noFill/>
        </p:spPr>
        <p:txBody>
          <a:bodyPr vert="horz" rtlCol="0">
            <a:spAutoFit/>
          </a:bodyPr>
          <a:lstStyle/>
          <a:p>
            <a:r>
              <a:rPr lang="en-US" sz="1300">
                <a:solidFill>
                  <a:srgbClr val="333333"/>
                </a:solidFill>
                <a:latin typeface="Calibri" panose="020F0502020204030204" pitchFamily="34" charset="0"/>
              </a:rPr>
              <a:t>4h dataset
Reducers: 1, 2, 4, 8
Hadoop only</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A835687E-BD0C-4B38-B412-CE11EAE7462B}"/>
              </a:ext>
            </a:extLst>
          </p:cNvPr>
          <p:cNvSpPr/>
          <p:nvPr/>
        </p:nvSpPr>
        <p:spPr>
          <a:xfrm>
            <a:off x="8191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84010540-B7F7-444B-944B-48BBF201BC41}"/>
              </a:ext>
            </a:extLst>
          </p:cNvPr>
          <p:cNvSpPr txBox="1"/>
          <p:nvPr/>
        </p:nvSpPr>
        <p:spPr>
          <a:xfrm>
            <a:off x="8394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Memory Benchmark</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41602DD7-9ACD-4571-A224-0782DD38A987}"/>
              </a:ext>
            </a:extLst>
          </p:cNvPr>
          <p:cNvSpPr txBox="1"/>
          <p:nvPr/>
        </p:nvSpPr>
        <p:spPr>
          <a:xfrm>
            <a:off x="8394700" y="1981200"/>
            <a:ext cx="2895600" cy="692497"/>
          </a:xfrm>
          <a:prstGeom prst="rect">
            <a:avLst/>
          </a:prstGeom>
          <a:noFill/>
        </p:spPr>
        <p:txBody>
          <a:bodyPr vert="horz" rtlCol="0">
            <a:spAutoFit/>
          </a:bodyPr>
          <a:lstStyle/>
          <a:p>
            <a:r>
              <a:rPr lang="en-US" sz="1300">
                <a:solidFill>
                  <a:srgbClr val="333333"/>
                </a:solidFill>
                <a:latin typeface="Calibri" panose="020F0502020204030204" pitchFamily="34" charset="0"/>
              </a:rPr>
              <a:t>1h, 4h, 8h
Hadoop: average YARN allocated MB
Sequential: peak RSS MB</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4D0B38ED-F9BC-4329-B895-4F2F5C8E5729}"/>
              </a:ext>
            </a:extLst>
          </p:cNvPr>
          <p:cNvSpPr txBox="1"/>
          <p:nvPr/>
        </p:nvSpPr>
        <p:spPr>
          <a:xfrm>
            <a:off x="914400" y="4953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All benchmarks were designed as separate scripts so each experiment can be run and interpreted independently.</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1489195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0A8493-E5A9-40DA-A72D-5CCC7677351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D4B23D93-455A-4A3C-B31C-C0A695EDF760}"/>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98DB742-405B-46D4-BC86-84DEBE4759F8}"/>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Hadoop with 4 reducers vs Python sequential baseline</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56A2312-5998-40E1-B49D-8A7276F1E977}"/>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1B105F7F-AE79-4709-B17C-92ED512D17E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953000"/>
          </a:xfrm>
          <a:prstGeom prst="rect">
            <a:avLst/>
          </a:prstGeom>
        </p:spPr>
      </p:pic>
      <p:sp>
        <p:nvSpPr>
          <p:cNvPr id="8" name="TextBox 7">
            <a:extLst>
              <a:ext uri="{FF2B5EF4-FFF2-40B4-BE49-F238E27FC236}">
                <a16:creationId xmlns:a16="http://schemas.microsoft.com/office/drawing/2014/main" id="{EF212B7A-47B9-4B09-BC99-674FFF30C52E}"/>
              </a:ext>
            </a:extLst>
          </p:cNvPr>
          <p:cNvSpPr txBox="1"/>
          <p:nvPr/>
        </p:nvSpPr>
        <p:spPr>
          <a:xfrm>
            <a:off x="787400" y="5969000"/>
            <a:ext cx="10617200" cy="492443"/>
          </a:xfrm>
          <a:prstGeom prst="rect">
            <a:avLst/>
          </a:prstGeom>
          <a:noFill/>
        </p:spPr>
        <p:txBody>
          <a:bodyPr vert="horz" rtlCol="0">
            <a:spAutoFit/>
          </a:bodyPr>
          <a:lstStyle/>
          <a:p>
            <a:r>
              <a:rPr lang="en-US" sz="1300">
                <a:solidFill>
                  <a:srgbClr val="333333"/>
                </a:solidFill>
                <a:latin typeface="Calibri" panose="020F0502020204030204" pitchFamily="34" charset="0"/>
              </a:rPr>
              <a:t>Sequential processing is faster on 1h, 4h, and 8h because the single-VM setup makes Hadoop startup, shuffle, and disk I/O overhead dominant. The 16h stress test shows the opposite scalability risk: Hadoop completes, while the Python process is killed under memory pressure.</a:t>
            </a:r>
            <a:endParaRPr lang="az-Cyrl-AZ" sz="1300">
              <a:solidFill>
                <a:srgbClr val="333333"/>
              </a:solidFill>
              <a:latin typeface="Calibri" panose="020F0502020204030204" pitchFamily="34" charset="0"/>
            </a:endParaRPr>
          </a:p>
        </p:txBody>
      </p:sp>
    </p:spTree>
    <p:extLst>
      <p:ext uri="{BB962C8B-B14F-4D97-AF65-F5344CB8AC3E}">
        <p14:creationId xmlns:p14="http://schemas.microsoft.com/office/powerpoint/2010/main" val="2260612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160E2D7-C6A8-4ED4-A0B1-64FED90EDEA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639C9F-9DA3-48E8-8D1F-2D250AE26A65}"/>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Reducers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F7EE90C-A3D0-4F55-852E-B2C40E972385}"/>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Effect of reducer count on the 4h dataset</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D8B4404-6476-496E-83C6-7C3CB722D214}"/>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96A9BEDC-3C03-4E4F-9913-80D0724C053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24000" y="1168400"/>
            <a:ext cx="9144000" cy="4572009"/>
          </a:xfrm>
          <a:prstGeom prst="rect">
            <a:avLst/>
          </a:prstGeom>
        </p:spPr>
      </p:pic>
      <p:sp>
        <p:nvSpPr>
          <p:cNvPr id="8" name="TextBox 7">
            <a:extLst>
              <a:ext uri="{FF2B5EF4-FFF2-40B4-BE49-F238E27FC236}">
                <a16:creationId xmlns:a16="http://schemas.microsoft.com/office/drawing/2014/main" id="{1E318364-BD5F-4DAD-8977-A603CC1AFDE2}"/>
              </a:ext>
            </a:extLst>
          </p:cNvPr>
          <p:cNvSpPr txBox="1"/>
          <p:nvPr/>
        </p:nvSpPr>
        <p:spPr>
          <a:xfrm>
            <a:off x="914400" y="5969000"/>
            <a:ext cx="10414000" cy="523220"/>
          </a:xfrm>
          <a:prstGeom prst="rect">
            <a:avLst/>
          </a:prstGeom>
          <a:noFill/>
        </p:spPr>
        <p:txBody>
          <a:bodyPr vert="horz" rtlCol="0">
            <a:spAutoFit/>
          </a:bodyPr>
          <a:lstStyle/>
          <a:p>
            <a:r>
              <a:rPr lang="en-US" sz="1400">
                <a:solidFill>
                  <a:srgbClr val="333333"/>
                </a:solidFill>
                <a:latin typeface="Calibri" panose="020F0502020204030204" pitchFamily="34" charset="0"/>
              </a:rPr>
              <a:t>The one-reducer run is the fastest in this pseudo-distributed environment. Additional reducers introduce scheduling and shuffle overhead without enough physical parallelism to compensate.</a:t>
            </a:r>
            <a:endParaRPr lang="az-Cyrl-AZ" sz="1400">
              <a:solidFill>
                <a:srgbClr val="333333"/>
              </a:solidFill>
              <a:latin typeface="Calibri" panose="020F0502020204030204" pitchFamily="34" charset="0"/>
            </a:endParaRPr>
          </a:p>
        </p:txBody>
      </p:sp>
    </p:spTree>
    <p:extLst>
      <p:ext uri="{BB962C8B-B14F-4D97-AF65-F5344CB8AC3E}">
        <p14:creationId xmlns:p14="http://schemas.microsoft.com/office/powerpoint/2010/main" val="518487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F1774C5-F335-4D64-926D-99A1951D0DF3}"/>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C25AEB7-EE0A-4060-AEEC-86ACE863EDAD}"/>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Memory Usage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BD5107A-1141-4F48-B722-93512BF34F2E}"/>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YARN allocation vs Python peak RSS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4D450C4-9F76-4B58-8F3E-7D2CDEF6651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83C2570D-29FB-44EB-B2CA-FC118C5EDDC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754889"/>
          </a:xfrm>
          <a:prstGeom prst="rect">
            <a:avLst/>
          </a:prstGeom>
        </p:spPr>
      </p:pic>
      <p:sp>
        <p:nvSpPr>
          <p:cNvPr id="8" name="TextBox 7">
            <a:extLst>
              <a:ext uri="{FF2B5EF4-FFF2-40B4-BE49-F238E27FC236}">
                <a16:creationId xmlns:a16="http://schemas.microsoft.com/office/drawing/2014/main" id="{9B58C7AA-37B8-4F9F-96CE-01D54B1B0256}"/>
              </a:ext>
            </a:extLst>
          </p:cNvPr>
          <p:cNvSpPr txBox="1"/>
          <p:nvPr/>
        </p:nvSpPr>
        <p:spPr>
          <a:xfrm>
            <a:off x="787400" y="5969000"/>
            <a:ext cx="10617200" cy="492443"/>
          </a:xfrm>
          <a:prstGeom prst="rect">
            <a:avLst/>
          </a:prstGeom>
          <a:noFill/>
        </p:spPr>
        <p:txBody>
          <a:bodyPr vert="horz" rtlCol="0">
            <a:spAutoFit/>
          </a:bodyPr>
          <a:lstStyle/>
          <a:p>
            <a:r>
              <a:rPr lang="en-US" sz="1300">
                <a:solidFill>
                  <a:srgbClr val="333333"/>
                </a:solidFill>
                <a:latin typeface="Calibri" panose="020F0502020204030204" pitchFamily="34" charset="0"/>
              </a:rPr>
              <a:t>The two memory metrics are not identical: Hadoop reports average allocated YARN memory, while the sequential baseline reports peak process memory. The trend still shows that the Python baseline grows strongly with dataset size.</a:t>
            </a:r>
            <a:endParaRPr lang="az-Cyrl-AZ" sz="1300">
              <a:solidFill>
                <a:srgbClr val="333333"/>
              </a:solidFill>
              <a:latin typeface="Calibri" panose="020F0502020204030204" pitchFamily="34" charset="0"/>
            </a:endParaRPr>
          </a:p>
        </p:txBody>
      </p:sp>
    </p:spTree>
    <p:extLst>
      <p:ext uri="{BB962C8B-B14F-4D97-AF65-F5344CB8AC3E}">
        <p14:creationId xmlns:p14="http://schemas.microsoft.com/office/powerpoint/2010/main" val="4018470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65490E-2106-4F9F-9E38-B165B46734B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E7E3F984-5BC7-4030-9E25-375D05519304}"/>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Main Findings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7C346C0-11CA-4D06-9247-A5B471568C31}"/>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What the experiments show</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FA2F1CB-FD0B-46B6-964B-8354A1AD4A72}"/>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FDE21436-59B7-49A6-B3E1-4A42AE349E92}"/>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For small and medium inputs, the Python sequential baseline wins because it avoids distributed-system overhead.</a:t>
            </a:r>
          </a:p>
          <a:p>
            <a:pPr marL="342900" indent="-342900">
              <a:spcAft>
                <a:spcPts val="800"/>
              </a:spcAft>
              <a:buFont typeface="+mj-lt"/>
              <a:buChar char="•"/>
            </a:pPr>
            <a:r>
              <a:rPr lang="en-US">
                <a:solidFill>
                  <a:srgbClr val="222222"/>
                </a:solidFill>
                <a:latin typeface="Calibri" panose="020F0502020204030204" pitchFamily="34" charset="0"/>
              </a:rPr>
              <a:t>Hadoop becomes more robust as the input grows because work is externalized through HDFS, YARN, and reducers.</a:t>
            </a:r>
          </a:p>
          <a:p>
            <a:pPr marL="342900" indent="-342900">
              <a:spcAft>
                <a:spcPts val="800"/>
              </a:spcAft>
              <a:buFont typeface="+mj-lt"/>
              <a:buChar char="•"/>
            </a:pPr>
            <a:r>
              <a:rPr lang="en-US">
                <a:solidFill>
                  <a:srgbClr val="222222"/>
                </a:solidFill>
                <a:latin typeface="Calibri" panose="020F0502020204030204" pitchFamily="34" charset="0"/>
              </a:rPr>
              <a:t>The 16h test is the most important scalability signal: Hadoop completes, while the sequential process is killed.</a:t>
            </a:r>
          </a:p>
          <a:p>
            <a:pPr marL="342900" indent="-342900">
              <a:spcAft>
                <a:spcPts val="800"/>
              </a:spcAft>
              <a:buFont typeface="+mj-lt"/>
              <a:buChar char="•"/>
            </a:pPr>
            <a:r>
              <a:rPr lang="en-US">
                <a:solidFill>
                  <a:srgbClr val="222222"/>
                </a:solidFill>
                <a:latin typeface="Calibri" panose="020F0502020204030204" pitchFamily="34" charset="0"/>
              </a:rPr>
              <a:t>Increasing reducers does not automatically improve performance on a single VM; the environment limits real parallelism.</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1458422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35AA88-DD00-49DA-9E49-4EA7AA23EA6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1D54C83F-AA11-4651-8849-ED56F7CA76C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Conclusion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AB0C7D4F-6878-49D2-9EBF-A07340A0E3E7}"/>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Final interpretation</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780FA22D-9A0A-457E-BA3A-DA61A2D88E2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2EA9E1C5-EE35-40E5-B807-44063029A355}"/>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The project satisfies the Hadoop implementation requirements with two cascaded non-iterative MapReduce jobs in Java.</a:t>
            </a:r>
          </a:p>
          <a:p>
            <a:pPr marL="342900" indent="-342900">
              <a:spcAft>
                <a:spcPts val="800"/>
              </a:spcAft>
              <a:buFont typeface="+mj-lt"/>
              <a:buChar char="•"/>
            </a:pPr>
            <a:r>
              <a:rPr lang="en-US">
                <a:solidFill>
                  <a:srgbClr val="222222"/>
                </a:solidFill>
                <a:latin typeface="Calibri" panose="020F0502020204030204" pitchFamily="34" charset="0"/>
              </a:rPr>
              <a:t>The implementation includes custom Writable data, setup/cleanup methods, in-mapper combining, custom partitioning, and multi-reducer execution.</a:t>
            </a:r>
          </a:p>
          <a:p>
            <a:pPr marL="342900" indent="-342900">
              <a:spcAft>
                <a:spcPts val="800"/>
              </a:spcAft>
              <a:buFont typeface="+mj-lt"/>
              <a:buChar char="•"/>
            </a:pPr>
            <a:r>
              <a:rPr lang="en-US">
                <a:solidFill>
                  <a:srgbClr val="222222"/>
                </a:solidFill>
                <a:latin typeface="Calibri" panose="020F0502020204030204" pitchFamily="34" charset="0"/>
              </a:rPr>
              <a:t>The sequential baseline is useful for comparison, but its memory behavior becomes a bottleneck at larger scale.</a:t>
            </a:r>
          </a:p>
          <a:p>
            <a:pPr marL="342900" indent="-342900">
              <a:spcAft>
                <a:spcPts val="800"/>
              </a:spcAft>
              <a:buFont typeface="+mj-lt"/>
              <a:buChar char="•"/>
            </a:pPr>
            <a:r>
              <a:rPr lang="en-US">
                <a:solidFill>
                  <a:srgbClr val="222222"/>
                </a:solidFill>
                <a:latin typeface="Calibri" panose="020F0502020204030204" pitchFamily="34" charset="0"/>
              </a:rPr>
              <a:t>The final result demonstrates the trade-off between simple local execution and scalable batch processing on HDFS/YARN.</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34099428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994</Words>
  <Application>Microsoft Office PowerPoint</Application>
  <PresentationFormat>Widescreen</PresentationFormat>
  <Paragraphs>113</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Zeynəddin Papaxov</dc:creator>
  <cp:lastModifiedBy>Zeynəddin Papaxov</cp:lastModifiedBy>
  <cp:revision>5</cp:revision>
  <dcterms:created xsi:type="dcterms:W3CDTF">2026-07-04T08:20:23Z</dcterms:created>
  <dcterms:modified xsi:type="dcterms:W3CDTF">2026-07-05T07:29:51Z</dcterms:modified>
</cp:coreProperties>
</file>