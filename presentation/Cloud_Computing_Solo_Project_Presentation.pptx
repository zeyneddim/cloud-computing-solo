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1F98D-8009-48FA-AD2C-115029382F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az-Cyrl-AZ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F4AE1C-D74D-47A6-BFE8-86E148E3AD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az-Cyrl-A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DE2092-16CE-46DD-9FFC-421A958F8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84D5C-2839-43FE-8390-D817AD290972}" type="datetimeFigureOut">
              <a:rPr lang="az-Cyrl-AZ" smtClean="0"/>
              <a:t>04.07.2026</a:t>
            </a:fld>
            <a:endParaRPr lang="az-Cyrl-A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643F62-3290-41BD-8FB1-E56FAF6F8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z-Cyrl-A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93A30B-3C28-4E7E-ACEE-116B70938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844E5-0A83-4DC0-857B-EE87E1FCBC34}" type="slidenum">
              <a:rPr lang="az-Cyrl-AZ" smtClean="0"/>
              <a:t>‹#›</a:t>
            </a:fld>
            <a:endParaRPr lang="az-Cyrl-AZ"/>
          </a:p>
        </p:txBody>
      </p:sp>
    </p:spTree>
    <p:extLst>
      <p:ext uri="{BB962C8B-B14F-4D97-AF65-F5344CB8AC3E}">
        <p14:creationId xmlns:p14="http://schemas.microsoft.com/office/powerpoint/2010/main" val="2427910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6DA9D-56CD-486A-AB88-331CE6D56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z-Cyrl-A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5B065C-9F4A-48CF-AB38-4FAED4C8A3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z-Cyrl-A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39D4B-DCA6-4B7F-83F8-1F8F05E55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84D5C-2839-43FE-8390-D817AD290972}" type="datetimeFigureOut">
              <a:rPr lang="az-Cyrl-AZ" smtClean="0"/>
              <a:t>04.07.2026</a:t>
            </a:fld>
            <a:endParaRPr lang="az-Cyrl-A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D2CD47-C47C-41DA-9B36-344F8A6F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z-Cyrl-A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4E2E89-1D39-40FD-ACA3-77E26F577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844E5-0A83-4DC0-857B-EE87E1FCBC34}" type="slidenum">
              <a:rPr lang="az-Cyrl-AZ" smtClean="0"/>
              <a:t>‹#›</a:t>
            </a:fld>
            <a:endParaRPr lang="az-Cyrl-AZ"/>
          </a:p>
        </p:txBody>
      </p:sp>
    </p:spTree>
    <p:extLst>
      <p:ext uri="{BB962C8B-B14F-4D97-AF65-F5344CB8AC3E}">
        <p14:creationId xmlns:p14="http://schemas.microsoft.com/office/powerpoint/2010/main" val="9961675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56095-811E-485F-ACF6-D937FA4DCB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az-Cyrl-A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9BFF19-EEEA-43F2-8B17-AE5AAC1C2E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0D403B-0A42-4294-9B2C-5BCC39FFC5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84D5C-2839-43FE-8390-D817AD290972}" type="datetimeFigureOut">
              <a:rPr lang="az-Cyrl-AZ" smtClean="0"/>
              <a:t>04.07.2026</a:t>
            </a:fld>
            <a:endParaRPr lang="az-Cyrl-A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A753FF-3996-4500-B142-AB25B77AA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z-Cyrl-A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28B153-B73B-442C-94A3-37744C225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844E5-0A83-4DC0-857B-EE87E1FCBC34}" type="slidenum">
              <a:rPr lang="az-Cyrl-AZ" smtClean="0"/>
              <a:t>‹#›</a:t>
            </a:fld>
            <a:endParaRPr lang="az-Cyrl-AZ"/>
          </a:p>
        </p:txBody>
      </p:sp>
    </p:spTree>
    <p:extLst>
      <p:ext uri="{BB962C8B-B14F-4D97-AF65-F5344CB8AC3E}">
        <p14:creationId xmlns:p14="http://schemas.microsoft.com/office/powerpoint/2010/main" val="12814342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7587A8-561B-492B-B5BB-E5ECB7B60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z-Cyrl-A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DD55C3-CA05-48FA-B526-E8F890EF41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z-Cyrl-AZ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31943A-F404-4142-AB23-014FDD3AC9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z-Cyrl-A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6A7669-49C2-4088-9521-EC1940E9B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84D5C-2839-43FE-8390-D817AD290972}" type="datetimeFigureOut">
              <a:rPr lang="az-Cyrl-AZ" smtClean="0"/>
              <a:t>04.07.2026</a:t>
            </a:fld>
            <a:endParaRPr lang="az-Cyrl-A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60B35E-CB7A-4F7D-9AC3-D41769660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z-Cyrl-A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26B239-7F7F-4C0B-A833-4FD299323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844E5-0A83-4DC0-857B-EE87E1FCBC34}" type="slidenum">
              <a:rPr lang="az-Cyrl-AZ" smtClean="0"/>
              <a:t>‹#›</a:t>
            </a:fld>
            <a:endParaRPr lang="az-Cyrl-AZ"/>
          </a:p>
        </p:txBody>
      </p:sp>
    </p:spTree>
    <p:extLst>
      <p:ext uri="{BB962C8B-B14F-4D97-AF65-F5344CB8AC3E}">
        <p14:creationId xmlns:p14="http://schemas.microsoft.com/office/powerpoint/2010/main" val="25279075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CB001-00BE-4164-BD4F-2975DD5DBF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az-Cyrl-A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4162B1-C5B8-4849-ACFE-ECDD7DE326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36FDDC-01BF-4139-BE71-D85B9062EA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z-Cyrl-A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666F52-0B75-43C5-96D6-6963ADA8F9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F95E9B2-A417-4772-BE8F-2EF2F95988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z-Cyrl-AZ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C0F073C-266A-46F5-AA44-0351B73C8A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84D5C-2839-43FE-8390-D817AD290972}" type="datetimeFigureOut">
              <a:rPr lang="az-Cyrl-AZ" smtClean="0"/>
              <a:t>04.07.2026</a:t>
            </a:fld>
            <a:endParaRPr lang="az-Cyrl-AZ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28CFC9-6D81-4780-83EC-FE9D02B06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z-Cyrl-A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8972282-C781-4E81-9A3C-2DF4D5515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844E5-0A83-4DC0-857B-EE87E1FCBC34}" type="slidenum">
              <a:rPr lang="az-Cyrl-AZ" smtClean="0"/>
              <a:t>‹#›</a:t>
            </a:fld>
            <a:endParaRPr lang="az-Cyrl-AZ"/>
          </a:p>
        </p:txBody>
      </p:sp>
    </p:spTree>
    <p:extLst>
      <p:ext uri="{BB962C8B-B14F-4D97-AF65-F5344CB8AC3E}">
        <p14:creationId xmlns:p14="http://schemas.microsoft.com/office/powerpoint/2010/main" val="12006553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EB04E-478F-4D7C-AF81-6FC690EF8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z-Cyrl-A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AA15F1-A724-4FA3-B8BA-21B98181C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84D5C-2839-43FE-8390-D817AD290972}" type="datetimeFigureOut">
              <a:rPr lang="az-Cyrl-AZ" smtClean="0"/>
              <a:t>04.07.2026</a:t>
            </a:fld>
            <a:endParaRPr lang="az-Cyrl-AZ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00244A-C88A-4AA9-A340-22B163EBD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z-Cyrl-A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9B4AF2-48E1-4B5A-9E97-411078207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844E5-0A83-4DC0-857B-EE87E1FCBC34}" type="slidenum">
              <a:rPr lang="az-Cyrl-AZ" smtClean="0"/>
              <a:t>‹#›</a:t>
            </a:fld>
            <a:endParaRPr lang="az-Cyrl-AZ"/>
          </a:p>
        </p:txBody>
      </p:sp>
    </p:spTree>
    <p:extLst>
      <p:ext uri="{BB962C8B-B14F-4D97-AF65-F5344CB8AC3E}">
        <p14:creationId xmlns:p14="http://schemas.microsoft.com/office/powerpoint/2010/main" val="12845277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1403321-0D7E-489A-A1D9-D0E29C7287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84D5C-2839-43FE-8390-D817AD290972}" type="datetimeFigureOut">
              <a:rPr lang="az-Cyrl-AZ" smtClean="0"/>
              <a:t>04.07.2026</a:t>
            </a:fld>
            <a:endParaRPr lang="az-Cyrl-A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6C1BAC-E3F6-420B-8B29-682B050E0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z-Cyrl-A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A8DC05-6B79-4984-B75B-22C749C6B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844E5-0A83-4DC0-857B-EE87E1FCBC34}" type="slidenum">
              <a:rPr lang="az-Cyrl-AZ" smtClean="0"/>
              <a:t>‹#›</a:t>
            </a:fld>
            <a:endParaRPr lang="az-Cyrl-AZ"/>
          </a:p>
        </p:txBody>
      </p:sp>
    </p:spTree>
    <p:extLst>
      <p:ext uri="{BB962C8B-B14F-4D97-AF65-F5344CB8AC3E}">
        <p14:creationId xmlns:p14="http://schemas.microsoft.com/office/powerpoint/2010/main" val="24865348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C8DA9-4B61-45C0-988F-8CB09D171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az-Cyrl-A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9171EC-75F7-43DC-9CF1-F3A560723C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z-Cyrl-A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23ACE7-B238-47D2-82D5-408EA5B48E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4D1C2D-F371-490B-A572-7956A62B9A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84D5C-2839-43FE-8390-D817AD290972}" type="datetimeFigureOut">
              <a:rPr lang="az-Cyrl-AZ" smtClean="0"/>
              <a:t>04.07.2026</a:t>
            </a:fld>
            <a:endParaRPr lang="az-Cyrl-A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26C257-E234-4F10-AACC-DC42E7CFB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z-Cyrl-A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2AB862-B46D-415A-9F6C-FD10677B3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844E5-0A83-4DC0-857B-EE87E1FCBC34}" type="slidenum">
              <a:rPr lang="az-Cyrl-AZ" smtClean="0"/>
              <a:t>‹#›</a:t>
            </a:fld>
            <a:endParaRPr lang="az-Cyrl-AZ"/>
          </a:p>
        </p:txBody>
      </p:sp>
    </p:spTree>
    <p:extLst>
      <p:ext uri="{BB962C8B-B14F-4D97-AF65-F5344CB8AC3E}">
        <p14:creationId xmlns:p14="http://schemas.microsoft.com/office/powerpoint/2010/main" val="9170793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79345-A292-48D2-BFDB-0026546101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az-Cyrl-AZ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BF496E-F114-4A3B-B32C-AC11B4905A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az-Cyrl-A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E47A8C-6078-498C-A7C5-45C6FD00F6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44C114-F683-49D0-8EF1-1C255F9C8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84D5C-2839-43FE-8390-D817AD290972}" type="datetimeFigureOut">
              <a:rPr lang="az-Cyrl-AZ" smtClean="0"/>
              <a:t>04.07.2026</a:t>
            </a:fld>
            <a:endParaRPr lang="az-Cyrl-A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997260-26B4-4CDA-8FBB-AB750E0E3C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z-Cyrl-A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CB9E66-AC62-4C0F-A755-FC12EA6F8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844E5-0A83-4DC0-857B-EE87E1FCBC34}" type="slidenum">
              <a:rPr lang="az-Cyrl-AZ" smtClean="0"/>
              <a:t>‹#›</a:t>
            </a:fld>
            <a:endParaRPr lang="az-Cyrl-AZ"/>
          </a:p>
        </p:txBody>
      </p:sp>
    </p:spTree>
    <p:extLst>
      <p:ext uri="{BB962C8B-B14F-4D97-AF65-F5344CB8AC3E}">
        <p14:creationId xmlns:p14="http://schemas.microsoft.com/office/powerpoint/2010/main" val="24788701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EA5998-BE43-4679-A6D2-FE575D53F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z-Cyrl-A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FCF28C-0BE1-48DD-BC0E-1911E821D2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z-Cyrl-A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717A92-598A-478B-8C3E-2E089CE2D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84D5C-2839-43FE-8390-D817AD290972}" type="datetimeFigureOut">
              <a:rPr lang="az-Cyrl-AZ" smtClean="0"/>
              <a:t>04.07.2026</a:t>
            </a:fld>
            <a:endParaRPr lang="az-Cyrl-A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89B3F1-BA23-4AD6-9660-89A5BB554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z-Cyrl-A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A8D326-D557-43E5-B672-1929FFB9D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844E5-0A83-4DC0-857B-EE87E1FCBC34}" type="slidenum">
              <a:rPr lang="az-Cyrl-AZ" smtClean="0"/>
              <a:t>‹#›</a:t>
            </a:fld>
            <a:endParaRPr lang="az-Cyrl-AZ"/>
          </a:p>
        </p:txBody>
      </p:sp>
    </p:spTree>
    <p:extLst>
      <p:ext uri="{BB962C8B-B14F-4D97-AF65-F5344CB8AC3E}">
        <p14:creationId xmlns:p14="http://schemas.microsoft.com/office/powerpoint/2010/main" val="12678031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91E6658-E1A0-40C2-B12C-F53314C96E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az-Cyrl-A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C99040-1CA9-4491-9A94-F744A3DA4C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z-Cyrl-A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986534-D9CD-4A05-8CAD-47A6C44C6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84D5C-2839-43FE-8390-D817AD290972}" type="datetimeFigureOut">
              <a:rPr lang="az-Cyrl-AZ" smtClean="0"/>
              <a:t>04.07.2026</a:t>
            </a:fld>
            <a:endParaRPr lang="az-Cyrl-A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CF9EC7-28D7-4047-8E1C-3A8E1E368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z-Cyrl-A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40DAC1-B60F-4BAF-AE6F-1FF7A0DC5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844E5-0A83-4DC0-857B-EE87E1FCBC34}" type="slidenum">
              <a:rPr lang="az-Cyrl-AZ" smtClean="0"/>
              <a:t>‹#›</a:t>
            </a:fld>
            <a:endParaRPr lang="az-Cyrl-AZ"/>
          </a:p>
        </p:txBody>
      </p:sp>
    </p:spTree>
    <p:extLst>
      <p:ext uri="{BB962C8B-B14F-4D97-AF65-F5344CB8AC3E}">
        <p14:creationId xmlns:p14="http://schemas.microsoft.com/office/powerpoint/2010/main" val="3604814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126E92C-4ABE-490F-A80A-A855884FD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az-Cyrl-A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7D98F6-CCE0-4B38-BD5D-9FC6318019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z-Cyrl-A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2EC3E9-DB72-474E-AF75-8D5028C279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584D5C-2839-43FE-8390-D817AD290972}" type="datetimeFigureOut">
              <a:rPr lang="az-Cyrl-AZ" smtClean="0"/>
              <a:t>04.07.2026</a:t>
            </a:fld>
            <a:endParaRPr lang="az-Cyrl-A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B2172F-5406-4996-950E-E26E4A14E5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az-Cyrl-A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CA83AD-C0C4-4F37-BD3A-071CEE3C65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E844E5-0A83-4DC0-857B-EE87E1FCBC34}" type="slidenum">
              <a:rPr lang="az-Cyrl-AZ" smtClean="0"/>
              <a:t>‹#›</a:t>
            </a:fld>
            <a:endParaRPr lang="az-Cyrl-AZ"/>
          </a:p>
        </p:txBody>
      </p:sp>
    </p:spTree>
    <p:extLst>
      <p:ext uri="{BB962C8B-B14F-4D97-AF65-F5344CB8AC3E}">
        <p14:creationId xmlns:p14="http://schemas.microsoft.com/office/powerpoint/2010/main" val="11241633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0951319-E991-4460-9389-D0A1EC2DF48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8900" y="533400"/>
            <a:ext cx="1854200" cy="14097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235E3C2-5DC2-4F4A-AB9F-FD9B9DE0E571}"/>
              </a:ext>
            </a:extLst>
          </p:cNvPr>
          <p:cNvSpPr txBox="1"/>
          <p:nvPr/>
        </p:nvSpPr>
        <p:spPr>
          <a:xfrm>
            <a:off x="3175000" y="2133600"/>
            <a:ext cx="5842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400" b="1">
                <a:solidFill>
                  <a:srgbClr val="4EED0B"/>
                </a:solidFill>
                <a:latin typeface="Calibri" panose="020F0502020204030204" pitchFamily="34" charset="0"/>
              </a:rPr>
              <a:t>UNIVERSITA DI PISA</a:t>
            </a:r>
            <a:endParaRPr lang="az-Cyrl-AZ" sz="3400" b="1">
              <a:solidFill>
                <a:srgbClr val="4EED0B"/>
              </a:solidFill>
              <a:latin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16AEC6-A062-401E-A263-7555D6D15D4B}"/>
              </a:ext>
            </a:extLst>
          </p:cNvPr>
          <p:cNvSpPr txBox="1"/>
          <p:nvPr/>
        </p:nvSpPr>
        <p:spPr>
          <a:xfrm>
            <a:off x="3530600" y="2921000"/>
            <a:ext cx="5207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600">
                <a:solidFill>
                  <a:srgbClr val="555555"/>
                </a:solidFill>
                <a:latin typeface="Calibri" panose="020F0502020204030204" pitchFamily="34" charset="0"/>
              </a:rPr>
              <a:t>Artificial Intelligence and Data Engineering</a:t>
            </a:r>
            <a:endParaRPr lang="az-Cyrl-AZ" sz="1600">
              <a:solidFill>
                <a:srgbClr val="555555"/>
              </a:solidFill>
              <a:latin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9E510C3-F804-48F1-B7F0-3614C5487147}"/>
              </a:ext>
            </a:extLst>
          </p:cNvPr>
          <p:cNvSpPr txBox="1"/>
          <p:nvPr/>
        </p:nvSpPr>
        <p:spPr>
          <a:xfrm>
            <a:off x="4953000" y="3365500"/>
            <a:ext cx="2794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333333"/>
                </a:solidFill>
                <a:latin typeface="Calibri" panose="020F0502020204030204" pitchFamily="34" charset="0"/>
              </a:rPr>
              <a:t>Cloud Computing</a:t>
            </a:r>
            <a:endParaRPr lang="az-Cyrl-AZ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0F3E45-B246-4390-943B-CB8A94C9BE1E}"/>
              </a:ext>
            </a:extLst>
          </p:cNvPr>
          <p:cNvSpPr txBox="1"/>
          <p:nvPr/>
        </p:nvSpPr>
        <p:spPr>
          <a:xfrm>
            <a:off x="2717800" y="4292600"/>
            <a:ext cx="7112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000" b="1">
                <a:solidFill>
                  <a:srgbClr val="000000"/>
                </a:solidFill>
                <a:latin typeface="Calibri" panose="020F0502020204030204" pitchFamily="34" charset="0"/>
              </a:rPr>
              <a:t>Wikimedia Pageview Analytics</a:t>
            </a:r>
            <a:endParaRPr lang="az-Cyrl-AZ" sz="3000" b="1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F13106-7980-4FE6-AA61-90C92611A45E}"/>
              </a:ext>
            </a:extLst>
          </p:cNvPr>
          <p:cNvSpPr txBox="1"/>
          <p:nvPr/>
        </p:nvSpPr>
        <p:spPr>
          <a:xfrm>
            <a:off x="4699000" y="4902200"/>
            <a:ext cx="3048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333333"/>
                </a:solidFill>
                <a:latin typeface="Calibri" panose="020F0502020204030204" pitchFamily="34" charset="0"/>
              </a:rPr>
              <a:t>Project Presentation</a:t>
            </a:r>
            <a:endParaRPr lang="az-Cyrl-AZ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8E4A3F-3AB7-4E25-A43A-3CC99296FC26}"/>
              </a:ext>
            </a:extLst>
          </p:cNvPr>
          <p:cNvSpPr txBox="1"/>
          <p:nvPr/>
        </p:nvSpPr>
        <p:spPr>
          <a:xfrm>
            <a:off x="4597400" y="5918200"/>
            <a:ext cx="3556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>
                <a:solidFill>
                  <a:srgbClr val="555555"/>
                </a:solidFill>
                <a:latin typeface="Calibri" panose="020F0502020204030204" pitchFamily="34" charset="0"/>
              </a:rPr>
              <a:t>Author: Zeynaddin Papakhov</a:t>
            </a:r>
            <a:endParaRPr lang="az-Cyrl-AZ" sz="1400">
              <a:solidFill>
                <a:srgbClr val="555555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44554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F70DC36-F7DC-4021-88B1-7B40492B53C8}"/>
              </a:ext>
            </a:extLst>
          </p:cNvPr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4EED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z-Cyrl-AZ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F25339-EF60-458F-B323-7D553BE219E7}"/>
              </a:ext>
            </a:extLst>
          </p:cNvPr>
          <p:cNvSpPr txBox="1"/>
          <p:nvPr/>
        </p:nvSpPr>
        <p:spPr>
          <a:xfrm>
            <a:off x="482600" y="177800"/>
            <a:ext cx="9652000" cy="44627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300" b="1">
                <a:solidFill>
                  <a:srgbClr val="FFFFFF"/>
                </a:solidFill>
                <a:latin typeface="Georgia" panose="02040502050405020303" pitchFamily="18" charset="0"/>
              </a:rPr>
              <a:t>Application Scenario</a:t>
            </a:r>
            <a:endParaRPr lang="az-Cyrl-AZ" sz="2300" b="1">
              <a:solidFill>
                <a:srgbClr val="FFFFFF"/>
              </a:solidFill>
              <a:latin typeface="Georgia" panose="02040502050405020303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6F9008-C710-4A0F-82BD-247A05BD8C8F}"/>
              </a:ext>
            </a:extLst>
          </p:cNvPr>
          <p:cNvSpPr txBox="1"/>
          <p:nvPr/>
        </p:nvSpPr>
        <p:spPr>
          <a:xfrm>
            <a:off x="482600" y="838200"/>
            <a:ext cx="10668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600">
                <a:solidFill>
                  <a:srgbClr val="525252"/>
                </a:solidFill>
                <a:latin typeface="Calibri" panose="020F0502020204030204" pitchFamily="34" charset="0"/>
              </a:rPr>
              <a:t>Understanding public attention through Wikimedia pageview logs</a:t>
            </a:r>
            <a:endParaRPr lang="az-Cyrl-AZ" sz="1600">
              <a:solidFill>
                <a:srgbClr val="525252"/>
              </a:solidFill>
              <a:latin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6B1CB6-A0F3-42B3-B07A-58F5D282431A}"/>
              </a:ext>
            </a:extLst>
          </p:cNvPr>
          <p:cNvSpPr txBox="1"/>
          <p:nvPr/>
        </p:nvSpPr>
        <p:spPr>
          <a:xfrm>
            <a:off x="482600" y="6477000"/>
            <a:ext cx="1092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>
                <a:solidFill>
                  <a:srgbClr val="808080"/>
                </a:solidFill>
                <a:latin typeface="Calibri" panose="020F0502020204030204" pitchFamily="34" charset="0"/>
              </a:rPr>
              <a:t>Cloud Computing - Wikimedia Pageview Analytics</a:t>
            </a:r>
            <a:endParaRPr lang="az-Cyrl-AZ" sz="900">
              <a:solidFill>
                <a:srgbClr val="808080"/>
              </a:solidFill>
              <a:latin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0F5C7E-E286-4E2D-8093-101232DD638F}"/>
              </a:ext>
            </a:extLst>
          </p:cNvPr>
          <p:cNvSpPr txBox="1"/>
          <p:nvPr/>
        </p:nvSpPr>
        <p:spPr>
          <a:xfrm>
            <a:off x="736600" y="1600200"/>
            <a:ext cx="10414000" cy="244682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marL="457200" indent="-457200">
              <a:spcAft>
                <a:spcPts val="800"/>
              </a:spcAft>
              <a:buFont typeface="+mj-lt"/>
              <a:buChar char="•"/>
            </a:pPr>
            <a:r>
              <a:rPr lang="en-US" sz="1900">
                <a:solidFill>
                  <a:srgbClr val="222222"/>
                </a:solidFill>
                <a:latin typeface="Calibri" panose="020F0502020204030204" pitchFamily="34" charset="0"/>
              </a:rPr>
              <a:t>The project analyzes hourly Wikimedia pageview dumps to identify the most visited pages and projects.</a:t>
            </a:r>
          </a:p>
          <a:p>
            <a:pPr marL="457200" indent="-457200">
              <a:spcAft>
                <a:spcPts val="800"/>
              </a:spcAft>
              <a:buFont typeface="+mj-lt"/>
              <a:buChar char="•"/>
            </a:pPr>
            <a:r>
              <a:rPr lang="en-US" sz="1900">
                <a:solidFill>
                  <a:srgbClr val="222222"/>
                </a:solidFill>
                <a:latin typeface="Calibri" panose="020F0502020204030204" pitchFamily="34" charset="0"/>
              </a:rPr>
              <a:t>The input is naturally large, append-only log data, which makes it suitable for HDFS storage and batch processing.</a:t>
            </a:r>
          </a:p>
          <a:p>
            <a:pPr marL="457200" indent="-457200">
              <a:spcAft>
                <a:spcPts val="800"/>
              </a:spcAft>
              <a:buFont typeface="+mj-lt"/>
              <a:buChar char="•"/>
            </a:pPr>
            <a:r>
              <a:rPr lang="en-US" sz="1900">
                <a:solidFill>
                  <a:srgbClr val="222222"/>
                </a:solidFill>
                <a:latin typeface="Calibri" panose="020F0502020204030204" pitchFamily="34" charset="0"/>
              </a:rPr>
              <a:t>The goal is to compare a Java Hadoop MapReduce implementation with a Python non-parallel baseline.</a:t>
            </a:r>
          </a:p>
          <a:p>
            <a:pPr marL="457200" indent="-457200">
              <a:spcAft>
                <a:spcPts val="800"/>
              </a:spcAft>
              <a:buFont typeface="+mj-lt"/>
              <a:buChar char="•"/>
            </a:pPr>
            <a:r>
              <a:rPr lang="en-US" sz="1900">
                <a:solidFill>
                  <a:srgbClr val="222222"/>
                </a:solidFill>
                <a:latin typeface="Calibri" panose="020F0502020204030204" pitchFamily="34" charset="0"/>
              </a:rPr>
              <a:t>The experiments focus on execution time, reducer scalability, and memory behavior.</a:t>
            </a:r>
            <a:endParaRPr lang="az-Cyrl-AZ" sz="1900">
              <a:solidFill>
                <a:srgbClr val="222222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33248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549A593-AFE9-48EA-8F85-CBA1B88EDDDC}"/>
              </a:ext>
            </a:extLst>
          </p:cNvPr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4EED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z-Cyrl-AZ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7F4455-C3C8-410E-A614-2160C8C0B60A}"/>
              </a:ext>
            </a:extLst>
          </p:cNvPr>
          <p:cNvSpPr txBox="1"/>
          <p:nvPr/>
        </p:nvSpPr>
        <p:spPr>
          <a:xfrm>
            <a:off x="482600" y="177800"/>
            <a:ext cx="9652000" cy="44627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300" b="1">
                <a:solidFill>
                  <a:srgbClr val="FFFFFF"/>
                </a:solidFill>
                <a:latin typeface="Georgia" panose="02040502050405020303" pitchFamily="18" charset="0"/>
              </a:rPr>
              <a:t>Dataset</a:t>
            </a:r>
            <a:endParaRPr lang="az-Cyrl-AZ" sz="2300" b="1">
              <a:solidFill>
                <a:srgbClr val="FFFFFF"/>
              </a:solidFill>
              <a:latin typeface="Georgia" panose="02040502050405020303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8CBB5B-2C9A-404E-B7BC-EBF999ED150C}"/>
              </a:ext>
            </a:extLst>
          </p:cNvPr>
          <p:cNvSpPr txBox="1"/>
          <p:nvPr/>
        </p:nvSpPr>
        <p:spPr>
          <a:xfrm>
            <a:off x="482600" y="838200"/>
            <a:ext cx="10668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600">
                <a:solidFill>
                  <a:srgbClr val="525252"/>
                </a:solidFill>
                <a:latin typeface="Calibri" panose="020F0502020204030204" pitchFamily="34" charset="0"/>
              </a:rPr>
              <a:t>Wikimedia Pageviews</a:t>
            </a:r>
            <a:endParaRPr lang="az-Cyrl-AZ" sz="1600">
              <a:solidFill>
                <a:srgbClr val="525252"/>
              </a:solidFill>
              <a:latin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28A4E0-F65E-4A6F-97B4-8AAE9C5DA883}"/>
              </a:ext>
            </a:extLst>
          </p:cNvPr>
          <p:cNvSpPr txBox="1"/>
          <p:nvPr/>
        </p:nvSpPr>
        <p:spPr>
          <a:xfrm>
            <a:off x="482600" y="6477000"/>
            <a:ext cx="1092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>
                <a:solidFill>
                  <a:srgbClr val="808080"/>
                </a:solidFill>
                <a:latin typeface="Calibri" panose="020F0502020204030204" pitchFamily="34" charset="0"/>
              </a:rPr>
              <a:t>Cloud Computing - Wikimedia Pageview Analytics</a:t>
            </a:r>
            <a:endParaRPr lang="az-Cyrl-AZ" sz="900">
              <a:solidFill>
                <a:srgbClr val="808080"/>
              </a:solidFill>
              <a:latin typeface="Calibri" panose="020F050202020403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2561F8D-D5E1-434C-A00D-CB6BE8C643E3}"/>
              </a:ext>
            </a:extLst>
          </p:cNvPr>
          <p:cNvSpPr/>
          <p:nvPr/>
        </p:nvSpPr>
        <p:spPr>
          <a:xfrm>
            <a:off x="698500" y="1422400"/>
            <a:ext cx="3175000" cy="3048000"/>
          </a:xfrm>
          <a:prstGeom prst="rect">
            <a:avLst/>
          </a:prstGeom>
          <a:solidFill>
            <a:srgbClr val="F1F1F1"/>
          </a:solidFill>
          <a:ln w="12700">
            <a:solidFill>
              <a:srgbClr val="CCCC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z-Cyrl-AZ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61278A-C9F2-4055-9E0A-0F55F9FF5F34}"/>
              </a:ext>
            </a:extLst>
          </p:cNvPr>
          <p:cNvSpPr txBox="1"/>
          <p:nvPr/>
        </p:nvSpPr>
        <p:spPr>
          <a:xfrm>
            <a:off x="901700" y="1600200"/>
            <a:ext cx="27686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600" b="1">
                <a:solidFill>
                  <a:srgbClr val="4EED0B"/>
                </a:solidFill>
                <a:latin typeface="Calibri" panose="020F0502020204030204" pitchFamily="34" charset="0"/>
              </a:rPr>
              <a:t>Source</a:t>
            </a:r>
            <a:endParaRPr lang="az-Cyrl-AZ" sz="1600" b="1">
              <a:solidFill>
                <a:srgbClr val="4EED0B"/>
              </a:solidFill>
              <a:latin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90637D7-45E8-462A-9DD8-CFC7437D7DA8}"/>
              </a:ext>
            </a:extLst>
          </p:cNvPr>
          <p:cNvSpPr txBox="1"/>
          <p:nvPr/>
        </p:nvSpPr>
        <p:spPr>
          <a:xfrm>
            <a:off x="901700" y="1981200"/>
            <a:ext cx="2768600" cy="89255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>
                <a:solidFill>
                  <a:srgbClr val="333333"/>
                </a:solidFill>
                <a:latin typeface="Calibri" panose="020F0502020204030204" pitchFamily="34" charset="0"/>
              </a:rPr>
              <a:t>Wikimedia hourly pageview dumps from dumps.wikimedia.org/other/pageviews.</a:t>
            </a:r>
            <a:endParaRPr lang="az-Cyrl-AZ" sz="13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2427604-4334-47CC-9C0E-0969D0608AFB}"/>
              </a:ext>
            </a:extLst>
          </p:cNvPr>
          <p:cNvSpPr/>
          <p:nvPr/>
        </p:nvSpPr>
        <p:spPr>
          <a:xfrm>
            <a:off x="4508500" y="1422400"/>
            <a:ext cx="3175000" cy="3048000"/>
          </a:xfrm>
          <a:prstGeom prst="rect">
            <a:avLst/>
          </a:prstGeom>
          <a:solidFill>
            <a:srgbClr val="F1F1F1"/>
          </a:solidFill>
          <a:ln w="12700">
            <a:solidFill>
              <a:srgbClr val="CCCC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z-Cyrl-AZ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30F8883-323A-4E12-A3A1-16F5970A960E}"/>
              </a:ext>
            </a:extLst>
          </p:cNvPr>
          <p:cNvSpPr txBox="1"/>
          <p:nvPr/>
        </p:nvSpPr>
        <p:spPr>
          <a:xfrm>
            <a:off x="4711700" y="1600200"/>
            <a:ext cx="27686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600" b="1">
                <a:solidFill>
                  <a:srgbClr val="4EED0B"/>
                </a:solidFill>
                <a:latin typeface="Calibri" panose="020F0502020204030204" pitchFamily="34" charset="0"/>
              </a:rPr>
              <a:t>Selected Volumes</a:t>
            </a:r>
            <a:endParaRPr lang="az-Cyrl-AZ" sz="1600" b="1">
              <a:solidFill>
                <a:srgbClr val="4EED0B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4E15CF5-07E6-47E7-9A0E-03844CAE335A}"/>
              </a:ext>
            </a:extLst>
          </p:cNvPr>
          <p:cNvSpPr txBox="1"/>
          <p:nvPr/>
        </p:nvSpPr>
        <p:spPr>
          <a:xfrm>
            <a:off x="4711700" y="1981200"/>
            <a:ext cx="2768600" cy="69249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>
                <a:solidFill>
                  <a:srgbClr val="333333"/>
                </a:solidFill>
                <a:latin typeface="Calibri" panose="020F0502020204030204" pitchFamily="34" charset="0"/>
              </a:rPr>
              <a:t>1h, 4h, 8h datasets for the main benchmarks, plus a 16h stress test for scalability observation.</a:t>
            </a:r>
            <a:endParaRPr lang="az-Cyrl-AZ" sz="13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8FA831B-AA67-479C-B3A2-1B92997F6F68}"/>
              </a:ext>
            </a:extLst>
          </p:cNvPr>
          <p:cNvSpPr/>
          <p:nvPr/>
        </p:nvSpPr>
        <p:spPr>
          <a:xfrm>
            <a:off x="8318500" y="1422400"/>
            <a:ext cx="3175000" cy="3048000"/>
          </a:xfrm>
          <a:prstGeom prst="rect">
            <a:avLst/>
          </a:prstGeom>
          <a:solidFill>
            <a:srgbClr val="F1F1F1"/>
          </a:solidFill>
          <a:ln w="12700">
            <a:solidFill>
              <a:srgbClr val="CCCC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z-Cyrl-AZ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2B825DA-6333-417F-8355-967A26DEE8FC}"/>
              </a:ext>
            </a:extLst>
          </p:cNvPr>
          <p:cNvSpPr txBox="1"/>
          <p:nvPr/>
        </p:nvSpPr>
        <p:spPr>
          <a:xfrm>
            <a:off x="8521700" y="1600200"/>
            <a:ext cx="27686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600" b="1">
                <a:solidFill>
                  <a:srgbClr val="4EED0B"/>
                </a:solidFill>
                <a:latin typeface="Calibri" panose="020F0502020204030204" pitchFamily="34" charset="0"/>
              </a:rPr>
              <a:t>Record Fields</a:t>
            </a:r>
            <a:endParaRPr lang="az-Cyrl-AZ" sz="1600" b="1">
              <a:solidFill>
                <a:srgbClr val="4EED0B"/>
              </a:solidFill>
              <a:latin typeface="Calibri" panose="020F050202020403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D37F45E-7525-4560-8AE3-7C45A20F901C}"/>
              </a:ext>
            </a:extLst>
          </p:cNvPr>
          <p:cNvSpPr txBox="1"/>
          <p:nvPr/>
        </p:nvSpPr>
        <p:spPr>
          <a:xfrm>
            <a:off x="8521700" y="1981200"/>
            <a:ext cx="27686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>
                <a:solidFill>
                  <a:srgbClr val="333333"/>
                </a:solidFill>
                <a:latin typeface="Calibri" panose="020F0502020204030204" pitchFamily="34" charset="0"/>
              </a:rPr>
              <a:t>Each line contains project, page title, request count, and transferred bytes.</a:t>
            </a:r>
            <a:endParaRPr lang="az-Cyrl-AZ" sz="13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AB8A36D-CBE9-4595-8952-370BAFC6141C}"/>
              </a:ext>
            </a:extLst>
          </p:cNvPr>
          <p:cNvSpPr txBox="1"/>
          <p:nvPr/>
        </p:nvSpPr>
        <p:spPr>
          <a:xfrm>
            <a:off x="914400" y="4953000"/>
            <a:ext cx="10414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600">
                <a:solidFill>
                  <a:srgbClr val="333333"/>
                </a:solidFill>
                <a:latin typeface="Calibri" panose="020F0502020204030204" pitchFamily="34" charset="0"/>
              </a:rPr>
              <a:t>The dataset was chosen because it is public, structured, scalable by hour, and large enough to show batch-processing trade-offs.</a:t>
            </a:r>
            <a:endParaRPr lang="az-Cyrl-AZ" sz="16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62944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E538F13-4F22-4B2F-97E1-D187E038B049}"/>
              </a:ext>
            </a:extLst>
          </p:cNvPr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4EED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z-Cyrl-AZ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DCF7A-DB6B-44CD-B030-E209BDA9F1E2}"/>
              </a:ext>
            </a:extLst>
          </p:cNvPr>
          <p:cNvSpPr txBox="1"/>
          <p:nvPr/>
        </p:nvSpPr>
        <p:spPr>
          <a:xfrm>
            <a:off x="482600" y="177800"/>
            <a:ext cx="9652000" cy="44627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300" b="1">
                <a:solidFill>
                  <a:srgbClr val="FFFFFF"/>
                </a:solidFill>
                <a:latin typeface="Georgia" panose="02040502050405020303" pitchFamily="18" charset="0"/>
              </a:rPr>
              <a:t>System Architecture</a:t>
            </a:r>
            <a:endParaRPr lang="az-Cyrl-AZ" sz="2300" b="1">
              <a:solidFill>
                <a:srgbClr val="FFFFFF"/>
              </a:solidFill>
              <a:latin typeface="Georgia" panose="02040502050405020303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BF0BD3-4620-40A3-A403-D42B89CD85B6}"/>
              </a:ext>
            </a:extLst>
          </p:cNvPr>
          <p:cNvSpPr txBox="1"/>
          <p:nvPr/>
        </p:nvSpPr>
        <p:spPr>
          <a:xfrm>
            <a:off x="482600" y="838200"/>
            <a:ext cx="10668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600">
                <a:solidFill>
                  <a:srgbClr val="525252"/>
                </a:solidFill>
                <a:latin typeface="Calibri" panose="020F0502020204030204" pitchFamily="34" charset="0"/>
              </a:rPr>
              <a:t>Single-student pseudo-distributed Hadoop environment</a:t>
            </a:r>
            <a:endParaRPr lang="az-Cyrl-AZ" sz="1600">
              <a:solidFill>
                <a:srgbClr val="525252"/>
              </a:solidFill>
              <a:latin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532589-3912-4A27-90A6-F946D2E9E7CB}"/>
              </a:ext>
            </a:extLst>
          </p:cNvPr>
          <p:cNvSpPr txBox="1"/>
          <p:nvPr/>
        </p:nvSpPr>
        <p:spPr>
          <a:xfrm>
            <a:off x="482600" y="6477000"/>
            <a:ext cx="1092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>
                <a:solidFill>
                  <a:srgbClr val="808080"/>
                </a:solidFill>
                <a:latin typeface="Calibri" panose="020F0502020204030204" pitchFamily="34" charset="0"/>
              </a:rPr>
              <a:t>Cloud Computing - Wikimedia Pageview Analytics</a:t>
            </a:r>
            <a:endParaRPr lang="az-Cyrl-AZ" sz="900">
              <a:solidFill>
                <a:srgbClr val="808080"/>
              </a:solidFill>
              <a:latin typeface="Calibri" panose="020F050202020403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C8FE879-0BAD-4F3E-839B-371B4CAA8722}"/>
              </a:ext>
            </a:extLst>
          </p:cNvPr>
          <p:cNvSpPr/>
          <p:nvPr/>
        </p:nvSpPr>
        <p:spPr>
          <a:xfrm>
            <a:off x="762000" y="1460500"/>
            <a:ext cx="2984500" cy="3175000"/>
          </a:xfrm>
          <a:prstGeom prst="rect">
            <a:avLst/>
          </a:prstGeom>
          <a:solidFill>
            <a:srgbClr val="F1F1F1"/>
          </a:solidFill>
          <a:ln w="12700">
            <a:solidFill>
              <a:srgbClr val="CCCC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z-Cyrl-AZ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97E3B2-B9CA-435B-85D5-02D14942E011}"/>
              </a:ext>
            </a:extLst>
          </p:cNvPr>
          <p:cNvSpPr txBox="1"/>
          <p:nvPr/>
        </p:nvSpPr>
        <p:spPr>
          <a:xfrm>
            <a:off x="965200" y="1638300"/>
            <a:ext cx="25781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600" b="1">
                <a:solidFill>
                  <a:srgbClr val="4EED0B"/>
                </a:solidFill>
                <a:latin typeface="Calibri" panose="020F0502020204030204" pitchFamily="34" charset="0"/>
              </a:rPr>
              <a:t>Storage Layer</a:t>
            </a:r>
            <a:endParaRPr lang="az-Cyrl-AZ" sz="1600" b="1">
              <a:solidFill>
                <a:srgbClr val="4EED0B"/>
              </a:solidFill>
              <a:latin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E32D24C-91E0-4ABD-8738-2E8BDB1A9C9D}"/>
              </a:ext>
            </a:extLst>
          </p:cNvPr>
          <p:cNvSpPr txBox="1"/>
          <p:nvPr/>
        </p:nvSpPr>
        <p:spPr>
          <a:xfrm>
            <a:off x="965200" y="2019300"/>
            <a:ext cx="2578100" cy="89255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>
                <a:solidFill>
                  <a:srgbClr val="333333"/>
                </a:solidFill>
                <a:latin typeface="Calibri" panose="020F0502020204030204" pitchFamily="34" charset="0"/>
              </a:rPr>
              <a:t>Input files are stored in HDFS under /user/hadoop/single_project/input. Intermediate and final outputs are also written to HDFS.</a:t>
            </a:r>
            <a:endParaRPr lang="az-Cyrl-AZ" sz="13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2697ED3-B1F1-4E9F-814E-7E2AA9BF7B9A}"/>
              </a:ext>
            </a:extLst>
          </p:cNvPr>
          <p:cNvSpPr/>
          <p:nvPr/>
        </p:nvSpPr>
        <p:spPr>
          <a:xfrm>
            <a:off x="4635500" y="1460500"/>
            <a:ext cx="2984500" cy="3175000"/>
          </a:xfrm>
          <a:prstGeom prst="rect">
            <a:avLst/>
          </a:prstGeom>
          <a:solidFill>
            <a:srgbClr val="F1F1F1"/>
          </a:solidFill>
          <a:ln w="12700">
            <a:solidFill>
              <a:srgbClr val="CCCC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z-Cyrl-AZ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CCF6B51-84E9-4332-8B67-F4599042EFFC}"/>
              </a:ext>
            </a:extLst>
          </p:cNvPr>
          <p:cNvSpPr txBox="1"/>
          <p:nvPr/>
        </p:nvSpPr>
        <p:spPr>
          <a:xfrm>
            <a:off x="4838700" y="1638300"/>
            <a:ext cx="25781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600" b="1">
                <a:solidFill>
                  <a:srgbClr val="4EED0B"/>
                </a:solidFill>
                <a:latin typeface="Calibri" panose="020F0502020204030204" pitchFamily="34" charset="0"/>
              </a:rPr>
              <a:t>Processing Layer</a:t>
            </a:r>
            <a:endParaRPr lang="az-Cyrl-AZ" sz="1600" b="1">
              <a:solidFill>
                <a:srgbClr val="4EED0B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A32CB71-F311-47CF-B860-48CA1973F891}"/>
              </a:ext>
            </a:extLst>
          </p:cNvPr>
          <p:cNvSpPr txBox="1"/>
          <p:nvPr/>
        </p:nvSpPr>
        <p:spPr>
          <a:xfrm>
            <a:off x="4838700" y="2019300"/>
            <a:ext cx="2578100" cy="69249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>
                <a:solidFill>
                  <a:srgbClr val="333333"/>
                </a:solidFill>
                <a:latin typeface="Calibri" panose="020F0502020204030204" pitchFamily="34" charset="0"/>
              </a:rPr>
              <a:t>YARN runs the Hadoop MapReduce jobs. The Java application is executed as a packaged JAR.</a:t>
            </a:r>
            <a:endParaRPr lang="az-Cyrl-AZ" sz="13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0ECEC08-F88E-4A07-BCF2-31FD0D3731AE}"/>
              </a:ext>
            </a:extLst>
          </p:cNvPr>
          <p:cNvSpPr/>
          <p:nvPr/>
        </p:nvSpPr>
        <p:spPr>
          <a:xfrm>
            <a:off x="8509000" y="1460500"/>
            <a:ext cx="2984500" cy="3175000"/>
          </a:xfrm>
          <a:prstGeom prst="rect">
            <a:avLst/>
          </a:prstGeom>
          <a:solidFill>
            <a:srgbClr val="F1F1F1"/>
          </a:solidFill>
          <a:ln w="12700">
            <a:solidFill>
              <a:srgbClr val="CCCC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z-Cyrl-AZ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C6E2BD9-5C74-4EB9-84A1-AAD45F65782D}"/>
              </a:ext>
            </a:extLst>
          </p:cNvPr>
          <p:cNvSpPr txBox="1"/>
          <p:nvPr/>
        </p:nvSpPr>
        <p:spPr>
          <a:xfrm>
            <a:off x="8712200" y="1638300"/>
            <a:ext cx="25781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600" b="1">
                <a:solidFill>
                  <a:srgbClr val="4EED0B"/>
                </a:solidFill>
                <a:latin typeface="Calibri" panose="020F0502020204030204" pitchFamily="34" charset="0"/>
              </a:rPr>
              <a:t>Baseline Layer</a:t>
            </a:r>
            <a:endParaRPr lang="az-Cyrl-AZ" sz="1600" b="1">
              <a:solidFill>
                <a:srgbClr val="4EED0B"/>
              </a:solidFill>
              <a:latin typeface="Calibri" panose="020F050202020403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43D81EB-B47A-49E8-ADF5-A49BADF19F86}"/>
              </a:ext>
            </a:extLst>
          </p:cNvPr>
          <p:cNvSpPr txBox="1"/>
          <p:nvPr/>
        </p:nvSpPr>
        <p:spPr>
          <a:xfrm>
            <a:off x="8712200" y="2019300"/>
            <a:ext cx="2578100" cy="69249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>
                <a:solidFill>
                  <a:srgbClr val="333333"/>
                </a:solidFill>
                <a:latin typeface="Calibri" panose="020F0502020204030204" pitchFamily="34" charset="0"/>
              </a:rPr>
              <a:t>The Python sequential script processes the same local data without parallel execution.</a:t>
            </a:r>
            <a:endParaRPr lang="az-Cyrl-AZ" sz="13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49DBE43-783A-4290-8282-6D18B0AF8490}"/>
              </a:ext>
            </a:extLst>
          </p:cNvPr>
          <p:cNvSpPr txBox="1"/>
          <p:nvPr/>
        </p:nvSpPr>
        <p:spPr>
          <a:xfrm>
            <a:off x="889000" y="5080000"/>
            <a:ext cx="10414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600">
                <a:solidFill>
                  <a:srgbClr val="333333"/>
                </a:solidFill>
                <a:latin typeface="Calibri" panose="020F0502020204030204" pitchFamily="34" charset="0"/>
              </a:rPr>
              <a:t>This setup keeps the comparison controlled: same dataset, same analytics logic, but different execution models.</a:t>
            </a:r>
            <a:endParaRPr lang="az-Cyrl-AZ" sz="16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74955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3C71D7E-94FC-4EEE-88E6-C7803F640900}"/>
              </a:ext>
            </a:extLst>
          </p:cNvPr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4EED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z-Cyrl-AZ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1116F8-356C-447A-8D2C-32BEAAFA4993}"/>
              </a:ext>
            </a:extLst>
          </p:cNvPr>
          <p:cNvSpPr txBox="1"/>
          <p:nvPr/>
        </p:nvSpPr>
        <p:spPr>
          <a:xfrm>
            <a:off x="482600" y="177800"/>
            <a:ext cx="9652000" cy="44627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300" b="1">
                <a:solidFill>
                  <a:srgbClr val="FFFFFF"/>
                </a:solidFill>
                <a:latin typeface="Georgia" panose="02040502050405020303" pitchFamily="18" charset="0"/>
              </a:rPr>
              <a:t>Analytics Workflow</a:t>
            </a:r>
            <a:endParaRPr lang="az-Cyrl-AZ" sz="2300" b="1">
              <a:solidFill>
                <a:srgbClr val="FFFFFF"/>
              </a:solidFill>
              <a:latin typeface="Georgia" panose="02040502050405020303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41A457-BBFC-4888-9A98-5DFC36D037DD}"/>
              </a:ext>
            </a:extLst>
          </p:cNvPr>
          <p:cNvSpPr txBox="1"/>
          <p:nvPr/>
        </p:nvSpPr>
        <p:spPr>
          <a:xfrm>
            <a:off x="482600" y="838200"/>
            <a:ext cx="10668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600">
                <a:solidFill>
                  <a:srgbClr val="525252"/>
                </a:solidFill>
                <a:latin typeface="Calibri" panose="020F0502020204030204" pitchFamily="34" charset="0"/>
              </a:rPr>
              <a:t>Two non-iterative MapReduce jobs in cascade</a:t>
            </a:r>
            <a:endParaRPr lang="az-Cyrl-AZ" sz="1600">
              <a:solidFill>
                <a:srgbClr val="525252"/>
              </a:solidFill>
              <a:latin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4CBF6C-D280-4111-A852-F89ADFD4352F}"/>
              </a:ext>
            </a:extLst>
          </p:cNvPr>
          <p:cNvSpPr txBox="1"/>
          <p:nvPr/>
        </p:nvSpPr>
        <p:spPr>
          <a:xfrm>
            <a:off x="482600" y="6477000"/>
            <a:ext cx="1092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>
                <a:solidFill>
                  <a:srgbClr val="808080"/>
                </a:solidFill>
                <a:latin typeface="Calibri" panose="020F0502020204030204" pitchFamily="34" charset="0"/>
              </a:rPr>
              <a:t>Cloud Computing - Wikimedia Pageview Analytics</a:t>
            </a:r>
            <a:endParaRPr lang="az-Cyrl-AZ" sz="900">
              <a:solidFill>
                <a:srgbClr val="808080"/>
              </a:solidFill>
              <a:latin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B3FA8B-FD6D-479D-B95C-DA1BB3638153}"/>
              </a:ext>
            </a:extLst>
          </p:cNvPr>
          <p:cNvSpPr txBox="1"/>
          <p:nvPr/>
        </p:nvSpPr>
        <p:spPr>
          <a:xfrm>
            <a:off x="736600" y="1587500"/>
            <a:ext cx="10541000" cy="233910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marL="342900" indent="-342900">
              <a:spcAft>
                <a:spcPts val="800"/>
              </a:spcAft>
              <a:buFont typeface="+mj-lt"/>
              <a:buChar char="•"/>
            </a:pPr>
            <a:r>
              <a:rPr lang="en-US">
                <a:solidFill>
                  <a:srgbClr val="222222"/>
                </a:solidFill>
                <a:latin typeface="Calibri" panose="020F0502020204030204" pitchFamily="34" charset="0"/>
              </a:rPr>
              <a:t>Job 1 performs ETL: parses pageview lines, filters invalid records, normalizes project/page data, and emits structured records.</a:t>
            </a:r>
          </a:p>
          <a:p>
            <a:pPr marL="342900" indent="-342900">
              <a:spcAft>
                <a:spcPts val="800"/>
              </a:spcAft>
              <a:buFont typeface="+mj-lt"/>
              <a:buChar char="•"/>
            </a:pPr>
            <a:r>
              <a:rPr lang="en-US">
                <a:solidFill>
                  <a:srgbClr val="222222"/>
                </a:solidFill>
                <a:latin typeface="Calibri" panose="020F0502020204030204" pitchFamily="34" charset="0"/>
              </a:rPr>
              <a:t>Job 2 performs analytics: aggregates page views and bytes, ranks top projects and top pages, and writes compact result files.</a:t>
            </a:r>
          </a:p>
          <a:p>
            <a:pPr marL="342900" indent="-342900">
              <a:spcAft>
                <a:spcPts val="800"/>
              </a:spcAft>
              <a:buFont typeface="+mj-lt"/>
              <a:buChar char="•"/>
            </a:pPr>
            <a:r>
              <a:rPr lang="en-US">
                <a:solidFill>
                  <a:srgbClr val="222222"/>
                </a:solidFill>
                <a:latin typeface="Calibri" panose="020F0502020204030204" pitchFamily="34" charset="0"/>
              </a:rPr>
              <a:t>The output keeps the top 10 pages and top 10 projects to make the results easy to inspect and compare.</a:t>
            </a:r>
          </a:p>
          <a:p>
            <a:pPr marL="342900" indent="-342900">
              <a:spcAft>
                <a:spcPts val="800"/>
              </a:spcAft>
              <a:buFont typeface="+mj-lt"/>
              <a:buChar char="•"/>
            </a:pPr>
            <a:r>
              <a:rPr lang="en-US">
                <a:solidFill>
                  <a:srgbClr val="222222"/>
                </a:solidFill>
                <a:latin typeface="Calibri" panose="020F0502020204030204" pitchFamily="34" charset="0"/>
              </a:rPr>
              <a:t>The sequential baseline implements the same analytics in Python for correctness and performance comparison.</a:t>
            </a:r>
            <a:endParaRPr lang="az-Cyrl-AZ">
              <a:solidFill>
                <a:srgbClr val="222222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43070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D85236A-2578-4758-B492-4B3A6482F10C}"/>
              </a:ext>
            </a:extLst>
          </p:cNvPr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4EED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z-Cyrl-AZ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7A36AF-61EC-4A5C-8833-224478E0F0D4}"/>
              </a:ext>
            </a:extLst>
          </p:cNvPr>
          <p:cNvSpPr txBox="1"/>
          <p:nvPr/>
        </p:nvSpPr>
        <p:spPr>
          <a:xfrm>
            <a:off x="482600" y="177800"/>
            <a:ext cx="9652000" cy="44627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300" b="1">
                <a:solidFill>
                  <a:srgbClr val="FFFFFF"/>
                </a:solidFill>
                <a:latin typeface="Georgia" panose="02040502050405020303" pitchFamily="18" charset="0"/>
              </a:rPr>
              <a:t>Hadoop Implementation</a:t>
            </a:r>
            <a:endParaRPr lang="az-Cyrl-AZ" sz="2300" b="1">
              <a:solidFill>
                <a:srgbClr val="FFFFFF"/>
              </a:solidFill>
              <a:latin typeface="Georgia" panose="02040502050405020303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93278D-7089-4947-B6B6-58E1B6B2C32B}"/>
              </a:ext>
            </a:extLst>
          </p:cNvPr>
          <p:cNvSpPr txBox="1"/>
          <p:nvPr/>
        </p:nvSpPr>
        <p:spPr>
          <a:xfrm>
            <a:off x="482600" y="838200"/>
            <a:ext cx="10668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600">
                <a:solidFill>
                  <a:srgbClr val="525252"/>
                </a:solidFill>
                <a:latin typeface="Calibri" panose="020F0502020204030204" pitchFamily="34" charset="0"/>
              </a:rPr>
              <a:t>Main design choices</a:t>
            </a:r>
            <a:endParaRPr lang="az-Cyrl-AZ" sz="1600">
              <a:solidFill>
                <a:srgbClr val="525252"/>
              </a:solidFill>
              <a:latin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8D9D2A-8709-41B3-9841-C1A404D00E2B}"/>
              </a:ext>
            </a:extLst>
          </p:cNvPr>
          <p:cNvSpPr txBox="1"/>
          <p:nvPr/>
        </p:nvSpPr>
        <p:spPr>
          <a:xfrm>
            <a:off x="482600" y="6477000"/>
            <a:ext cx="1092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>
                <a:solidFill>
                  <a:srgbClr val="808080"/>
                </a:solidFill>
                <a:latin typeface="Calibri" panose="020F0502020204030204" pitchFamily="34" charset="0"/>
              </a:rPr>
              <a:t>Cloud Computing - Wikimedia Pageview Analytics</a:t>
            </a:r>
            <a:endParaRPr lang="az-Cyrl-AZ" sz="900">
              <a:solidFill>
                <a:srgbClr val="808080"/>
              </a:solidFill>
              <a:latin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6B25C3-F02B-4F2A-834B-5F5B30783F4D}"/>
              </a:ext>
            </a:extLst>
          </p:cNvPr>
          <p:cNvSpPr txBox="1"/>
          <p:nvPr/>
        </p:nvSpPr>
        <p:spPr>
          <a:xfrm>
            <a:off x="736600" y="1498600"/>
            <a:ext cx="10541000" cy="188769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marL="342900" indent="-342900">
              <a:spcAft>
                <a:spcPts val="800"/>
              </a:spcAft>
              <a:buFont typeface="+mj-lt"/>
              <a:buChar char="•"/>
            </a:pPr>
            <a:r>
              <a:rPr lang="en-US">
                <a:solidFill>
                  <a:srgbClr val="222222"/>
                </a:solidFill>
                <a:latin typeface="Calibri" panose="020F0502020204030204" pitchFamily="34" charset="0"/>
              </a:rPr>
              <a:t>Implemented in Java inside WikimediaPageviewAnalytics.java.</a:t>
            </a:r>
          </a:p>
          <a:p>
            <a:pPr marL="342900" indent="-342900">
              <a:spcAft>
                <a:spcPts val="800"/>
              </a:spcAft>
              <a:buFont typeface="+mj-lt"/>
              <a:buChar char="•"/>
            </a:pPr>
            <a:r>
              <a:rPr lang="en-US">
                <a:solidFill>
                  <a:srgbClr val="222222"/>
                </a:solidFill>
                <a:latin typeface="Calibri" panose="020F0502020204030204" pitchFamily="34" charset="0"/>
              </a:rPr>
              <a:t>Uses a custom Writable object to pass structured pageview records between stages.</a:t>
            </a:r>
          </a:p>
          <a:p>
            <a:pPr marL="342900" indent="-342900">
              <a:spcAft>
                <a:spcPts val="800"/>
              </a:spcAft>
              <a:buFont typeface="+mj-lt"/>
              <a:buChar char="•"/>
            </a:pPr>
            <a:r>
              <a:rPr lang="en-US">
                <a:solidFill>
                  <a:srgbClr val="222222"/>
                </a:solidFill>
                <a:latin typeface="Calibri" panose="020F0502020204030204" pitchFamily="34" charset="0"/>
              </a:rPr>
              <a:t>Uses in-mapper combining to reduce repeated local emissions before shuffle.</a:t>
            </a:r>
          </a:p>
          <a:p>
            <a:pPr marL="342900" indent="-342900">
              <a:spcAft>
                <a:spcPts val="800"/>
              </a:spcAft>
              <a:buFont typeface="+mj-lt"/>
              <a:buChar char="•"/>
            </a:pPr>
            <a:r>
              <a:rPr lang="en-US">
                <a:solidFill>
                  <a:srgbClr val="222222"/>
                </a:solidFill>
                <a:latin typeface="Calibri" panose="020F0502020204030204" pitchFamily="34" charset="0"/>
              </a:rPr>
              <a:t>Uses setup() and cleanup() methods to initialize local state and emit final aggregated values.</a:t>
            </a:r>
          </a:p>
          <a:p>
            <a:pPr marL="342900" indent="-342900">
              <a:spcAft>
                <a:spcPts val="800"/>
              </a:spcAft>
              <a:buFont typeface="+mj-lt"/>
              <a:buChar char="•"/>
            </a:pPr>
            <a:r>
              <a:rPr lang="en-US">
                <a:solidFill>
                  <a:srgbClr val="222222"/>
                </a:solidFill>
                <a:latin typeface="Calibri" panose="020F0502020204030204" pitchFamily="34" charset="0"/>
              </a:rPr>
              <a:t>Uses a custom partitioner so related keys are distributed consistently across reducers.</a:t>
            </a:r>
            <a:endParaRPr lang="az-Cyrl-AZ">
              <a:solidFill>
                <a:srgbClr val="222222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90041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C94E2BE-77A9-410D-824B-4F785659DA1D}"/>
              </a:ext>
            </a:extLst>
          </p:cNvPr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4EED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z-Cyrl-AZ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31A51D-E180-4B27-A180-E16C2E96B77F}"/>
              </a:ext>
            </a:extLst>
          </p:cNvPr>
          <p:cNvSpPr txBox="1"/>
          <p:nvPr/>
        </p:nvSpPr>
        <p:spPr>
          <a:xfrm>
            <a:off x="482600" y="177800"/>
            <a:ext cx="9652000" cy="44627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300" b="1">
                <a:solidFill>
                  <a:srgbClr val="FFFFFF"/>
                </a:solidFill>
                <a:latin typeface="Georgia" panose="02040502050405020303" pitchFamily="18" charset="0"/>
              </a:rPr>
              <a:t>Experimental Configuration</a:t>
            </a:r>
            <a:endParaRPr lang="az-Cyrl-AZ" sz="2300" b="1">
              <a:solidFill>
                <a:srgbClr val="FFFFFF"/>
              </a:solidFill>
              <a:latin typeface="Georgia" panose="02040502050405020303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A656F8-89AB-4073-A21C-7E5CA2B9B224}"/>
              </a:ext>
            </a:extLst>
          </p:cNvPr>
          <p:cNvSpPr txBox="1"/>
          <p:nvPr/>
        </p:nvSpPr>
        <p:spPr>
          <a:xfrm>
            <a:off x="482600" y="838200"/>
            <a:ext cx="10668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600">
                <a:solidFill>
                  <a:srgbClr val="525252"/>
                </a:solidFill>
                <a:latin typeface="Calibri" panose="020F0502020204030204" pitchFamily="34" charset="0"/>
              </a:rPr>
              <a:t>Controlled parameters used in the benchmarks</a:t>
            </a:r>
            <a:endParaRPr lang="az-Cyrl-AZ" sz="1600">
              <a:solidFill>
                <a:srgbClr val="525252"/>
              </a:solidFill>
              <a:latin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E58D1A-D6F4-4B55-898E-3752149124CE}"/>
              </a:ext>
            </a:extLst>
          </p:cNvPr>
          <p:cNvSpPr txBox="1"/>
          <p:nvPr/>
        </p:nvSpPr>
        <p:spPr>
          <a:xfrm>
            <a:off x="482600" y="6477000"/>
            <a:ext cx="1092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>
                <a:solidFill>
                  <a:srgbClr val="808080"/>
                </a:solidFill>
                <a:latin typeface="Calibri" panose="020F0502020204030204" pitchFamily="34" charset="0"/>
              </a:rPr>
              <a:t>Cloud Computing - Wikimedia Pageview Analytics</a:t>
            </a:r>
            <a:endParaRPr lang="az-Cyrl-AZ" sz="900">
              <a:solidFill>
                <a:srgbClr val="808080"/>
              </a:solidFill>
              <a:latin typeface="Calibri" panose="020F050202020403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0B211F3-FA7C-416E-B4AF-B465C127825D}"/>
              </a:ext>
            </a:extLst>
          </p:cNvPr>
          <p:cNvSpPr/>
          <p:nvPr/>
        </p:nvSpPr>
        <p:spPr>
          <a:xfrm>
            <a:off x="698500" y="1422400"/>
            <a:ext cx="3302000" cy="3111500"/>
          </a:xfrm>
          <a:prstGeom prst="rect">
            <a:avLst/>
          </a:prstGeom>
          <a:solidFill>
            <a:srgbClr val="F1F1F1"/>
          </a:solidFill>
          <a:ln w="12700">
            <a:solidFill>
              <a:srgbClr val="CCCC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z-Cyrl-AZ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EF7A2D-C88B-49DB-8AEE-6EA8A6AABE33}"/>
              </a:ext>
            </a:extLst>
          </p:cNvPr>
          <p:cNvSpPr txBox="1"/>
          <p:nvPr/>
        </p:nvSpPr>
        <p:spPr>
          <a:xfrm>
            <a:off x="901700" y="1600200"/>
            <a:ext cx="28956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600" b="1">
                <a:solidFill>
                  <a:srgbClr val="4EED0B"/>
                </a:solidFill>
                <a:latin typeface="Calibri" panose="020F0502020204030204" pitchFamily="34" charset="0"/>
              </a:rPr>
              <a:t>Dataset Size Benchmark</a:t>
            </a:r>
            <a:endParaRPr lang="az-Cyrl-AZ" sz="1600" b="1">
              <a:solidFill>
                <a:srgbClr val="4EED0B"/>
              </a:solidFill>
              <a:latin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7AEA37-80C3-41C9-AC85-C02726162298}"/>
              </a:ext>
            </a:extLst>
          </p:cNvPr>
          <p:cNvSpPr txBox="1"/>
          <p:nvPr/>
        </p:nvSpPr>
        <p:spPr>
          <a:xfrm>
            <a:off x="901700" y="1981200"/>
            <a:ext cx="2895600" cy="69249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300">
                <a:solidFill>
                  <a:srgbClr val="333333"/>
                </a:solidFill>
                <a:latin typeface="Calibri" panose="020F0502020204030204" pitchFamily="34" charset="0"/>
              </a:rPr>
              <a:t>1h, 4h, 8h
Hadoop: 4 reducers
Sequential: same data</a:t>
            </a:r>
            <a:endParaRPr lang="az-Cyrl-AZ" sz="13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6A9FE4F-7FB2-4D10-AE97-481879C84126}"/>
              </a:ext>
            </a:extLst>
          </p:cNvPr>
          <p:cNvSpPr/>
          <p:nvPr/>
        </p:nvSpPr>
        <p:spPr>
          <a:xfrm>
            <a:off x="4445000" y="1422400"/>
            <a:ext cx="3302000" cy="3111500"/>
          </a:xfrm>
          <a:prstGeom prst="rect">
            <a:avLst/>
          </a:prstGeom>
          <a:solidFill>
            <a:srgbClr val="F1F1F1"/>
          </a:solidFill>
          <a:ln w="12700">
            <a:solidFill>
              <a:srgbClr val="CCCC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z-Cyrl-AZ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2D2DDD7-D7D6-4CDC-BEE2-3AD989DC42D1}"/>
              </a:ext>
            </a:extLst>
          </p:cNvPr>
          <p:cNvSpPr txBox="1"/>
          <p:nvPr/>
        </p:nvSpPr>
        <p:spPr>
          <a:xfrm>
            <a:off x="4648200" y="1600200"/>
            <a:ext cx="28956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600" b="1">
                <a:solidFill>
                  <a:srgbClr val="4EED0B"/>
                </a:solidFill>
                <a:latin typeface="Calibri" panose="020F0502020204030204" pitchFamily="34" charset="0"/>
              </a:rPr>
              <a:t>Reducer Benchmark</a:t>
            </a:r>
            <a:endParaRPr lang="az-Cyrl-AZ" sz="1600" b="1">
              <a:solidFill>
                <a:srgbClr val="4EED0B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D8B99B2-A3B5-42AE-AC3F-F023212A176C}"/>
              </a:ext>
            </a:extLst>
          </p:cNvPr>
          <p:cNvSpPr txBox="1"/>
          <p:nvPr/>
        </p:nvSpPr>
        <p:spPr>
          <a:xfrm>
            <a:off x="4648200" y="1981200"/>
            <a:ext cx="2895600" cy="69249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>
                <a:solidFill>
                  <a:srgbClr val="333333"/>
                </a:solidFill>
                <a:latin typeface="Calibri" panose="020F0502020204030204" pitchFamily="34" charset="0"/>
              </a:rPr>
              <a:t>4h dataset
Reducers: 1, 2, 4, 8
Hadoop only</a:t>
            </a:r>
            <a:endParaRPr lang="az-Cyrl-AZ" sz="13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835687E-BD0C-4B38-B412-CE11EAE7462B}"/>
              </a:ext>
            </a:extLst>
          </p:cNvPr>
          <p:cNvSpPr/>
          <p:nvPr/>
        </p:nvSpPr>
        <p:spPr>
          <a:xfrm>
            <a:off x="8191500" y="1422400"/>
            <a:ext cx="3302000" cy="3111500"/>
          </a:xfrm>
          <a:prstGeom prst="rect">
            <a:avLst/>
          </a:prstGeom>
          <a:solidFill>
            <a:srgbClr val="F1F1F1"/>
          </a:solidFill>
          <a:ln w="12700">
            <a:solidFill>
              <a:srgbClr val="CCCC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z-Cyrl-AZ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4010540-B7F7-444B-944B-48BBF201BC41}"/>
              </a:ext>
            </a:extLst>
          </p:cNvPr>
          <p:cNvSpPr txBox="1"/>
          <p:nvPr/>
        </p:nvSpPr>
        <p:spPr>
          <a:xfrm>
            <a:off x="8394700" y="1600200"/>
            <a:ext cx="28956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600" b="1">
                <a:solidFill>
                  <a:srgbClr val="4EED0B"/>
                </a:solidFill>
                <a:latin typeface="Calibri" panose="020F0502020204030204" pitchFamily="34" charset="0"/>
              </a:rPr>
              <a:t>Memory Benchmark</a:t>
            </a:r>
            <a:endParaRPr lang="az-Cyrl-AZ" sz="1600" b="1">
              <a:solidFill>
                <a:srgbClr val="4EED0B"/>
              </a:solidFill>
              <a:latin typeface="Calibri" panose="020F050202020403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1602DD7-9ACD-4571-A224-0782DD38A987}"/>
              </a:ext>
            </a:extLst>
          </p:cNvPr>
          <p:cNvSpPr txBox="1"/>
          <p:nvPr/>
        </p:nvSpPr>
        <p:spPr>
          <a:xfrm>
            <a:off x="8394700" y="1981200"/>
            <a:ext cx="2895600" cy="69249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>
                <a:solidFill>
                  <a:srgbClr val="333333"/>
                </a:solidFill>
                <a:latin typeface="Calibri" panose="020F0502020204030204" pitchFamily="34" charset="0"/>
              </a:rPr>
              <a:t>1h, 4h, 8h
Hadoop: average YARN allocated MB
Sequential: peak RSS MB</a:t>
            </a:r>
            <a:endParaRPr lang="az-Cyrl-AZ" sz="13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D0B38ED-F9BC-4329-B895-4F2F5C8E5729}"/>
              </a:ext>
            </a:extLst>
          </p:cNvPr>
          <p:cNvSpPr txBox="1"/>
          <p:nvPr/>
        </p:nvSpPr>
        <p:spPr>
          <a:xfrm>
            <a:off x="914400" y="4953000"/>
            <a:ext cx="10414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600">
                <a:solidFill>
                  <a:srgbClr val="333333"/>
                </a:solidFill>
                <a:latin typeface="Calibri" panose="020F0502020204030204" pitchFamily="34" charset="0"/>
              </a:rPr>
              <a:t>All benchmarks were designed as separate scripts so each experiment can be run and interpreted independently.</a:t>
            </a:r>
            <a:endParaRPr lang="az-Cyrl-AZ" sz="16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91954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B0A8493-E5A9-40DA-A72D-5CCC76773511}"/>
              </a:ext>
            </a:extLst>
          </p:cNvPr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4EED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z-Cyrl-AZ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B23D93-455A-4A3C-B31C-C0A695EDF760}"/>
              </a:ext>
            </a:extLst>
          </p:cNvPr>
          <p:cNvSpPr txBox="1"/>
          <p:nvPr/>
        </p:nvSpPr>
        <p:spPr>
          <a:xfrm>
            <a:off x="482600" y="177800"/>
            <a:ext cx="9652000" cy="44627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300" b="1">
                <a:solidFill>
                  <a:srgbClr val="FFFFFF"/>
                </a:solidFill>
                <a:latin typeface="Georgia" panose="02040502050405020303" pitchFamily="18" charset="0"/>
              </a:rPr>
              <a:t>Execution Time by Dataset Size</a:t>
            </a:r>
            <a:endParaRPr lang="az-Cyrl-AZ" sz="2300" b="1">
              <a:solidFill>
                <a:srgbClr val="FFFFFF"/>
              </a:solidFill>
              <a:latin typeface="Georgia" panose="02040502050405020303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8DB742-405B-46D4-BC86-84DEBE4759F8}"/>
              </a:ext>
            </a:extLst>
          </p:cNvPr>
          <p:cNvSpPr txBox="1"/>
          <p:nvPr/>
        </p:nvSpPr>
        <p:spPr>
          <a:xfrm>
            <a:off x="482600" y="838200"/>
            <a:ext cx="10668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600">
                <a:solidFill>
                  <a:srgbClr val="525252"/>
                </a:solidFill>
                <a:latin typeface="Calibri" panose="020F0502020204030204" pitchFamily="34" charset="0"/>
              </a:rPr>
              <a:t>Hadoop with 4 reducers vs Python sequential baseline</a:t>
            </a:r>
            <a:endParaRPr lang="az-Cyrl-AZ" sz="1600">
              <a:solidFill>
                <a:srgbClr val="525252"/>
              </a:solidFill>
              <a:latin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6A2312-5998-40E1-B49D-8A7276F1E977}"/>
              </a:ext>
            </a:extLst>
          </p:cNvPr>
          <p:cNvSpPr txBox="1"/>
          <p:nvPr/>
        </p:nvSpPr>
        <p:spPr>
          <a:xfrm>
            <a:off x="482600" y="6477000"/>
            <a:ext cx="1092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>
                <a:solidFill>
                  <a:srgbClr val="808080"/>
                </a:solidFill>
                <a:latin typeface="Calibri" panose="020F0502020204030204" pitchFamily="34" charset="0"/>
              </a:rPr>
              <a:t>Cloud Computing - Wikimedia Pageview Analytics</a:t>
            </a:r>
            <a:endParaRPr lang="az-Cyrl-AZ" sz="900">
              <a:solidFill>
                <a:srgbClr val="808080"/>
              </a:solidFill>
              <a:latin typeface="Calibri" panose="020F050202020403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105F7F-AE79-4709-B17C-92ED512D17EB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000" y="1092200"/>
            <a:ext cx="9652000" cy="4953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F212B7A-47B9-4B09-BC99-674FFF30C52E}"/>
              </a:ext>
            </a:extLst>
          </p:cNvPr>
          <p:cNvSpPr txBox="1"/>
          <p:nvPr/>
        </p:nvSpPr>
        <p:spPr>
          <a:xfrm>
            <a:off x="787400" y="5969000"/>
            <a:ext cx="106172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>
                <a:solidFill>
                  <a:srgbClr val="333333"/>
                </a:solidFill>
                <a:latin typeface="Calibri" panose="020F0502020204030204" pitchFamily="34" charset="0"/>
              </a:rPr>
              <a:t>Sequential processing is faster on 1h, 4h, and 8h because the single-VM setup makes Hadoop startup, shuffle, and disk I/O overhead dominant. The 16h stress test shows the opposite scalability risk: Hadoop completes, while the Python process is killed under memory pressure.</a:t>
            </a:r>
            <a:endParaRPr lang="az-Cyrl-AZ" sz="13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06120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160E2D7-C6A8-4ED4-A0B1-64FED90EDEA4}"/>
              </a:ext>
            </a:extLst>
          </p:cNvPr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4EED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z-Cyrl-AZ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639C9F-9DA3-48E8-8D1F-2D250AE26A65}"/>
              </a:ext>
            </a:extLst>
          </p:cNvPr>
          <p:cNvSpPr txBox="1"/>
          <p:nvPr/>
        </p:nvSpPr>
        <p:spPr>
          <a:xfrm>
            <a:off x="482600" y="177800"/>
            <a:ext cx="9652000" cy="44627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300" b="1">
                <a:solidFill>
                  <a:srgbClr val="FFFFFF"/>
                </a:solidFill>
                <a:latin typeface="Georgia" panose="02040502050405020303" pitchFamily="18" charset="0"/>
              </a:rPr>
              <a:t>Execution Time by Reducers</a:t>
            </a:r>
            <a:endParaRPr lang="az-Cyrl-AZ" sz="2300" b="1">
              <a:solidFill>
                <a:srgbClr val="FFFFFF"/>
              </a:solidFill>
              <a:latin typeface="Georgia" panose="02040502050405020303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7EE90C-A3D0-4F55-852E-B2C40E972385}"/>
              </a:ext>
            </a:extLst>
          </p:cNvPr>
          <p:cNvSpPr txBox="1"/>
          <p:nvPr/>
        </p:nvSpPr>
        <p:spPr>
          <a:xfrm>
            <a:off x="482600" y="838200"/>
            <a:ext cx="10668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600">
                <a:solidFill>
                  <a:srgbClr val="525252"/>
                </a:solidFill>
                <a:latin typeface="Calibri" panose="020F0502020204030204" pitchFamily="34" charset="0"/>
              </a:rPr>
              <a:t>Effect of reducer count on the 4h dataset</a:t>
            </a:r>
            <a:endParaRPr lang="az-Cyrl-AZ" sz="1600">
              <a:solidFill>
                <a:srgbClr val="525252"/>
              </a:solidFill>
              <a:latin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8B4404-6476-496E-83C6-7C3CB722D214}"/>
              </a:ext>
            </a:extLst>
          </p:cNvPr>
          <p:cNvSpPr txBox="1"/>
          <p:nvPr/>
        </p:nvSpPr>
        <p:spPr>
          <a:xfrm>
            <a:off x="482600" y="6477000"/>
            <a:ext cx="1092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>
                <a:solidFill>
                  <a:srgbClr val="808080"/>
                </a:solidFill>
                <a:latin typeface="Calibri" panose="020F0502020204030204" pitchFamily="34" charset="0"/>
              </a:rPr>
              <a:t>Cloud Computing - Wikimedia Pageview Analytics</a:t>
            </a:r>
            <a:endParaRPr lang="az-Cyrl-AZ" sz="900">
              <a:solidFill>
                <a:srgbClr val="808080"/>
              </a:solidFill>
              <a:latin typeface="Calibri" panose="020F050202020403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6A9BEDC-3C03-4E4F-9913-80D0724C053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1168400"/>
            <a:ext cx="9144000" cy="457200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E318364-BD5F-4DAD-8977-A603CC1AFDE2}"/>
              </a:ext>
            </a:extLst>
          </p:cNvPr>
          <p:cNvSpPr txBox="1"/>
          <p:nvPr/>
        </p:nvSpPr>
        <p:spPr>
          <a:xfrm>
            <a:off x="914400" y="5969000"/>
            <a:ext cx="10414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>
                <a:solidFill>
                  <a:srgbClr val="333333"/>
                </a:solidFill>
                <a:latin typeface="Calibri" panose="020F0502020204030204" pitchFamily="34" charset="0"/>
              </a:rPr>
              <a:t>The one-reducer run is the fastest in this pseudo-distributed environment. Additional reducers introduce scheduling and shuffle overhead without enough physical parallelism to compensate.</a:t>
            </a:r>
            <a:endParaRPr lang="az-Cyrl-AZ" sz="14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84875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F1774C5-F335-4D64-926D-99A1951D0DF3}"/>
              </a:ext>
            </a:extLst>
          </p:cNvPr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4EED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z-Cyrl-AZ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25AEB7-EE0A-4060-AEEC-86ACE863EDAD}"/>
              </a:ext>
            </a:extLst>
          </p:cNvPr>
          <p:cNvSpPr txBox="1"/>
          <p:nvPr/>
        </p:nvSpPr>
        <p:spPr>
          <a:xfrm>
            <a:off x="482600" y="177800"/>
            <a:ext cx="9652000" cy="44627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300" b="1">
                <a:solidFill>
                  <a:srgbClr val="FFFFFF"/>
                </a:solidFill>
                <a:latin typeface="Georgia" panose="02040502050405020303" pitchFamily="18" charset="0"/>
              </a:rPr>
              <a:t>Memory Usage by Dataset Size</a:t>
            </a:r>
            <a:endParaRPr lang="az-Cyrl-AZ" sz="2300" b="1">
              <a:solidFill>
                <a:srgbClr val="FFFFFF"/>
              </a:solidFill>
              <a:latin typeface="Georgia" panose="02040502050405020303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D5107A-1141-4F48-B722-93512BF34F2E}"/>
              </a:ext>
            </a:extLst>
          </p:cNvPr>
          <p:cNvSpPr txBox="1"/>
          <p:nvPr/>
        </p:nvSpPr>
        <p:spPr>
          <a:xfrm>
            <a:off x="482600" y="838200"/>
            <a:ext cx="10668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600">
                <a:solidFill>
                  <a:srgbClr val="525252"/>
                </a:solidFill>
                <a:latin typeface="Calibri" panose="020F0502020204030204" pitchFamily="34" charset="0"/>
              </a:rPr>
              <a:t>YARN allocation vs Python peak RSS</a:t>
            </a:r>
            <a:endParaRPr lang="az-Cyrl-AZ" sz="1600">
              <a:solidFill>
                <a:srgbClr val="525252"/>
              </a:solidFill>
              <a:latin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D450C4-9F76-4B58-8F3E-7D2CDEF6651B}"/>
              </a:ext>
            </a:extLst>
          </p:cNvPr>
          <p:cNvSpPr txBox="1"/>
          <p:nvPr/>
        </p:nvSpPr>
        <p:spPr>
          <a:xfrm>
            <a:off x="482600" y="6477000"/>
            <a:ext cx="1092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>
                <a:solidFill>
                  <a:srgbClr val="808080"/>
                </a:solidFill>
                <a:latin typeface="Calibri" panose="020F0502020204030204" pitchFamily="34" charset="0"/>
              </a:rPr>
              <a:t>Cloud Computing - Wikimedia Pageview Analytics</a:t>
            </a:r>
            <a:endParaRPr lang="az-Cyrl-AZ" sz="900">
              <a:solidFill>
                <a:srgbClr val="808080"/>
              </a:solidFill>
              <a:latin typeface="Calibri" panose="020F050202020403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3C2570D-29FB-44EB-B2CA-FC118C5EDDC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000" y="1092200"/>
            <a:ext cx="9652000" cy="475488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B58C7AA-37B8-4F9F-96CE-01D54B1B0256}"/>
              </a:ext>
            </a:extLst>
          </p:cNvPr>
          <p:cNvSpPr txBox="1"/>
          <p:nvPr/>
        </p:nvSpPr>
        <p:spPr>
          <a:xfrm>
            <a:off x="787400" y="5969000"/>
            <a:ext cx="106172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>
                <a:solidFill>
                  <a:srgbClr val="333333"/>
                </a:solidFill>
                <a:latin typeface="Calibri" panose="020F0502020204030204" pitchFamily="34" charset="0"/>
              </a:rPr>
              <a:t>The two memory metrics are not identical: Hadoop reports average allocated YARN memory, while the sequential baseline reports peak process memory. The trend still shows that the Python baseline grows strongly with dataset size.</a:t>
            </a:r>
            <a:endParaRPr lang="az-Cyrl-AZ" sz="13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84706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E65490E-2106-4F9F-9E38-B165B46734B1}"/>
              </a:ext>
            </a:extLst>
          </p:cNvPr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4EED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z-Cyrl-AZ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E3F984-5BC7-4030-9E25-375D05519304}"/>
              </a:ext>
            </a:extLst>
          </p:cNvPr>
          <p:cNvSpPr txBox="1"/>
          <p:nvPr/>
        </p:nvSpPr>
        <p:spPr>
          <a:xfrm>
            <a:off x="482600" y="177800"/>
            <a:ext cx="9652000" cy="44627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300" b="1">
                <a:solidFill>
                  <a:srgbClr val="FFFFFF"/>
                </a:solidFill>
                <a:latin typeface="Georgia" panose="02040502050405020303" pitchFamily="18" charset="0"/>
              </a:rPr>
              <a:t>Main Findings</a:t>
            </a:r>
            <a:endParaRPr lang="az-Cyrl-AZ" sz="2300" b="1">
              <a:solidFill>
                <a:srgbClr val="FFFFFF"/>
              </a:solidFill>
              <a:latin typeface="Georgia" panose="02040502050405020303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C346C0-11CA-4D06-9247-A5B471568C31}"/>
              </a:ext>
            </a:extLst>
          </p:cNvPr>
          <p:cNvSpPr txBox="1"/>
          <p:nvPr/>
        </p:nvSpPr>
        <p:spPr>
          <a:xfrm>
            <a:off x="482600" y="838200"/>
            <a:ext cx="10668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600">
                <a:solidFill>
                  <a:srgbClr val="525252"/>
                </a:solidFill>
                <a:latin typeface="Calibri" panose="020F0502020204030204" pitchFamily="34" charset="0"/>
              </a:rPr>
              <a:t>What the experiments show</a:t>
            </a:r>
            <a:endParaRPr lang="az-Cyrl-AZ" sz="1600">
              <a:solidFill>
                <a:srgbClr val="525252"/>
              </a:solidFill>
              <a:latin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A2F1CB-FD0B-46B6-964B-8354A1AD4A72}"/>
              </a:ext>
            </a:extLst>
          </p:cNvPr>
          <p:cNvSpPr txBox="1"/>
          <p:nvPr/>
        </p:nvSpPr>
        <p:spPr>
          <a:xfrm>
            <a:off x="482600" y="6477000"/>
            <a:ext cx="1092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>
                <a:solidFill>
                  <a:srgbClr val="808080"/>
                </a:solidFill>
                <a:latin typeface="Calibri" panose="020F0502020204030204" pitchFamily="34" charset="0"/>
              </a:rPr>
              <a:t>Cloud Computing - Wikimedia Pageview Analytics</a:t>
            </a:r>
            <a:endParaRPr lang="az-Cyrl-AZ" sz="900">
              <a:solidFill>
                <a:srgbClr val="808080"/>
              </a:solidFill>
              <a:latin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E21436-59B7-49A6-B3E1-4A42AE349E92}"/>
              </a:ext>
            </a:extLst>
          </p:cNvPr>
          <p:cNvSpPr txBox="1"/>
          <p:nvPr/>
        </p:nvSpPr>
        <p:spPr>
          <a:xfrm>
            <a:off x="736600" y="1600200"/>
            <a:ext cx="10541000" cy="261610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marL="342900" indent="-342900">
              <a:spcAft>
                <a:spcPts val="800"/>
              </a:spcAft>
              <a:buFont typeface="+mj-lt"/>
              <a:buChar char="•"/>
            </a:pPr>
            <a:r>
              <a:rPr lang="en-US">
                <a:solidFill>
                  <a:srgbClr val="222222"/>
                </a:solidFill>
                <a:latin typeface="Calibri" panose="020F0502020204030204" pitchFamily="34" charset="0"/>
              </a:rPr>
              <a:t>For small and medium inputs, the Python sequential baseline wins because it avoids distributed-system overhead.</a:t>
            </a:r>
          </a:p>
          <a:p>
            <a:pPr marL="342900" indent="-342900">
              <a:spcAft>
                <a:spcPts val="800"/>
              </a:spcAft>
              <a:buFont typeface="+mj-lt"/>
              <a:buChar char="•"/>
            </a:pPr>
            <a:r>
              <a:rPr lang="en-US">
                <a:solidFill>
                  <a:srgbClr val="222222"/>
                </a:solidFill>
                <a:latin typeface="Calibri" panose="020F0502020204030204" pitchFamily="34" charset="0"/>
              </a:rPr>
              <a:t>Hadoop becomes more robust as the input grows because work is externalized through HDFS, YARN, and reducers.</a:t>
            </a:r>
          </a:p>
          <a:p>
            <a:pPr marL="342900" indent="-342900">
              <a:spcAft>
                <a:spcPts val="800"/>
              </a:spcAft>
              <a:buFont typeface="+mj-lt"/>
              <a:buChar char="•"/>
            </a:pPr>
            <a:r>
              <a:rPr lang="en-US">
                <a:solidFill>
                  <a:srgbClr val="222222"/>
                </a:solidFill>
                <a:latin typeface="Calibri" panose="020F0502020204030204" pitchFamily="34" charset="0"/>
              </a:rPr>
              <a:t>The 16h test is the most important scalability signal: Hadoop completes, while the sequential process is killed.</a:t>
            </a:r>
          </a:p>
          <a:p>
            <a:pPr marL="342900" indent="-342900">
              <a:spcAft>
                <a:spcPts val="800"/>
              </a:spcAft>
              <a:buFont typeface="+mj-lt"/>
              <a:buChar char="•"/>
            </a:pPr>
            <a:r>
              <a:rPr lang="en-US">
                <a:solidFill>
                  <a:srgbClr val="222222"/>
                </a:solidFill>
                <a:latin typeface="Calibri" panose="020F0502020204030204" pitchFamily="34" charset="0"/>
              </a:rPr>
              <a:t>Increasing reducers does not automatically improve performance on a single VM; the environment limits real parallelism.</a:t>
            </a:r>
            <a:endParaRPr lang="az-Cyrl-AZ">
              <a:solidFill>
                <a:srgbClr val="222222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84224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A35AA88-DD00-49DA-9E49-4EA7AA23EA64}"/>
              </a:ext>
            </a:extLst>
          </p:cNvPr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4EED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z-Cyrl-AZ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54C83F-AA11-4651-8849-ED56F7CA76C6}"/>
              </a:ext>
            </a:extLst>
          </p:cNvPr>
          <p:cNvSpPr txBox="1"/>
          <p:nvPr/>
        </p:nvSpPr>
        <p:spPr>
          <a:xfrm>
            <a:off x="482600" y="177800"/>
            <a:ext cx="9652000" cy="44627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300" b="1">
                <a:solidFill>
                  <a:srgbClr val="FFFFFF"/>
                </a:solidFill>
                <a:latin typeface="Georgia" panose="02040502050405020303" pitchFamily="18" charset="0"/>
              </a:rPr>
              <a:t>Conclusion</a:t>
            </a:r>
            <a:endParaRPr lang="az-Cyrl-AZ" sz="2300" b="1">
              <a:solidFill>
                <a:srgbClr val="FFFFFF"/>
              </a:solidFill>
              <a:latin typeface="Georgia" panose="02040502050405020303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0C7D4F-6878-49D2-9EBF-A07340A0E3E7}"/>
              </a:ext>
            </a:extLst>
          </p:cNvPr>
          <p:cNvSpPr txBox="1"/>
          <p:nvPr/>
        </p:nvSpPr>
        <p:spPr>
          <a:xfrm>
            <a:off x="482600" y="838200"/>
            <a:ext cx="10668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600">
                <a:solidFill>
                  <a:srgbClr val="525252"/>
                </a:solidFill>
                <a:latin typeface="Calibri" panose="020F0502020204030204" pitchFamily="34" charset="0"/>
              </a:rPr>
              <a:t>Final interpretation</a:t>
            </a:r>
            <a:endParaRPr lang="az-Cyrl-AZ" sz="1600">
              <a:solidFill>
                <a:srgbClr val="525252"/>
              </a:solidFill>
              <a:latin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0FA22D-9A0A-457E-BA3A-DA61A2D88E2A}"/>
              </a:ext>
            </a:extLst>
          </p:cNvPr>
          <p:cNvSpPr txBox="1"/>
          <p:nvPr/>
        </p:nvSpPr>
        <p:spPr>
          <a:xfrm>
            <a:off x="482600" y="6477000"/>
            <a:ext cx="1092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>
                <a:solidFill>
                  <a:srgbClr val="808080"/>
                </a:solidFill>
                <a:latin typeface="Calibri" panose="020F0502020204030204" pitchFamily="34" charset="0"/>
              </a:rPr>
              <a:t>Cloud Computing - Wikimedia Pageview Analytics</a:t>
            </a:r>
            <a:endParaRPr lang="az-Cyrl-AZ" sz="900">
              <a:solidFill>
                <a:srgbClr val="808080"/>
              </a:solidFill>
              <a:latin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A9E1C5-EE35-40E5-B807-44063029A355}"/>
              </a:ext>
            </a:extLst>
          </p:cNvPr>
          <p:cNvSpPr txBox="1"/>
          <p:nvPr/>
        </p:nvSpPr>
        <p:spPr>
          <a:xfrm>
            <a:off x="736600" y="1600200"/>
            <a:ext cx="10541000" cy="261610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marL="342900" indent="-342900">
              <a:spcAft>
                <a:spcPts val="800"/>
              </a:spcAft>
              <a:buFont typeface="+mj-lt"/>
              <a:buChar char="•"/>
            </a:pPr>
            <a:r>
              <a:rPr lang="en-US">
                <a:solidFill>
                  <a:srgbClr val="222222"/>
                </a:solidFill>
                <a:latin typeface="Calibri" panose="020F0502020204030204" pitchFamily="34" charset="0"/>
              </a:rPr>
              <a:t>The project satisfies the Hadoop implementation requirements with two cascaded non-iterative MapReduce jobs in Java.</a:t>
            </a:r>
          </a:p>
          <a:p>
            <a:pPr marL="342900" indent="-342900">
              <a:spcAft>
                <a:spcPts val="800"/>
              </a:spcAft>
              <a:buFont typeface="+mj-lt"/>
              <a:buChar char="•"/>
            </a:pPr>
            <a:r>
              <a:rPr lang="en-US">
                <a:solidFill>
                  <a:srgbClr val="222222"/>
                </a:solidFill>
                <a:latin typeface="Calibri" panose="020F0502020204030204" pitchFamily="34" charset="0"/>
              </a:rPr>
              <a:t>The implementation includes custom Writable data, setup/cleanup methods, in-mapper combining, custom partitioning, and multi-reducer execution.</a:t>
            </a:r>
          </a:p>
          <a:p>
            <a:pPr marL="342900" indent="-342900">
              <a:spcAft>
                <a:spcPts val="800"/>
              </a:spcAft>
              <a:buFont typeface="+mj-lt"/>
              <a:buChar char="•"/>
            </a:pPr>
            <a:r>
              <a:rPr lang="en-US">
                <a:solidFill>
                  <a:srgbClr val="222222"/>
                </a:solidFill>
                <a:latin typeface="Calibri" panose="020F0502020204030204" pitchFamily="34" charset="0"/>
              </a:rPr>
              <a:t>The sequential baseline is useful for comparison, but its memory behavior becomes a bottleneck at larger scale.</a:t>
            </a:r>
          </a:p>
          <a:p>
            <a:pPr marL="342900" indent="-342900">
              <a:spcAft>
                <a:spcPts val="800"/>
              </a:spcAft>
              <a:buFont typeface="+mj-lt"/>
              <a:buChar char="•"/>
            </a:pPr>
            <a:r>
              <a:rPr lang="en-US">
                <a:solidFill>
                  <a:srgbClr val="222222"/>
                </a:solidFill>
                <a:latin typeface="Calibri" panose="020F0502020204030204" pitchFamily="34" charset="0"/>
              </a:rPr>
              <a:t>The final result demonstrates the trade-off between simple local execution and scalable batch processing on HDFS/YARN.</a:t>
            </a:r>
            <a:endParaRPr lang="az-Cyrl-AZ">
              <a:solidFill>
                <a:srgbClr val="222222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99428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881</Words>
  <Application>Microsoft Office PowerPoint</Application>
  <PresentationFormat>Custom</PresentationFormat>
  <Paragraphs>84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Zeynəddin Papaxov</dc:creator>
  <cp:lastModifiedBy>Zeynəddin Papaxov</cp:lastModifiedBy>
  <cp:revision>1</cp:revision>
  <dcterms:created xsi:type="dcterms:W3CDTF">2026-07-04T08:20:23Z</dcterms:created>
  <dcterms:modified xsi:type="dcterms:W3CDTF">2026-07-04T08:20:23Z</dcterms:modified>
</cp:coreProperties>
</file>